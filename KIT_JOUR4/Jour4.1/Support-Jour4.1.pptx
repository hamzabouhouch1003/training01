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son AMOUSSOU" userId="e3a853be89db41b5" providerId="LiveId" clId="{B8BC9159-DD46-46C1-847E-34313044516F}"/>
    <pc:docChg chg="custSel modSld">
      <pc:chgData name="Samson AMOUSSOU" userId="e3a853be89db41b5" providerId="LiveId" clId="{B8BC9159-DD46-46C1-847E-34313044516F}" dt="2026-09-16T21:46:39.511" v="33" actId="1076"/>
      <pc:docMkLst>
        <pc:docMk/>
      </pc:docMkLst>
      <pc:sldChg chg="modNotesTx">
        <pc:chgData name="Samson AMOUSSOU" userId="e3a853be89db41b5" providerId="LiveId" clId="{B8BC9159-DD46-46C1-847E-34313044516F}" dt="2026-09-16T10:28:21.680" v="29" actId="6549"/>
        <pc:sldMkLst>
          <pc:docMk/>
          <pc:sldMk cId="0" sldId="256"/>
        </pc:sldMkLst>
      </pc:sldChg>
      <pc:sldChg chg="modNotesTx">
        <pc:chgData name="Samson AMOUSSOU" userId="e3a853be89db41b5" providerId="LiveId" clId="{B8BC9159-DD46-46C1-847E-34313044516F}" dt="2026-09-16T10:28:16.977" v="28" actId="6549"/>
        <pc:sldMkLst>
          <pc:docMk/>
          <pc:sldMk cId="0" sldId="257"/>
        </pc:sldMkLst>
      </pc:sldChg>
      <pc:sldChg chg="modNotesTx">
        <pc:chgData name="Samson AMOUSSOU" userId="e3a853be89db41b5" providerId="LiveId" clId="{B8BC9159-DD46-46C1-847E-34313044516F}" dt="2026-09-16T10:28:12.122" v="27" actId="20577"/>
        <pc:sldMkLst>
          <pc:docMk/>
          <pc:sldMk cId="0" sldId="258"/>
        </pc:sldMkLst>
      </pc:sldChg>
      <pc:sldChg chg="modNotesTx">
        <pc:chgData name="Samson AMOUSSOU" userId="e3a853be89db41b5" providerId="LiveId" clId="{B8BC9159-DD46-46C1-847E-34313044516F}" dt="2026-09-16T10:28:07.917" v="26" actId="6549"/>
        <pc:sldMkLst>
          <pc:docMk/>
          <pc:sldMk cId="0" sldId="259"/>
        </pc:sldMkLst>
      </pc:sldChg>
      <pc:sldChg chg="modNotesTx">
        <pc:chgData name="Samson AMOUSSOU" userId="e3a853be89db41b5" providerId="LiveId" clId="{B8BC9159-DD46-46C1-847E-34313044516F}" dt="2026-09-16T10:28:03.482" v="25" actId="20577"/>
        <pc:sldMkLst>
          <pc:docMk/>
          <pc:sldMk cId="0" sldId="260"/>
        </pc:sldMkLst>
      </pc:sldChg>
      <pc:sldChg chg="modNotesTx">
        <pc:chgData name="Samson AMOUSSOU" userId="e3a853be89db41b5" providerId="LiveId" clId="{B8BC9159-DD46-46C1-847E-34313044516F}" dt="2026-09-16T10:27:59.277" v="24" actId="20577"/>
        <pc:sldMkLst>
          <pc:docMk/>
          <pc:sldMk cId="0" sldId="261"/>
        </pc:sldMkLst>
      </pc:sldChg>
      <pc:sldChg chg="addSp delSp modSp mod modNotesTx">
        <pc:chgData name="Samson AMOUSSOU" userId="e3a853be89db41b5" providerId="LiveId" clId="{B8BC9159-DD46-46C1-847E-34313044516F}" dt="2026-09-16T21:46:39.511" v="33" actId="1076"/>
        <pc:sldMkLst>
          <pc:docMk/>
          <pc:sldMk cId="0" sldId="262"/>
        </pc:sldMkLst>
        <pc:picChg chg="del mod">
          <ac:chgData name="Samson AMOUSSOU" userId="e3a853be89db41b5" providerId="LiveId" clId="{B8BC9159-DD46-46C1-847E-34313044516F}" dt="2026-09-16T21:46:37.392" v="31" actId="478"/>
          <ac:picMkLst>
            <pc:docMk/>
            <pc:sldMk cId="0" sldId="262"/>
            <ac:picMk id="6" creationId="{00000000-0000-0000-0000-000000000000}"/>
          </ac:picMkLst>
        </pc:picChg>
        <pc:picChg chg="add mod">
          <ac:chgData name="Samson AMOUSSOU" userId="e3a853be89db41b5" providerId="LiveId" clId="{B8BC9159-DD46-46C1-847E-34313044516F}" dt="2026-09-16T21:46:39.511" v="33" actId="1076"/>
          <ac:picMkLst>
            <pc:docMk/>
            <pc:sldMk cId="0" sldId="262"/>
            <ac:picMk id="16" creationId="{27246169-0A54-843C-5FE9-55DED273DB69}"/>
          </ac:picMkLst>
        </pc:picChg>
      </pc:sldChg>
      <pc:sldChg chg="modNotesTx">
        <pc:chgData name="Samson AMOUSSOU" userId="e3a853be89db41b5" providerId="LiveId" clId="{B8BC9159-DD46-46C1-847E-34313044516F}" dt="2026-09-16T10:27:49.493" v="22" actId="6549"/>
        <pc:sldMkLst>
          <pc:docMk/>
          <pc:sldMk cId="0" sldId="263"/>
        </pc:sldMkLst>
      </pc:sldChg>
      <pc:sldChg chg="modNotesTx">
        <pc:chgData name="Samson AMOUSSOU" userId="e3a853be89db41b5" providerId="LiveId" clId="{B8BC9159-DD46-46C1-847E-34313044516F}" dt="2026-09-16T10:27:43.019" v="21" actId="6549"/>
        <pc:sldMkLst>
          <pc:docMk/>
          <pc:sldMk cId="0" sldId="264"/>
        </pc:sldMkLst>
      </pc:sldChg>
      <pc:sldChg chg="modNotesTx">
        <pc:chgData name="Samson AMOUSSOU" userId="e3a853be89db41b5" providerId="LiveId" clId="{B8BC9159-DD46-46C1-847E-34313044516F}" dt="2026-09-16T10:27:37.788" v="20" actId="6549"/>
        <pc:sldMkLst>
          <pc:docMk/>
          <pc:sldMk cId="0" sldId="265"/>
        </pc:sldMkLst>
      </pc:sldChg>
      <pc:sldChg chg="modNotesTx">
        <pc:chgData name="Samson AMOUSSOU" userId="e3a853be89db41b5" providerId="LiveId" clId="{B8BC9159-DD46-46C1-847E-34313044516F}" dt="2026-09-16T10:27:32.670" v="19" actId="6549"/>
        <pc:sldMkLst>
          <pc:docMk/>
          <pc:sldMk cId="0" sldId="266"/>
        </pc:sldMkLst>
      </pc:sldChg>
      <pc:sldChg chg="modNotesTx">
        <pc:chgData name="Samson AMOUSSOU" userId="e3a853be89db41b5" providerId="LiveId" clId="{B8BC9159-DD46-46C1-847E-34313044516F}" dt="2026-09-16T10:27:27.575" v="18" actId="6549"/>
        <pc:sldMkLst>
          <pc:docMk/>
          <pc:sldMk cId="0" sldId="267"/>
        </pc:sldMkLst>
      </pc:sldChg>
      <pc:sldChg chg="modNotesTx">
        <pc:chgData name="Samson AMOUSSOU" userId="e3a853be89db41b5" providerId="LiveId" clId="{B8BC9159-DD46-46C1-847E-34313044516F}" dt="2026-09-16T10:27:21.824" v="17" actId="6549"/>
        <pc:sldMkLst>
          <pc:docMk/>
          <pc:sldMk cId="0" sldId="268"/>
        </pc:sldMkLst>
      </pc:sldChg>
      <pc:sldChg chg="modNotesTx">
        <pc:chgData name="Samson AMOUSSOU" userId="e3a853be89db41b5" providerId="LiveId" clId="{B8BC9159-DD46-46C1-847E-34313044516F}" dt="2026-09-16T10:27:17.361" v="16" actId="6549"/>
        <pc:sldMkLst>
          <pc:docMk/>
          <pc:sldMk cId="0" sldId="269"/>
        </pc:sldMkLst>
      </pc:sldChg>
      <pc:sldChg chg="modNotesTx">
        <pc:chgData name="Samson AMOUSSOU" userId="e3a853be89db41b5" providerId="LiveId" clId="{B8BC9159-DD46-46C1-847E-34313044516F}" dt="2026-09-16T10:27:12.853" v="15" actId="6549"/>
        <pc:sldMkLst>
          <pc:docMk/>
          <pc:sldMk cId="0" sldId="270"/>
        </pc:sldMkLst>
      </pc:sldChg>
      <pc:sldChg chg="modNotesTx">
        <pc:chgData name="Samson AMOUSSOU" userId="e3a853be89db41b5" providerId="LiveId" clId="{B8BC9159-DD46-46C1-847E-34313044516F}" dt="2026-09-16T10:27:08.250" v="14" actId="6549"/>
        <pc:sldMkLst>
          <pc:docMk/>
          <pc:sldMk cId="0" sldId="271"/>
        </pc:sldMkLst>
      </pc:sldChg>
      <pc:sldChg chg="modNotesTx">
        <pc:chgData name="Samson AMOUSSOU" userId="e3a853be89db41b5" providerId="LiveId" clId="{B8BC9159-DD46-46C1-847E-34313044516F}" dt="2026-09-16T10:27:03.214" v="13" actId="6549"/>
        <pc:sldMkLst>
          <pc:docMk/>
          <pc:sldMk cId="0" sldId="272"/>
        </pc:sldMkLst>
      </pc:sldChg>
      <pc:sldChg chg="modNotesTx">
        <pc:chgData name="Samson AMOUSSOU" userId="e3a853be89db41b5" providerId="LiveId" clId="{B8BC9159-DD46-46C1-847E-34313044516F}" dt="2026-09-16T10:26:58.060" v="12" actId="6549"/>
        <pc:sldMkLst>
          <pc:docMk/>
          <pc:sldMk cId="0" sldId="273"/>
        </pc:sldMkLst>
      </pc:sldChg>
      <pc:sldChg chg="modNotesTx">
        <pc:chgData name="Samson AMOUSSOU" userId="e3a853be89db41b5" providerId="LiveId" clId="{B8BC9159-DD46-46C1-847E-34313044516F}" dt="2026-09-16T10:26:53.320" v="11" actId="6549"/>
        <pc:sldMkLst>
          <pc:docMk/>
          <pc:sldMk cId="0" sldId="274"/>
        </pc:sldMkLst>
      </pc:sldChg>
      <pc:sldChg chg="modNotesTx">
        <pc:chgData name="Samson AMOUSSOU" userId="e3a853be89db41b5" providerId="LiveId" clId="{B8BC9159-DD46-46C1-847E-34313044516F}" dt="2026-09-16T10:26:47.938" v="10" actId="6549"/>
        <pc:sldMkLst>
          <pc:docMk/>
          <pc:sldMk cId="0" sldId="275"/>
        </pc:sldMkLst>
      </pc:sldChg>
      <pc:sldChg chg="modNotesTx">
        <pc:chgData name="Samson AMOUSSOU" userId="e3a853be89db41b5" providerId="LiveId" clId="{B8BC9159-DD46-46C1-847E-34313044516F}" dt="2026-09-16T10:26:43.178" v="9" actId="6549"/>
        <pc:sldMkLst>
          <pc:docMk/>
          <pc:sldMk cId="0" sldId="276"/>
        </pc:sldMkLst>
      </pc:sldChg>
      <pc:sldChg chg="modNotesTx">
        <pc:chgData name="Samson AMOUSSOU" userId="e3a853be89db41b5" providerId="LiveId" clId="{B8BC9159-DD46-46C1-847E-34313044516F}" dt="2026-09-16T10:26:37.474" v="8" actId="20577"/>
        <pc:sldMkLst>
          <pc:docMk/>
          <pc:sldMk cId="0" sldId="277"/>
        </pc:sldMkLst>
      </pc:sldChg>
      <pc:sldChg chg="modNotesTx">
        <pc:chgData name="Samson AMOUSSOU" userId="e3a853be89db41b5" providerId="LiveId" clId="{B8BC9159-DD46-46C1-847E-34313044516F}" dt="2026-09-16T10:26:32.232" v="7" actId="20577"/>
        <pc:sldMkLst>
          <pc:docMk/>
          <pc:sldMk cId="0" sldId="278"/>
        </pc:sldMkLst>
      </pc:sldChg>
      <pc:sldChg chg="modNotesTx">
        <pc:chgData name="Samson AMOUSSOU" userId="e3a853be89db41b5" providerId="LiveId" clId="{B8BC9159-DD46-46C1-847E-34313044516F}" dt="2026-09-16T10:26:26.002" v="6" actId="6549"/>
        <pc:sldMkLst>
          <pc:docMk/>
          <pc:sldMk cId="0" sldId="279"/>
        </pc:sldMkLst>
      </pc:sldChg>
      <pc:sldChg chg="modNotesTx">
        <pc:chgData name="Samson AMOUSSOU" userId="e3a853be89db41b5" providerId="LiveId" clId="{B8BC9159-DD46-46C1-847E-34313044516F}" dt="2026-09-16T10:26:20.637" v="5" actId="6549"/>
        <pc:sldMkLst>
          <pc:docMk/>
          <pc:sldMk cId="0" sldId="280"/>
        </pc:sldMkLst>
      </pc:sldChg>
      <pc:sldChg chg="modNotesTx">
        <pc:chgData name="Samson AMOUSSOU" userId="e3a853be89db41b5" providerId="LiveId" clId="{B8BC9159-DD46-46C1-847E-34313044516F}" dt="2026-09-16T10:26:15.211" v="4" actId="20577"/>
        <pc:sldMkLst>
          <pc:docMk/>
          <pc:sldMk cId="0" sldId="281"/>
        </pc:sldMkLst>
      </pc:sldChg>
      <pc:sldChg chg="modNotesTx">
        <pc:chgData name="Samson AMOUSSOU" userId="e3a853be89db41b5" providerId="LiveId" clId="{B8BC9159-DD46-46C1-847E-34313044516F}" dt="2026-09-16T10:26:11.251" v="3" actId="20577"/>
        <pc:sldMkLst>
          <pc:docMk/>
          <pc:sldMk cId="0" sldId="282"/>
        </pc:sldMkLst>
      </pc:sldChg>
      <pc:sldChg chg="modNotesTx">
        <pc:chgData name="Samson AMOUSSOU" userId="e3a853be89db41b5" providerId="LiveId" clId="{B8BC9159-DD46-46C1-847E-34313044516F}" dt="2026-09-16T10:26:06.576" v="2" actId="6549"/>
        <pc:sldMkLst>
          <pc:docMk/>
          <pc:sldMk cId="0" sldId="283"/>
        </pc:sldMkLst>
      </pc:sldChg>
      <pc:sldChg chg="modNotesTx">
        <pc:chgData name="Samson AMOUSSOU" userId="e3a853be89db41b5" providerId="LiveId" clId="{B8BC9159-DD46-46C1-847E-34313044516F}" dt="2026-09-16T10:25:59.841" v="1" actId="6549"/>
        <pc:sldMkLst>
          <pc:docMk/>
          <pc:sldMk cId="0" sldId="284"/>
        </pc:sldMkLst>
      </pc:sldChg>
      <pc:sldChg chg="modNotesTx">
        <pc:chgData name="Samson AMOUSSOU" userId="e3a853be89db41b5" providerId="LiveId" clId="{B8BC9159-DD46-46C1-847E-34313044516F}" dt="2026-09-16T10:25:55.484" v="0" actId="20577"/>
        <pc:sldMkLst>
          <pc:docMk/>
          <pc:sldMk cId="0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2471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340"/>
          </a:solidFill>
          <a:ln>
            <a:solidFill>
              <a:srgbClr val="0E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9494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RÉSEAUX DE NEURONES
&amp;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834640"/>
            <a:ext cx="67665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7E5F4"/>
                </a:solidFill>
                <a:latin typeface="Aptos"/>
              </a:rPr>
              <a:t>Du perceptron au CNN • MLP • rétropropagation • vision • transfert d’apprentissage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977639"/>
            <a:ext cx="1508760" cy="384048"/>
          </a:xfrm>
          <a:prstGeom prst="round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3995927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 h CM + TP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3977639"/>
            <a:ext cx="1234440" cy="384048"/>
          </a:xfrm>
          <a:prstGeom prst="roundRect">
            <a:avLst/>
          </a:prstGeom>
          <a:solidFill>
            <a:srgbClr val="26916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23160" y="3995927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RNCP C8</a:t>
            </a:r>
          </a:p>
        </p:txBody>
      </p:sp>
      <p:sp>
        <p:nvSpPr>
          <p:cNvPr id="9" name="Oval 8"/>
          <p:cNvSpPr/>
          <p:nvPr/>
        </p:nvSpPr>
        <p:spPr>
          <a:xfrm>
            <a:off x="8229600" y="1856232"/>
            <a:ext cx="310896" cy="310896"/>
          </a:xfrm>
          <a:prstGeom prst="ellipse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0" y="2569464"/>
            <a:ext cx="310896" cy="310896"/>
          </a:xfrm>
          <a:prstGeom prst="ellipse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0" y="3282696"/>
            <a:ext cx="310896" cy="310896"/>
          </a:xfrm>
          <a:prstGeom prst="ellipse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600" y="3995928"/>
            <a:ext cx="310896" cy="310896"/>
          </a:xfrm>
          <a:prstGeom prst="ellipse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89720" y="1143000"/>
            <a:ext cx="310896" cy="310896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89720" y="1856232"/>
            <a:ext cx="310896" cy="310896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89720" y="2569464"/>
            <a:ext cx="310896" cy="310896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89720" y="3282696"/>
            <a:ext cx="310896" cy="310896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89720" y="3995928"/>
            <a:ext cx="310896" cy="310896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189720" y="4709160"/>
            <a:ext cx="310896" cy="310896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149840" y="1499616"/>
            <a:ext cx="310896" cy="310896"/>
          </a:xfrm>
          <a:prstGeom prst="ellipse">
            <a:avLst/>
          </a:prstGeom>
          <a:solidFill>
            <a:srgbClr val="E08237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149840" y="2212848"/>
            <a:ext cx="310896" cy="310896"/>
          </a:xfrm>
          <a:prstGeom prst="ellipse">
            <a:avLst/>
          </a:prstGeom>
          <a:solidFill>
            <a:srgbClr val="E08237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149840" y="2926080"/>
            <a:ext cx="310896" cy="310896"/>
          </a:xfrm>
          <a:prstGeom prst="ellipse">
            <a:avLst/>
          </a:prstGeom>
          <a:solidFill>
            <a:srgbClr val="E08237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149840" y="3639312"/>
            <a:ext cx="310896" cy="310896"/>
          </a:xfrm>
          <a:prstGeom prst="ellipse">
            <a:avLst/>
          </a:prstGeom>
          <a:solidFill>
            <a:srgbClr val="E08237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149840" y="4352544"/>
            <a:ext cx="310896" cy="310896"/>
          </a:xfrm>
          <a:prstGeom prst="ellipse">
            <a:avLst/>
          </a:prstGeom>
          <a:solidFill>
            <a:srgbClr val="E08237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109960" y="2212848"/>
            <a:ext cx="310896" cy="310896"/>
          </a:xfrm>
          <a:prstGeom prst="ellipse">
            <a:avLst/>
          </a:prstGeom>
          <a:solidFill>
            <a:srgbClr val="26916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109960" y="2926080"/>
            <a:ext cx="310896" cy="310896"/>
          </a:xfrm>
          <a:prstGeom prst="ellipse">
            <a:avLst/>
          </a:prstGeom>
          <a:solidFill>
            <a:srgbClr val="26916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109960" y="3639312"/>
            <a:ext cx="310896" cy="310896"/>
          </a:xfrm>
          <a:prstGeom prst="ellipse">
            <a:avLst/>
          </a:prstGeom>
          <a:solidFill>
            <a:srgbClr val="26916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9893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ECDDE"/>
                </a:solidFill>
                <a:latin typeface="Aptos"/>
              </a:rPr>
              <a:t>ESI — 4ᵉ année • Option Développeur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Objectifs &amp; progression de la séance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Une seule histoire : calculer → mesurer l’erreur → propager → mettre à jour → spécialiser pour l’image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1627632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16152" y="2267712"/>
            <a:ext cx="566928" cy="566928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16152" y="2368296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999232"/>
            <a:ext cx="1408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Neurone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401568"/>
            <a:ext cx="1371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Perceptron, activations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057400"/>
            <a:ext cx="1627632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90672" y="2267712"/>
            <a:ext cx="566928" cy="566928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0672" y="2368296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2999232"/>
            <a:ext cx="1408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Réseau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" y="3401568"/>
            <a:ext cx="1371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Dense / MLP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057400"/>
            <a:ext cx="1627632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65192" y="2267712"/>
            <a:ext cx="566928" cy="566928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65192" y="2368296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999232"/>
            <a:ext cx="1408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Apprentissage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5" y="3401568"/>
            <a:ext cx="1371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Loss, gradient, backprop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2057400"/>
            <a:ext cx="1627632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39712" y="2267712"/>
            <a:ext cx="566928" cy="566928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9712" y="2368296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999232"/>
            <a:ext cx="1408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Deep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5" y="3401568"/>
            <a:ext cx="1371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profondeur, représentations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2057400"/>
            <a:ext cx="1627632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714232" y="2267712"/>
            <a:ext cx="566928" cy="566928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14232" y="2368296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7" y="2999232"/>
            <a:ext cx="1408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CNN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3401568"/>
            <a:ext cx="1371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convolution, pooling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2057400"/>
            <a:ext cx="1627632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588752" y="2267712"/>
            <a:ext cx="566928" cy="566928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88752" y="2368296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8128" y="2999232"/>
            <a:ext cx="1408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Vision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6416" y="3401568"/>
            <a:ext cx="1371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LeNet → ResNet → transfert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8920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E2340"/>
                </a:solidFill>
                <a:latin typeface="Aptos"/>
              </a:rPr>
              <a:t>TP fil rouge : classifier des images et expliquer chaque décision d’architecture.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FONDATIONS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Du modèle linéaire au neurone artificiel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Le neurone ajoute une activation au score linéaire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2240280"/>
            <a:ext cx="384048" cy="384048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228600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B6573"/>
                </a:solidFill>
                <a:latin typeface="Aptos"/>
              </a:rPr>
              <a:t>x₁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98448" y="2432304"/>
            <a:ext cx="1444752" cy="685800"/>
          </a:xfrm>
          <a:prstGeom prst="line">
            <a:avLst/>
          </a:prstGeom>
          <a:ln w="25400"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14400" y="2926080"/>
            <a:ext cx="384048" cy="384048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297180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B6573"/>
                </a:solidFill>
                <a:latin typeface="Aptos"/>
              </a:rPr>
              <a:t>x₂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98448" y="3118104"/>
            <a:ext cx="1444752" cy="0"/>
          </a:xfrm>
          <a:prstGeom prst="line">
            <a:avLst/>
          </a:prstGeom>
          <a:ln w="25400"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14400" y="3611880"/>
            <a:ext cx="384048" cy="384048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365760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5B6573"/>
                </a:solidFill>
                <a:latin typeface="Aptos"/>
              </a:rPr>
              <a:t>x₃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298448" y="3118104"/>
            <a:ext cx="1444752" cy="685800"/>
          </a:xfrm>
          <a:prstGeom prst="line">
            <a:avLst/>
          </a:prstGeom>
          <a:ln w="25400"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743200" y="2862072"/>
            <a:ext cx="530352" cy="530352"/>
          </a:xfrm>
          <a:prstGeom prst="ellipse">
            <a:avLst/>
          </a:prstGeom>
          <a:solidFill>
            <a:srgbClr val="E08237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3273552" y="3127248"/>
            <a:ext cx="1024128" cy="0"/>
          </a:xfrm>
          <a:prstGeom prst="line">
            <a:avLst/>
          </a:prstGeom>
          <a:ln w="25400">
            <a:solidFill>
              <a:srgbClr val="0E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60904" y="3008376"/>
            <a:ext cx="685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Σ → 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1" y="300837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2860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E2340"/>
                </a:solidFill>
                <a:latin typeface="Aptos"/>
              </a:rPr>
              <a:t>z = wᵀx +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06324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08237"/>
                </a:solidFill>
                <a:latin typeface="Aptos"/>
              </a:rPr>
              <a:t>ŷ = f(z)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965960"/>
            <a:ext cx="3611880" cy="224028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79" y="22402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Lecture développeur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2697480"/>
            <a:ext cx="2971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x : features d’entrée</a:t>
            </a:r>
          </a:p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w, b : paramètres appris</a:t>
            </a:r>
          </a:p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f : non-linéarité</a:t>
            </a:r>
          </a:p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ŷ : sortie /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5B6573"/>
                </a:solidFill>
                <a:latin typeface="Aptos"/>
              </a:rPr>
              <a:t>Lien direct avec la régression logistique : sigmoid(wᵀx+b).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FONDATIONS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Perceptron : décider avec un seuil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Première version historique du neurone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rc_nn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4754880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06440" y="1874519"/>
            <a:ext cx="5394960" cy="338328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219456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E2340"/>
                </a:solidFill>
                <a:latin typeface="Aptos"/>
              </a:rPr>
              <a:t>Activation en escalier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743200"/>
            <a:ext cx="4480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E08237"/>
                </a:solidFill>
                <a:latin typeface="Aptos"/>
              </a:rPr>
              <a:t>f(z) = 1 si z &gt; 0, sinon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3429000"/>
            <a:ext cx="4480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Décision binaire immédiate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Frontière linéaire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Non différentiable au seuil → peu adaptée à la backprop moderne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FONDATIONS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Fonctions d’activation : créer la non-linéarité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Sans activation non linéaire, empiler des couches linéaires reste… linéaire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246120" cy="333756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5FAB"/>
                </a:solidFill>
                <a:latin typeface="Aptos"/>
              </a:rPr>
              <a:t>Sigmoid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3886200"/>
            <a:ext cx="2423160" cy="0"/>
          </a:xfrm>
          <a:prstGeom prst="line">
            <a:avLst/>
          </a:prstGeom>
          <a:ln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404872" y="2606040"/>
            <a:ext cx="0" cy="2011680"/>
          </a:xfrm>
          <a:prstGeom prst="line">
            <a:avLst/>
          </a:prstGeom>
          <a:ln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80160" y="4266667"/>
            <a:ext cx="57150" cy="5520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37310" y="4259983"/>
            <a:ext cx="57150" cy="6684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94460" y="4251906"/>
            <a:ext cx="57150" cy="8077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1610" y="4242169"/>
            <a:ext cx="57150" cy="9737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4230462"/>
            <a:ext cx="57150" cy="11707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5910" y="4216433"/>
            <a:ext cx="57150" cy="14029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23060" y="4199688"/>
            <a:ext cx="57150" cy="16745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680210" y="4179797"/>
            <a:ext cx="57150" cy="19891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737360" y="4156301"/>
            <a:ext cx="57150" cy="23496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794510" y="4128731"/>
            <a:ext cx="57150" cy="27570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851660" y="4096631"/>
            <a:ext cx="57150" cy="32100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908810" y="4059596"/>
            <a:ext cx="57150" cy="37035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965960" y="4017311"/>
            <a:ext cx="57150" cy="42285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023110" y="3969605"/>
            <a:ext cx="57150" cy="47706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080260" y="3916503"/>
            <a:ext cx="57150" cy="53102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137410" y="3858274"/>
            <a:ext cx="57150" cy="58229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94560" y="3795461"/>
            <a:ext cx="57150" cy="62813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251710" y="3728891"/>
            <a:ext cx="57150" cy="66570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308860" y="3659650"/>
            <a:ext cx="57150" cy="69241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366010" y="3589020"/>
            <a:ext cx="57150" cy="70630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423160" y="3518389"/>
            <a:ext cx="57150" cy="70631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480310" y="3449148"/>
            <a:ext cx="57150" cy="69241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537460" y="3382578"/>
            <a:ext cx="57150" cy="66570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594610" y="3319765"/>
            <a:ext cx="57150" cy="62813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651760" y="3261536"/>
            <a:ext cx="57150" cy="58229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708910" y="3208434"/>
            <a:ext cx="57150" cy="53102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766060" y="3160728"/>
            <a:ext cx="57150" cy="47706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823210" y="3118443"/>
            <a:ext cx="57150" cy="42285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880360" y="3081408"/>
            <a:ext cx="57150" cy="37035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937510" y="3049308"/>
            <a:ext cx="57150" cy="32100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994660" y="3021738"/>
            <a:ext cx="57150" cy="27570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051810" y="2998242"/>
            <a:ext cx="57150" cy="23496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108960" y="2978351"/>
            <a:ext cx="57150" cy="19891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166110" y="2961606"/>
            <a:ext cx="57150" cy="16745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223260" y="2947577"/>
            <a:ext cx="57150" cy="14029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280410" y="2935870"/>
            <a:ext cx="57150" cy="11707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337560" y="2926133"/>
            <a:ext cx="57150" cy="9737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394710" y="2918056"/>
            <a:ext cx="57150" cy="8077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3451860" y="2911372"/>
            <a:ext cx="57150" cy="6684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509010" y="2905852"/>
            <a:ext cx="57150" cy="5520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005840" y="4681728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Sortie 0–1 • utile en sortie binaire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80559" y="1828800"/>
            <a:ext cx="3246120" cy="333756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63440" y="205740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916C"/>
                </a:solidFill>
                <a:latin typeface="Aptos"/>
              </a:rPr>
              <a:t>tanh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892040" y="3886200"/>
            <a:ext cx="2423160" cy="0"/>
          </a:xfrm>
          <a:prstGeom prst="line">
            <a:avLst/>
          </a:prstGeom>
          <a:ln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108192" y="2606040"/>
            <a:ext cx="0" cy="2011680"/>
          </a:xfrm>
          <a:prstGeom prst="line">
            <a:avLst/>
          </a:prstGeom>
          <a:ln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983479" y="4571039"/>
            <a:ext cx="57150" cy="317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040629" y="4570567"/>
            <a:ext cx="57150" cy="472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097779" y="4569863"/>
            <a:ext cx="57150" cy="704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154929" y="4568814"/>
            <a:ext cx="57150" cy="1049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212079" y="4567251"/>
            <a:ext cx="57150" cy="1563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269229" y="4564925"/>
            <a:ext cx="57150" cy="2326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326379" y="4561464"/>
            <a:ext cx="57150" cy="3461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383529" y="4556325"/>
            <a:ext cx="57150" cy="5139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440679" y="4548710"/>
            <a:ext cx="57150" cy="7615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497829" y="4537462"/>
            <a:ext cx="57150" cy="11248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554979" y="4520927"/>
            <a:ext cx="57150" cy="16535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612129" y="4496792"/>
            <a:ext cx="57150" cy="24135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5669279" y="4461923"/>
            <a:ext cx="57150" cy="34869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5726429" y="4412288"/>
            <a:ext cx="57150" cy="49635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783579" y="4343101"/>
            <a:ext cx="57150" cy="69187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5840729" y="4249434"/>
            <a:ext cx="57150" cy="93667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5897879" y="4127512"/>
            <a:ext cx="57150" cy="121922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5955029" y="3976676"/>
            <a:ext cx="57150" cy="150836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012179" y="3801383"/>
            <a:ext cx="57150" cy="175293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069329" y="3611880"/>
            <a:ext cx="57150" cy="189503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126479" y="3422376"/>
            <a:ext cx="57150" cy="189504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183629" y="3247083"/>
            <a:ext cx="57150" cy="175293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240779" y="3096247"/>
            <a:ext cx="57150" cy="150836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6297929" y="2974325"/>
            <a:ext cx="57150" cy="121922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6355079" y="2880658"/>
            <a:ext cx="57150" cy="93667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6412229" y="2811471"/>
            <a:ext cx="57150" cy="69187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469379" y="2761836"/>
            <a:ext cx="57150" cy="49635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526529" y="2726967"/>
            <a:ext cx="57150" cy="34869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6583679" y="2702832"/>
            <a:ext cx="57150" cy="24135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6640829" y="2686297"/>
            <a:ext cx="57150" cy="16535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697979" y="2675049"/>
            <a:ext cx="57150" cy="11248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755129" y="2667434"/>
            <a:ext cx="57150" cy="7615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6812279" y="2662295"/>
            <a:ext cx="57150" cy="5139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869429" y="2658834"/>
            <a:ext cx="57150" cy="3461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926579" y="2656508"/>
            <a:ext cx="57150" cy="2326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983729" y="2654945"/>
            <a:ext cx="57150" cy="1563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040879" y="2653896"/>
            <a:ext cx="57150" cy="1049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7098029" y="2653192"/>
            <a:ext cx="57150" cy="704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7155179" y="2652720"/>
            <a:ext cx="57150" cy="472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7212329" y="2652403"/>
            <a:ext cx="57150" cy="317"/>
          </a:xfrm>
          <a:prstGeom prst="line">
            <a:avLst/>
          </a:prstGeom>
          <a:ln w="25400">
            <a:solidFill>
              <a:srgbClr val="2691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4709159" y="4681728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Centrée autour de 0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8183879" y="1828800"/>
            <a:ext cx="3246120" cy="333756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366759" y="2057400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08237"/>
                </a:solidFill>
                <a:latin typeface="Aptos"/>
              </a:rPr>
              <a:t>ReLU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8595359" y="3886200"/>
            <a:ext cx="2423160" cy="0"/>
          </a:xfrm>
          <a:prstGeom prst="line">
            <a:avLst/>
          </a:prstGeom>
          <a:ln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811511" y="2606040"/>
            <a:ext cx="0" cy="2011680"/>
          </a:xfrm>
          <a:prstGeom prst="line">
            <a:avLst/>
          </a:prstGeom>
          <a:ln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68680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874395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80110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85825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91540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97255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02970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08685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14400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20115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25830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931545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37260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42975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48690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54405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960120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65835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71550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772650" y="3886200"/>
            <a:ext cx="57150" cy="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9829800" y="3809390"/>
            <a:ext cx="57150" cy="7681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886950" y="3732580"/>
            <a:ext cx="57150" cy="7681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9944100" y="3655771"/>
            <a:ext cx="57150" cy="76809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10001250" y="3578961"/>
            <a:ext cx="57150" cy="7681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0058400" y="3502152"/>
            <a:ext cx="57150" cy="76809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0115550" y="3425342"/>
            <a:ext cx="57150" cy="7681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0172700" y="3348532"/>
            <a:ext cx="57150" cy="7681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0229850" y="3271723"/>
            <a:ext cx="57150" cy="76809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0287000" y="3194913"/>
            <a:ext cx="57150" cy="7681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0344150" y="3118104"/>
            <a:ext cx="57150" cy="76809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0401300" y="3041294"/>
            <a:ext cx="57150" cy="7681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0458450" y="2964484"/>
            <a:ext cx="57150" cy="7681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0515600" y="2887675"/>
            <a:ext cx="57150" cy="76809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10572750" y="2810865"/>
            <a:ext cx="57150" cy="7681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10629900" y="2734056"/>
            <a:ext cx="57150" cy="76809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10687050" y="2657246"/>
            <a:ext cx="57150" cy="7681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0744200" y="2580436"/>
            <a:ext cx="57150" cy="7681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10801350" y="2503627"/>
            <a:ext cx="57150" cy="76809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10858500" y="2426817"/>
            <a:ext cx="57150" cy="7681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10915650" y="2350008"/>
            <a:ext cx="57150" cy="76809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8412480" y="4681728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Simple • standard en couches cachées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D’un neurone à une couche dense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Une couche applique plusieurs neurones en parallèle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920240"/>
            <a:ext cx="347472" cy="347472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2606040"/>
            <a:ext cx="347472" cy="347472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3291840"/>
            <a:ext cx="347472" cy="347472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347472" cy="347472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57600" y="1600200"/>
            <a:ext cx="384048" cy="384048"/>
          </a:xfrm>
          <a:prstGeom prst="ellipse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 flipV="1">
            <a:off x="1261872" y="1792224"/>
            <a:ext cx="2395728" cy="301752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61872" y="1792224"/>
            <a:ext cx="2395728" cy="987552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261872" y="1792224"/>
            <a:ext cx="2395728" cy="1673352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61872" y="1792224"/>
            <a:ext cx="2395728" cy="2359152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657600" y="2258568"/>
            <a:ext cx="384048" cy="384048"/>
          </a:xfrm>
          <a:prstGeom prst="ellipse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1261872" y="2093976"/>
            <a:ext cx="2395728" cy="356615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61872" y="2450591"/>
            <a:ext cx="2395728" cy="329185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61872" y="2450591"/>
            <a:ext cx="2395728" cy="1014985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61872" y="2450591"/>
            <a:ext cx="2395728" cy="1700785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657600" y="2916936"/>
            <a:ext cx="384048" cy="384048"/>
          </a:xfrm>
          <a:prstGeom prst="ellipse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1261872" y="2093976"/>
            <a:ext cx="2395728" cy="1014984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61872" y="2779776"/>
            <a:ext cx="2395728" cy="329184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61872" y="3108960"/>
            <a:ext cx="2395728" cy="356616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261872" y="3108960"/>
            <a:ext cx="2395728" cy="1042416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657600" y="3575304"/>
            <a:ext cx="384048" cy="384048"/>
          </a:xfrm>
          <a:prstGeom prst="ellipse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1261872" y="2093976"/>
            <a:ext cx="2395728" cy="1673352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61872" y="2779776"/>
            <a:ext cx="2395728" cy="987552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61872" y="3465576"/>
            <a:ext cx="2395728" cy="301752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61872" y="3767328"/>
            <a:ext cx="2395728" cy="384048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657600" y="4233672"/>
            <a:ext cx="384048" cy="384048"/>
          </a:xfrm>
          <a:prstGeom prst="ellipse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1261872" y="2093976"/>
            <a:ext cx="2395728" cy="2331720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261872" y="2779776"/>
            <a:ext cx="2395728" cy="1645920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61872" y="3465576"/>
            <a:ext cx="2395728" cy="960120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61872" y="4151376"/>
            <a:ext cx="2395728" cy="274320"/>
          </a:xfrm>
          <a:prstGeom prst="line">
            <a:avLst/>
          </a:prstGeom>
          <a:ln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5800" y="498348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2340"/>
                </a:solidFill>
                <a:latin typeface="Aptos"/>
              </a:rPr>
              <a:t>x ∈ ℝ⁴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9834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2340"/>
                </a:solidFill>
                <a:latin typeface="Aptos"/>
              </a:rPr>
              <a:t>h = f(Wx + b) ∈ ℝ⁵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1874519"/>
            <a:ext cx="4434840" cy="306324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95160" y="2176272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Dense / Fully Connected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2743200"/>
            <a:ext cx="3657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Chaque neurone voit toutes les entrées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W devient une matrice de poids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La couche apprend plusieurs représentations simultanément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MLP : composer les couches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La profondeur vient de la composition de transformations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46520" y="1874519"/>
            <a:ext cx="475488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219456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Forward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743200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5FAB"/>
                </a:solidFill>
                <a:latin typeface="Aptos"/>
              </a:rPr>
              <a:t>h¹ = ReLU(W¹x+b¹)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246120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CA6BE"/>
                </a:solidFill>
                <a:latin typeface="Aptos"/>
              </a:rPr>
              <a:t>h² = ReLU(W²h¹+b²)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749039"/>
            <a:ext cx="4023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E08237"/>
                </a:solidFill>
                <a:latin typeface="Aptos"/>
              </a:rPr>
              <a:t>ŷ = sigmoid(W³h²+b³)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434840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573"/>
                </a:solidFill>
                <a:latin typeface="Aptos"/>
              </a:rPr>
              <a:t>Chaque couche transforme la représentation reçue.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7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7246169-0A54-843C-5FE9-55DED273D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832" y="2905446"/>
            <a:ext cx="2484335" cy="13717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APPRENTISSAGE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Forward propagation : calculer une prédiction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Le réseau applique les couches de gauche à droite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69164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54203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E2340"/>
                </a:solidFill>
                <a:latin typeface="Aptos"/>
              </a:rPr>
              <a:t>Entrée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5FAB"/>
                </a:solidFill>
                <a:latin typeface="Aptos"/>
              </a:rPr>
              <a:t>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2999232"/>
            <a:ext cx="457200" cy="0"/>
          </a:xfrm>
          <a:prstGeom prst="line">
            <a:avLst/>
          </a:prstGeom>
          <a:ln w="2540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2286000"/>
            <a:ext cx="169164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254203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E2340"/>
                </a:solidFill>
                <a:latin typeface="Aptos"/>
              </a:rPr>
              <a:t>Couche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999232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CA6BE"/>
                </a:solidFill>
                <a:latin typeface="Aptos"/>
              </a:rPr>
              <a:t>h¹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63440" y="2999232"/>
            <a:ext cx="457200" cy="0"/>
          </a:xfrm>
          <a:prstGeom prst="line">
            <a:avLst/>
          </a:prstGeom>
          <a:ln w="2540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12080" y="2286000"/>
            <a:ext cx="169164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254203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E2340"/>
                </a:solidFill>
                <a:latin typeface="Aptos"/>
              </a:rPr>
              <a:t>Couche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999232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CA6BE"/>
                </a:solidFill>
                <a:latin typeface="Aptos"/>
              </a:rPr>
              <a:t>h²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03720" y="2999232"/>
            <a:ext cx="457200" cy="0"/>
          </a:xfrm>
          <a:prstGeom prst="line">
            <a:avLst/>
          </a:prstGeom>
          <a:ln w="2540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52360" y="2286000"/>
            <a:ext cx="169164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43800" y="254203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E2340"/>
                </a:solidFill>
                <a:latin typeface="Aptos"/>
              </a:rPr>
              <a:t>Sortie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999232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08237"/>
                </a:solidFill>
                <a:latin typeface="Aptos"/>
              </a:rPr>
              <a:t>ŷ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0" y="2999232"/>
            <a:ext cx="457200" cy="0"/>
          </a:xfrm>
          <a:prstGeom prst="line">
            <a:avLst/>
          </a:prstGeom>
          <a:ln w="2540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692640" y="2286000"/>
            <a:ext cx="169164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254203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E2340"/>
                </a:solidFill>
                <a:latin typeface="Aptos"/>
              </a:rPr>
              <a:t>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999232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BE4141"/>
                </a:solidFill>
                <a:latin typeface="Aptos"/>
              </a:rPr>
              <a:t>J(y,ŷ)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6344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5B6573"/>
                </a:solidFill>
                <a:latin typeface="Aptos"/>
              </a:rPr>
              <a:t>Le forward ne modifie pas encore les poids : il produit les activations et la prédiction.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APPRENTISSAGE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La fonction de perte : quantifier l’erreur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On optimise une fonction différentiable adaptée au problème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12080" cy="342900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212080" cy="342900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F5FAB"/>
                </a:solidFill>
                <a:latin typeface="Aptos"/>
              </a:rPr>
              <a:t>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E2340"/>
                </a:solidFill>
                <a:latin typeface="Aptos"/>
              </a:rPr>
              <a:t>Binary Cross-Entropy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12830"/>
                </a:solidFill>
                <a:latin typeface="Aptos"/>
              </a:rPr>
              <a:t>J = −[y log(ŷ) + (1−y)log(1−ŷ)]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51960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573"/>
                </a:solidFill>
                <a:latin typeface="Aptos"/>
              </a:rPr>
              <a:t>Pénalise fortement une prédiction confiante mais fausse.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6916C"/>
                </a:solidFill>
                <a:latin typeface="Aptos"/>
              </a:rPr>
              <a:t>Régression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E2340"/>
                </a:solidFill>
                <a:latin typeface="Aptos"/>
              </a:rPr>
              <a:t>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4290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12830"/>
                </a:solidFill>
                <a:latin typeface="Aptos"/>
              </a:rPr>
              <a:t>J = moyenne (y − ŷ)²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251960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573"/>
                </a:solidFill>
                <a:latin typeface="Aptos"/>
              </a:rPr>
              <a:t>Même logique que le Jour 2 : la loss traduit l’objectif d’apprentissage.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APPRENTISSAGE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Descente de gradient : mettre à jour les poids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Se déplacer dans la direction opposée au gradient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1005840" y="4800600"/>
            <a:ext cx="4663440" cy="0"/>
          </a:xfrm>
          <a:prstGeom prst="line">
            <a:avLst/>
          </a:prstGeom>
          <a:ln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005840" y="1828800"/>
            <a:ext cx="0" cy="2971800"/>
          </a:xfrm>
          <a:prstGeom prst="line">
            <a:avLst/>
          </a:prstGeom>
          <a:ln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88720" y="2125980"/>
            <a:ext cx="71292" cy="144738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60012" y="2270718"/>
            <a:ext cx="71292" cy="139747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31304" y="2410465"/>
            <a:ext cx="71292" cy="134757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02596" y="2545222"/>
            <a:ext cx="71292" cy="129765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73888" y="2674987"/>
            <a:ext cx="71293" cy="124775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45181" y="2799762"/>
            <a:ext cx="71292" cy="119783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16473" y="2919545"/>
            <a:ext cx="71292" cy="114793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687765" y="3034338"/>
            <a:ext cx="71292" cy="109801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59057" y="3144139"/>
            <a:ext cx="71292" cy="104811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30349" y="3248950"/>
            <a:ext cx="71293" cy="99820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901642" y="3348770"/>
            <a:ext cx="71292" cy="94828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972934" y="3443598"/>
            <a:ext cx="71292" cy="89838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044226" y="3533436"/>
            <a:ext cx="71292" cy="84846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15518" y="3618282"/>
            <a:ext cx="71292" cy="79856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86810" y="3698138"/>
            <a:ext cx="71293" cy="74865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58103" y="3773003"/>
            <a:ext cx="71292" cy="69873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29395" y="3842876"/>
            <a:ext cx="71292" cy="64883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00687" y="3907759"/>
            <a:ext cx="71292" cy="59892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71979" y="3967651"/>
            <a:ext cx="71292" cy="54901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543271" y="4022552"/>
            <a:ext cx="71293" cy="49910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14564" y="4072462"/>
            <a:ext cx="71292" cy="44918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85856" y="4117380"/>
            <a:ext cx="71292" cy="39928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57148" y="4157308"/>
            <a:ext cx="71292" cy="34937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828440" y="4192245"/>
            <a:ext cx="71292" cy="29946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899732" y="4222191"/>
            <a:ext cx="71293" cy="24955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971025" y="4247146"/>
            <a:ext cx="71292" cy="19964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042317" y="4267110"/>
            <a:ext cx="71292" cy="14973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113609" y="4282083"/>
            <a:ext cx="71292" cy="9982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184901" y="4292065"/>
            <a:ext cx="71292" cy="4991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256193" y="4297056"/>
            <a:ext cx="71293" cy="0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327486" y="4292065"/>
            <a:ext cx="71292" cy="4991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398778" y="4282083"/>
            <a:ext cx="71292" cy="9982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470070" y="4267110"/>
            <a:ext cx="71292" cy="14973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541362" y="4247146"/>
            <a:ext cx="71292" cy="19964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3612654" y="4222191"/>
            <a:ext cx="71293" cy="24955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683947" y="4192245"/>
            <a:ext cx="71292" cy="29946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755239" y="4157308"/>
            <a:ext cx="71292" cy="34937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826531" y="4117380"/>
            <a:ext cx="71292" cy="39928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97823" y="4072462"/>
            <a:ext cx="71292" cy="44918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969115" y="4022552"/>
            <a:ext cx="71293" cy="49910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040408" y="3967651"/>
            <a:ext cx="71292" cy="54901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111700" y="3907759"/>
            <a:ext cx="71292" cy="59892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182992" y="3842876"/>
            <a:ext cx="71292" cy="64883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254284" y="3773003"/>
            <a:ext cx="71292" cy="69873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325576" y="3698138"/>
            <a:ext cx="71293" cy="74865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396869" y="3618282"/>
            <a:ext cx="71292" cy="79856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468161" y="3533436"/>
            <a:ext cx="71292" cy="84846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539453" y="3443598"/>
            <a:ext cx="71292" cy="89838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610745" y="3348770"/>
            <a:ext cx="71292" cy="94828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682037" y="3248950"/>
            <a:ext cx="71293" cy="99820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753330" y="3144139"/>
            <a:ext cx="71292" cy="104811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824622" y="3034338"/>
            <a:ext cx="71292" cy="109801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895914" y="2919545"/>
            <a:ext cx="71292" cy="114793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967206" y="2799762"/>
            <a:ext cx="71292" cy="119783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038498" y="2674987"/>
            <a:ext cx="71293" cy="124775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109791" y="2545222"/>
            <a:ext cx="71292" cy="129765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181083" y="2410465"/>
            <a:ext cx="71292" cy="134757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252375" y="2270718"/>
            <a:ext cx="71292" cy="139747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5323667" y="2125980"/>
            <a:ext cx="71292" cy="144738"/>
          </a:xfrm>
          <a:prstGeom prst="line">
            <a:avLst/>
          </a:prstGeom>
          <a:ln w="25400">
            <a:solidFill>
              <a:srgbClr val="1F5F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02920" y="182880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J(θ)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0" y="489204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2340"/>
                </a:solidFill>
                <a:latin typeface="Aptos"/>
              </a:rPr>
              <a:t>θ</a:t>
            </a:r>
          </a:p>
        </p:txBody>
      </p:sp>
      <p:sp>
        <p:nvSpPr>
          <p:cNvPr id="69" name="Oval 68"/>
          <p:cNvSpPr/>
          <p:nvPr/>
        </p:nvSpPr>
        <p:spPr>
          <a:xfrm>
            <a:off x="1828800" y="3173572"/>
            <a:ext cx="146304" cy="146304"/>
          </a:xfrm>
          <a:prstGeom prst="ellipse">
            <a:avLst/>
          </a:prstGeom>
          <a:solidFill>
            <a:srgbClr val="E08237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331720" y="3771919"/>
            <a:ext cx="146304" cy="146304"/>
          </a:xfrm>
          <a:prstGeom prst="ellipse">
            <a:avLst/>
          </a:prstGeom>
          <a:solidFill>
            <a:srgbClr val="E08237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788920" y="4100342"/>
            <a:ext cx="146304" cy="146304"/>
          </a:xfrm>
          <a:prstGeom prst="ellipse">
            <a:avLst/>
          </a:prstGeom>
          <a:solidFill>
            <a:srgbClr val="E08237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3154680" y="4215291"/>
            <a:ext cx="146304" cy="146304"/>
          </a:xfrm>
          <a:prstGeom prst="ellipse">
            <a:avLst/>
          </a:prstGeom>
          <a:solidFill>
            <a:srgbClr val="E08237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6400800" y="1965960"/>
            <a:ext cx="4754880" cy="306324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812280" y="2423160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E2340"/>
                </a:solidFill>
                <a:latin typeface="Aptos"/>
              </a:rPr>
              <a:t>θ ← θ − η ∇J(θ)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66560" y="3337560"/>
            <a:ext cx="39776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η trop grand → instabilité</a:t>
            </a:r>
          </a:p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η trop petit → apprentissage lent</a:t>
            </a:r>
          </a:p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Le gradient indique la sensibilité de la loss aux paramètres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APPRENTISSAGE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Backpropagation : calculer tous les gradients efficacement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La règle de chaîne permet de remonter de la loss vers chaque paramètre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rc_nn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530352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874519"/>
            <a:ext cx="4983480" cy="361188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E2340"/>
                </a:solidFill>
                <a:latin typeface="Aptos"/>
              </a:rPr>
              <a:t>Principe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78892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5FAB"/>
                </a:solidFill>
                <a:latin typeface="Aptos"/>
              </a:rPr>
              <a:t>∂J/∂W¹ = ∂J/∂h² · ∂h²/∂h¹ · ∂h¹/∂W¹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611880"/>
            <a:ext cx="4069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Calcul local dans chaque couche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Réutilisation des gradients déjà calculés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Propagation de la sortie vers l’entrée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APPRENTISSAGE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Le cycle d’entraînement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Une mini-batch répète quatre opérations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E2340"/>
                </a:solidFill>
                <a:latin typeface="Aptos"/>
              </a:rPr>
              <a:t>Forward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24612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573"/>
                </a:solidFill>
                <a:latin typeface="Aptos"/>
              </a:rPr>
              <a:t>ŷ = model(x)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0" y="2267712"/>
            <a:ext cx="1874520" cy="0"/>
          </a:xfrm>
          <a:prstGeom prst="line">
            <a:avLst/>
          </a:prstGeom>
          <a:ln w="38100"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566160" y="1965960"/>
            <a:ext cx="594360" cy="594360"/>
          </a:xfrm>
          <a:prstGeom prst="ellipse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21031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788920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E2340"/>
                </a:solidFill>
                <a:latin typeface="Aptos"/>
              </a:rPr>
              <a:t>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324612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573"/>
                </a:solidFill>
                <a:latin typeface="Aptos"/>
              </a:rPr>
              <a:t>J(y,ŷ)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06240" y="2267712"/>
            <a:ext cx="1874520" cy="0"/>
          </a:xfrm>
          <a:prstGeom prst="line">
            <a:avLst/>
          </a:prstGeom>
          <a:ln w="38100"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309360" y="1965960"/>
            <a:ext cx="594360" cy="594360"/>
          </a:xfrm>
          <a:prstGeom prst="ellipse">
            <a:avLst/>
          </a:prstGeom>
          <a:solidFill>
            <a:srgbClr val="E08237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21031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788920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E2340"/>
                </a:solidFill>
                <a:latin typeface="Aptos"/>
              </a:rPr>
              <a:t>Backward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24612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573"/>
                </a:solidFill>
                <a:latin typeface="Aptos"/>
              </a:rPr>
              <a:t>gradients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49440" y="2267712"/>
            <a:ext cx="1874520" cy="0"/>
          </a:xfrm>
          <a:prstGeom prst="line">
            <a:avLst/>
          </a:prstGeom>
          <a:ln w="38100">
            <a:solidFill>
              <a:srgbClr val="DE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052560" y="1965960"/>
            <a:ext cx="594360" cy="594360"/>
          </a:xfrm>
          <a:prstGeom prst="ellipse">
            <a:avLst/>
          </a:prstGeom>
          <a:solidFill>
            <a:srgbClr val="26916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52560" y="21031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788920"/>
            <a:ext cx="960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E2340"/>
                </a:solidFill>
                <a:latin typeface="Aptos"/>
              </a:rPr>
              <a:t>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246120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573"/>
                </a:solidFill>
                <a:latin typeface="Aptos"/>
              </a:rPr>
              <a:t>θ ← θ−η∇J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4251960"/>
            <a:ext cx="978408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17320" y="4526280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12830"/>
                </a:solidFill>
                <a:latin typeface="Aptos"/>
              </a:rPr>
              <a:t>PyTorch : optimizer.zero_grad() → outputs=model(x) → loss=criterion(...) → loss.backward() → optimizer.step()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Pourquoi « Deep » Learning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La profondeur apprend une hiérarchie de représentations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rc_dl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548640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874519"/>
            <a:ext cx="480060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194560"/>
            <a:ext cx="4069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E2340"/>
                </a:solidFill>
                <a:latin typeface="Aptos"/>
              </a:rPr>
              <a:t>Représentation apprise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743200"/>
            <a:ext cx="4160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Couches basses : motifs simples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Couches intermédiaires : structures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Couches hautes : concepts plus abstraits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Les features sont apprises à partir des 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Quand le Deep Learning devient pertinent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Profondeur + données non structurées + accélération matérielle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246120" cy="3063240"/>
          </a:xfrm>
          <a:prstGeom prst="roundRect">
            <a:avLst/>
          </a:prstGeom>
          <a:solidFill>
            <a:srgbClr val="F5F8FC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F5FAB"/>
                </a:solidFill>
                <a:latin typeface="Aptos"/>
              </a:rPr>
              <a:t>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E2340"/>
                </a:solidFill>
                <a:latin typeface="Aptos"/>
              </a:rPr>
              <a:t>images • texte • 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862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573"/>
                </a:solidFill>
                <a:latin typeface="Aptos"/>
              </a:rPr>
              <a:t>Plus de données peuvent révéler des motifs complexes.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920240"/>
            <a:ext cx="3246120" cy="3063240"/>
          </a:xfrm>
          <a:prstGeom prst="roundRect">
            <a:avLst/>
          </a:prstGeom>
          <a:solidFill>
            <a:srgbClr val="F5F8FC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33172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CA6BE"/>
                </a:solidFill>
                <a:latin typeface="Aptos"/>
              </a:rPr>
              <a:t>Capacité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017520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E2340"/>
                </a:solidFill>
                <a:latin typeface="Aptos"/>
              </a:rPr>
              <a:t>réseaux profonds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8862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573"/>
                </a:solidFill>
                <a:latin typeface="Aptos"/>
              </a:rPr>
              <a:t>Plus de couches = plus de transformations apprises.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20240"/>
            <a:ext cx="3246120" cy="3063240"/>
          </a:xfrm>
          <a:prstGeom prst="roundRect">
            <a:avLst/>
          </a:prstGeom>
          <a:solidFill>
            <a:srgbClr val="F5F8FC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331720"/>
            <a:ext cx="2788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E08237"/>
                </a:solidFill>
                <a:latin typeface="Aptos"/>
              </a:rPr>
              <a:t>Calcul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17520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E2340"/>
                </a:solidFill>
                <a:latin typeface="Aptos"/>
              </a:rPr>
              <a:t>GPU / accélérateurs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88620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573"/>
                </a:solidFill>
                <a:latin typeface="Aptos"/>
              </a:rPr>
              <a:t>L’algèbre linéaire massive se parallélise efficacement.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E4141"/>
                </a:solidFill>
                <a:latin typeface="Aptos"/>
              </a:rPr>
              <a:t>À ne pas confondre : deep ≠ automatiquement meilleur sur toute donnée tabulaire.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Du MLP au CNN : pourquoi changer d’architecture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Une image possède une structure spatiale que le MLP exploite mal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12080" cy="342900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5212080" cy="342900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945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BE4141"/>
                </a:solidFill>
                <a:latin typeface="Aptos"/>
              </a:rPr>
              <a:t>MLP sur image aplatie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80360"/>
            <a:ext cx="4251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Perd la proximité 2D explicite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Beaucoup de paramètres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Pas de partage naturel des détecteurs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8056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B6573"/>
                </a:solidFill>
                <a:latin typeface="Aptos"/>
              </a:rPr>
              <a:t>28×28 → 784 entrées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6916C"/>
                </a:solidFill>
                <a:latin typeface="Aptos"/>
              </a:rPr>
              <a:t>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80360"/>
            <a:ext cx="4251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Filtres locaux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Poids partagés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Cartes d’activation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Hiérarchie spatiale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4805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B6573"/>
                </a:solidFill>
                <a:latin typeface="Aptos"/>
              </a:rPr>
              <a:t>Même filtre appliqué partout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Convolution : un produit scalaire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Un filtre glisse sur le signal et produit une carte d’activation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rc_dl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48640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874519"/>
            <a:ext cx="480060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19456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E2340"/>
                </a:solidFill>
                <a:latin typeface="Aptos"/>
              </a:rPr>
              <a:t>Intuition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743200"/>
            <a:ext cx="4069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Le filtre cherche un motif local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Réponse forte si le motif correspond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Le même filtre est réutilisé à chaque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389120"/>
            <a:ext cx="4023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573"/>
                </a:solidFill>
                <a:latin typeface="Aptos"/>
              </a:rPr>
              <a:t>En pratique DL : l’opération appelée « convolution » est souvent une cross-correlation.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Convolution 2D : détecter des motifs dans une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Kernel × patch local → une valeur dans la feature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rc_dl_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0"/>
            <a:ext cx="557784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46520" y="1828800"/>
            <a:ext cx="4754880" cy="365760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214884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E2340"/>
                </a:solidFill>
                <a:latin typeface="Aptos"/>
              </a:rPr>
              <a:t>Paramètres essentiels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743200"/>
            <a:ext cx="4069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Kernel size : taille du filtre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Stride : pas de déplacement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Padding : gestion des bords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Channels : profondeur d’entrée/sortie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Dimensions d’une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Anticiper la forme des tenseurs évite une grande partie des erreurs 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61320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139696"/>
            <a:ext cx="10012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E2340"/>
                </a:solidFill>
                <a:latin typeface="Aptos"/>
              </a:rPr>
              <a:t>H_out = ⌊(H + 2P − K) / S⌋ + 1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337560"/>
            <a:ext cx="2926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E2340"/>
                </a:solidFill>
                <a:latin typeface="Aptos"/>
              </a:rPr>
              <a:t>Entrée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0233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F5FAB"/>
                </a:solidFill>
                <a:latin typeface="Aptos"/>
              </a:rPr>
              <a:t>32×32×3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337560"/>
            <a:ext cx="2926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35661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E2340"/>
                </a:solidFill>
                <a:latin typeface="Aptos"/>
              </a:rPr>
              <a:t>Conv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0233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CA6BE"/>
                </a:solidFill>
                <a:latin typeface="Aptos"/>
              </a:rPr>
              <a:t>K=3, P=1, S=1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337560"/>
            <a:ext cx="2926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19" y="35661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E2340"/>
                </a:solidFill>
                <a:latin typeface="Aptos"/>
              </a:rPr>
              <a:t>Sortie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40233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916C"/>
                </a:solidFill>
                <a:latin typeface="Aptos"/>
              </a:rPr>
              <a:t>32×32×16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B6573"/>
                </a:solidFill>
                <a:latin typeface="Aptos"/>
              </a:rPr>
              <a:t>Le nombre de canaux de sortie = nombre de filtres appris.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Pooling : réduire la résolution spatiale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Conserver l’information dominante tout en diminuant le coût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rc_dl_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5486400" cy="4069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874519"/>
            <a:ext cx="480060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19456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E2340"/>
                </a:solidFill>
                <a:latin typeface="Aptos"/>
              </a:rPr>
              <a:t>Max Pooling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743200"/>
            <a:ext cx="4069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Pas de poids appris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Réduction H × W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Robustesse à de petites translations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Augmente progressivement le champ réceptif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61772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08237"/>
                </a:solidFill>
                <a:latin typeface="Aptos"/>
              </a:rPr>
              <a:t>Exemple : 32×32 → pool 2×2 → 16×16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Le bloc CNN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Convolution → activation → pooling, répété plusieurs fois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5087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468880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5FAB"/>
                </a:solidFill>
                <a:latin typeface="Aptos"/>
              </a:rPr>
              <a:t>Conv 3×3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907792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détecteurs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148840"/>
            <a:ext cx="15087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42032" y="2468880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08237"/>
                </a:solidFill>
                <a:latin typeface="Aptos"/>
              </a:rPr>
              <a:t>ReLU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907792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non-linéarité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2148840"/>
            <a:ext cx="15087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33672" y="2468880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6916C"/>
                </a:solidFill>
                <a:latin typeface="Aptos"/>
              </a:rPr>
              <a:t>MaxPool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672" y="2907792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réduction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5603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E234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148840"/>
            <a:ext cx="15087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2" y="2468880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F5FAB"/>
                </a:solidFill>
                <a:latin typeface="Aptos"/>
              </a:rPr>
              <a:t>Conv 3×3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907792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détecteurs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148840"/>
            <a:ext cx="15087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19872" y="2468880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08237"/>
                </a:solidFill>
                <a:latin typeface="Aptos"/>
              </a:rPr>
              <a:t>ReLU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2907792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non-linéarité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2148840"/>
            <a:ext cx="150876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11512" y="2468880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6916C"/>
                </a:solidFill>
                <a:latin typeface="Aptos"/>
              </a:rPr>
              <a:t>MaxPool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11512" y="2907792"/>
            <a:ext cx="13624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B6573"/>
                </a:solidFill>
                <a:latin typeface="Aptos"/>
              </a:rPr>
              <a:t>réduction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34340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E2340"/>
                </a:solidFill>
                <a:latin typeface="Aptos"/>
              </a:rPr>
              <a:t>Puis : Flatten / Global Average Pooling → couche(s) dense(s) → sortie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8348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5B6573"/>
                </a:solidFill>
                <a:latin typeface="Aptos"/>
              </a:rPr>
              <a:t>Plus on avance, plus les features deviennent abstraites.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LeNet : première architecture CNN emblématique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Convolutions + subsampling/pooling + MLP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rc_dl_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0"/>
            <a:ext cx="5669280" cy="4206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37960" y="1874519"/>
            <a:ext cx="4617720" cy="361188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03720" y="2194560"/>
            <a:ext cx="3886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E2340"/>
                </a:solidFill>
                <a:latin typeface="Aptos"/>
              </a:rPr>
              <a:t>Pourquoi l’étudier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43200"/>
            <a:ext cx="3931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Architecture lisible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Montre la chaîne complète image → features → classe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Base historique de la reconnaissance de chiffres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457200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08237"/>
                </a:solidFill>
                <a:latin typeface="Aptos"/>
              </a:rPr>
              <a:t>MNIST : 10 classes (0–9)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De LeNet à VGG, ResNet : approfondir sans perdre le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Les architectures modernes répondent aux limites de l’entraînement profond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468880" cy="3337560"/>
          </a:xfrm>
          <a:prstGeom prst="roundRect">
            <a:avLst/>
          </a:prstGeom>
          <a:solidFill>
            <a:srgbClr val="F5F8FC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F5FAB"/>
                </a:solidFill>
                <a:latin typeface="Aptos"/>
              </a:rPr>
              <a:t>LeNet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B6573"/>
                </a:solidFill>
                <a:latin typeface="Aptos"/>
              </a:rPr>
              <a:t>1998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petit CNN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2519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F5FAB"/>
                </a:solidFill>
                <a:latin typeface="Aptos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874519"/>
            <a:ext cx="2468880" cy="3337560"/>
          </a:xfrm>
          <a:prstGeom prst="roundRect">
            <a:avLst/>
          </a:prstGeom>
          <a:solidFill>
            <a:srgbClr val="F5F8FC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8" y="21945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CA6BE"/>
                </a:solidFill>
                <a:latin typeface="Aptos"/>
              </a:rPr>
              <a:t>AlexNet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6974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B6573"/>
                </a:solidFill>
                <a:latin typeface="Aptos"/>
              </a:rPr>
              <a:t>2012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337560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essor ImageNet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42519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CA6BE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874519"/>
            <a:ext cx="2468880" cy="3337560"/>
          </a:xfrm>
          <a:prstGeom prst="roundRect">
            <a:avLst/>
          </a:prstGeom>
          <a:solidFill>
            <a:srgbClr val="F5F8FC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6" y="21945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08237"/>
                </a:solidFill>
                <a:latin typeface="Aptos"/>
              </a:rPr>
              <a:t>VGG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6974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B6573"/>
                </a:solidFill>
                <a:latin typeface="Aptos"/>
              </a:rPr>
              <a:t>2014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337560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blocs 3×3 profonds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425196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E08237"/>
                </a:solidFill>
                <a:latin typeface="Aptos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3144" y="1874519"/>
            <a:ext cx="2468880" cy="3337560"/>
          </a:xfrm>
          <a:prstGeom prst="roundRect">
            <a:avLst/>
          </a:prstGeom>
          <a:solidFill>
            <a:srgbClr val="F5F8F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0304" y="21945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6916C"/>
                </a:solidFill>
                <a:latin typeface="Aptos"/>
              </a:rPr>
              <a:t>ResNet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26974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B6573"/>
                </a:solidFill>
                <a:latin typeface="Aptos"/>
              </a:rPr>
              <a:t>2015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6024" y="3337560"/>
            <a:ext cx="2103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connexions résiduelles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42519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6916C"/>
                </a:solidFill>
                <a:latin typeface="Aptos"/>
              </a:rPr>
              <a:t>F(x)+x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573"/>
                </a:solidFill>
                <a:latin typeface="Aptos"/>
              </a:rPr>
              <a:t>Le support source détaille LeNet/AlexNet ; VGG/ResNet sont ajoutés ici pour couvrir explicitement ton syllabus.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ResNet : apprendre une correction résiduelle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Une skip connection laisse circuler directement l’information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182880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F5FAB"/>
                </a:solidFill>
                <a:latin typeface="Aptos"/>
              </a:rPr>
              <a:t>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057400"/>
            <a:ext cx="201168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0" y="23317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CA6BE"/>
                </a:solidFill>
                <a:latin typeface="Aptos"/>
              </a:rPr>
              <a:t>F(x)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057400"/>
            <a:ext cx="2011680" cy="914400"/>
          </a:xfrm>
          <a:prstGeom prst="roundRect">
            <a:avLst/>
          </a:prstGeom>
          <a:solidFill>
            <a:srgbClr val="F5F8F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0" y="23317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6916C"/>
                </a:solidFill>
                <a:latin typeface="Aptos"/>
              </a:rPr>
              <a:t>F(x)+x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2514600"/>
            <a:ext cx="914400" cy="0"/>
          </a:xfrm>
          <a:prstGeom prst="line">
            <a:avLst/>
          </a:prstGeom>
          <a:ln w="25400">
            <a:solidFill>
              <a:srgbClr val="0E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69280" y="2514600"/>
            <a:ext cx="1645920" cy="0"/>
          </a:xfrm>
          <a:prstGeom prst="line">
            <a:avLst/>
          </a:prstGeom>
          <a:ln w="25400">
            <a:solidFill>
              <a:srgbClr val="0E23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43200" y="2423160"/>
            <a:ext cx="4206240" cy="173736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949440" y="2971800"/>
            <a:ext cx="914400" cy="1188720"/>
          </a:xfrm>
          <a:prstGeom prst="line">
            <a:avLst/>
          </a:prstGeom>
          <a:ln w="25400">
            <a:solidFill>
              <a:srgbClr val="E0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60520" y="40690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08237"/>
                </a:solidFill>
                <a:latin typeface="Aptos"/>
              </a:rPr>
              <a:t>skip / identité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0916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Meilleur flux du gradient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Facilite les réseaux très profonds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Le bloc apprend une correction plutôt qu’une transformation complète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Feature learning : ce que le CNN apprend réellement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Les filtres remplacent une partie du feature engineering manuel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rc_dl_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557784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46520" y="1874519"/>
            <a:ext cx="4754880" cy="361188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12280" y="219456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E2340"/>
                </a:solidFill>
                <a:latin typeface="Aptos"/>
              </a:rPr>
              <a:t>Hiérarchie typique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743200"/>
            <a:ext cx="4069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Début : bords, couleurs, textures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Milieu : motifs et parties</a:t>
            </a:r>
          </a:p>
          <a:p>
            <a:pPr>
              <a:spcAft>
                <a:spcPts val="800"/>
              </a:spcAft>
              <a:defRPr sz="1600">
                <a:solidFill>
                  <a:srgbClr val="212830"/>
                </a:solidFill>
                <a:latin typeface="Aptos"/>
              </a:defRPr>
            </a:pPr>
            <a:r>
              <a:t>• Fin : concepts discriminants pour la tâche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4526280"/>
            <a:ext cx="39776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08237"/>
                </a:solidFill>
                <a:latin typeface="Aptos"/>
              </a:rPr>
              <a:t>Le réseau apprend les features qui servent sa loss.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TRANSFERT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Transfer learning : ne pas repartir de zéro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Réutiliser un backbone pré-entraîné puis adapter la tête de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96596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3774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F5FAB"/>
                </a:solidFill>
                <a:latin typeface="Aptos"/>
              </a:rPr>
              <a:t>ImageNet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88036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573"/>
                </a:solidFill>
                <a:latin typeface="Aptos"/>
              </a:rPr>
              <a:t>pré-entraînement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78024" y="263347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E2340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2057400"/>
            <a:ext cx="196596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98648" y="23774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CA6BE"/>
                </a:solidFill>
                <a:latin typeface="Aptos"/>
              </a:rPr>
              <a:t>Backbone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936" y="288036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573"/>
                </a:solidFill>
                <a:latin typeface="Aptos"/>
              </a:rPr>
              <a:t>features génériques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63347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E234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2057400"/>
            <a:ext cx="196596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5B6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02936" y="23774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B6573"/>
                </a:solidFill>
                <a:latin typeface="Aptos"/>
              </a:rPr>
              <a:t>Freeze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288036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573"/>
                </a:solidFill>
                <a:latin typeface="Aptos"/>
              </a:rPr>
              <a:t>poids gelés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63347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E234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5784" y="2057400"/>
            <a:ext cx="196596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07224" y="23774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08237"/>
                </a:solidFill>
                <a:latin typeface="Aptos"/>
              </a:rPr>
              <a:t>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88036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573"/>
                </a:solidFill>
                <a:latin typeface="Aptos"/>
              </a:rPr>
              <a:t>nouvelle classe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263347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E2340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20072" y="2057400"/>
            <a:ext cx="1965960" cy="1645920"/>
          </a:xfrm>
          <a:prstGeom prst="roundRect">
            <a:avLst/>
          </a:prstGeom>
          <a:solidFill>
            <a:srgbClr val="F5F8F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11512" y="237744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916C"/>
                </a:solidFill>
                <a:latin typeface="Aptos"/>
              </a:rPr>
              <a:t>Fine-tune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288036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B6573"/>
                </a:solidFill>
                <a:latin typeface="Aptos"/>
              </a:rPr>
              <a:t>quelques couches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8056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E2340"/>
                </a:solidFill>
                <a:latin typeface="Aptos"/>
              </a:rPr>
              <a:t>Cas typique : peu d’images métier → ResNet pré-entraîné → remplacer la dernière couche → entraîner la tête → fine-tuning prudent.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PRATIQUE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Entraîner un CNN sans se tromper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Les erreurs de pipeline peuvent annuler les gains de l’architecture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246888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5FAB"/>
                </a:solidFill>
                <a:latin typeface="Aptos"/>
              </a:rPr>
              <a:t>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E2340"/>
                </a:solidFill>
                <a:latin typeface="Aptos"/>
              </a:rPr>
              <a:t>TRAIN / VAL /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49039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573"/>
                </a:solidFill>
                <a:latin typeface="Aptos"/>
              </a:rPr>
              <a:t>Ne jamais augmenter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1920240"/>
            <a:ext cx="246888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84448" y="22402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CA6BE"/>
                </a:solidFill>
                <a:latin typeface="Aptos"/>
              </a:rPr>
              <a:t>Augmentation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88036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E2340"/>
                </a:solidFill>
                <a:latin typeface="Aptos"/>
              </a:rPr>
              <a:t>TRAIN seulement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749039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573"/>
                </a:solidFill>
                <a:latin typeface="Aptos"/>
              </a:rPr>
              <a:t>flip, crop, rotation raisonnable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0216" y="1920240"/>
            <a:ext cx="246888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22402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916C"/>
                </a:solidFill>
                <a:latin typeface="Aptos"/>
              </a:rPr>
              <a:t>Normalisation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88036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E2340"/>
                </a:solidFill>
                <a:latin typeface="Aptos"/>
              </a:rPr>
              <a:t>cohérente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749039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573"/>
                </a:solidFill>
                <a:latin typeface="Aptos"/>
              </a:rPr>
              <a:t>mêmes stats / conventions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3144" y="1920240"/>
            <a:ext cx="2468880" cy="3246120"/>
          </a:xfrm>
          <a:prstGeom prst="roundRect">
            <a:avLst/>
          </a:prstGeom>
          <a:solidFill>
            <a:srgbClr val="F5F8FC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90304" y="22402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08237"/>
                </a:solidFill>
                <a:latin typeface="Aptos"/>
              </a:rPr>
              <a:t>Early stopping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6024" y="2880360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E2340"/>
                </a:solidFill>
                <a:latin typeface="Aptos"/>
              </a:rPr>
              <a:t>sur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3749039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B6573"/>
                </a:solidFill>
                <a:latin typeface="Aptos"/>
              </a:rPr>
              <a:t>éviter overfitting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BE4141"/>
                </a:solidFill>
                <a:latin typeface="Aptos"/>
              </a:rPr>
              <a:t>Même principe qu’aux Jours 1–3 : tout ce qui apprend à partir des données doit respecter le split.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PRATIQUE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PyTorch : architecture minimale pour la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Lire le code comme la traduction directe du schéma CNN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583680" cy="4434840"/>
          </a:xfrm>
          <a:prstGeom prst="roundRect">
            <a:avLst/>
          </a:prstGeom>
          <a:solidFill>
            <a:srgbClr val="191F2A"/>
          </a:solidFill>
          <a:ln>
            <a:solidFill>
              <a:srgbClr val="19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6126480" cy="3977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8EEF5"/>
                </a:solidFill>
                <a:latin typeface="Consolas"/>
              </a:rPr>
              <a:t>class SmallCNN(nn.Module):
    def __init__(self, n_classes):
        super().__init__()
        self.features = nn.Sequential(
            nn.Conv2d(3, 32, 3, padding=1),
            nn.ReLU(),
            nn.MaxPool2d(2),
            nn.Conv2d(32, 64, 3, padding=1),
            nn.ReLU(),
            nn.MaxPool2d(2)
        )
        self.head = nn.Linear(64 * 56 * 56, n_classes)
    def forward(self, x):
        x = self.features(x)
        return self.head(torch.flatten(x, 1))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874519"/>
            <a:ext cx="3886200" cy="3886200"/>
          </a:xfrm>
          <a:prstGeom prst="roundRect">
            <a:avLst/>
          </a:prstGeom>
          <a:solidFill>
            <a:srgbClr val="F5F8FC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2194560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À faire commenter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743200"/>
            <a:ext cx="3246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Pourquoi 3 canaux en entrée ?</a:t>
            </a:r>
          </a:p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Pourquoi 32 puis 64 filtres ?</a:t>
            </a:r>
          </a:p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Que fait padding=1 ?</a:t>
            </a:r>
          </a:p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Pourquoi la dimension du Linear dépend-elle de la taille image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TP vision : protocole expérimental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Comparer un CNN from scratch et un modèle pré-entraîné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29000" cy="3611880"/>
          </a:xfrm>
          <a:prstGeom prst="roundRect">
            <a:avLst/>
          </a:prstGeom>
          <a:solidFill>
            <a:srgbClr val="F5F8FC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2103120"/>
            <a:ext cx="502920" cy="384048"/>
          </a:xfrm>
          <a:prstGeom prst="roundRect">
            <a:avLst/>
          </a:prstGeom>
          <a:solidFill>
            <a:srgbClr val="1F5FAB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2140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CNN from scratch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2880360"/>
            <a:ext cx="2788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Architecture simple</a:t>
            </a:r>
          </a:p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Courbes train/val</a:t>
            </a:r>
          </a:p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Matrice de confusion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429000" cy="3611880"/>
          </a:xfrm>
          <a:prstGeom prst="roundRect">
            <a:avLst/>
          </a:prstGeom>
          <a:solidFill>
            <a:srgbClr val="F5F8F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63440" y="2103120"/>
            <a:ext cx="502920" cy="384048"/>
          </a:xfrm>
          <a:prstGeom prst="roundRect">
            <a:avLst/>
          </a:prstGeom>
          <a:solidFill>
            <a:srgbClr val="26916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121408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12140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Transfer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880360"/>
            <a:ext cx="2788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Backbone pré-entraîné</a:t>
            </a:r>
          </a:p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Tête remplacée</a:t>
            </a:r>
          </a:p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Freeze puis fine-tune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3429000" cy="3611880"/>
          </a:xfrm>
          <a:prstGeom prst="roundRect">
            <a:avLst/>
          </a:prstGeom>
          <a:solidFill>
            <a:srgbClr val="F5F8FC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58200" y="2103120"/>
            <a:ext cx="502920" cy="384048"/>
          </a:xfrm>
          <a:prstGeom prst="roundRect">
            <a:avLst/>
          </a:prstGeom>
          <a:solidFill>
            <a:srgbClr val="E08237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2121408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12140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2340"/>
                </a:solidFill>
                <a:latin typeface="Aptos"/>
              </a:rPr>
              <a:t>Analyse d’erreurs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880360"/>
            <a:ext cx="2788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≥ 24 images mal classées</a:t>
            </a:r>
          </a:p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motifs récurrents</a:t>
            </a:r>
          </a:p>
          <a:p>
            <a:pPr>
              <a:spcAft>
                <a:spcPts val="800"/>
              </a:spcAft>
              <a:defRPr sz="1500">
                <a:solidFill>
                  <a:srgbClr val="212830"/>
                </a:solidFill>
                <a:latin typeface="Aptos"/>
              </a:defRPr>
            </a:pPr>
            <a:r>
              <a:t>• limites / biais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E2340"/>
                </a:solidFill>
                <a:latin typeface="Aptos"/>
              </a:rPr>
              <a:t>Dataset recommandé pour le TP noté : Oxford-IIIT Pet • vraie base d’images • 37 races.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SYNTHÈSE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Décider comme un ingénieur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Un bon modèle vision doit être performant, robuste et exploitable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2057400"/>
            <a:ext cx="205740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24688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5FAB"/>
                </a:solidFill>
                <a:latin typeface="Aptos"/>
              </a:rPr>
              <a:t>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E2340"/>
                </a:solidFill>
                <a:latin typeface="Aptos"/>
              </a:rPr>
              <a:t>accuracy / 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057400"/>
            <a:ext cx="205740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52928" y="24688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CA6BE"/>
                </a:solidFill>
                <a:latin typeface="Aptos"/>
              </a:rPr>
              <a:t>Généralisation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246120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E2340"/>
                </a:solidFill>
                <a:latin typeface="Aptos"/>
              </a:rPr>
              <a:t>écart train-val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057400"/>
            <a:ext cx="205740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84648" y="24688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08237"/>
                </a:solidFill>
                <a:latin typeface="Aptos"/>
              </a:rPr>
              <a:t>Coût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246120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E2340"/>
                </a:solidFill>
                <a:latin typeface="Aptos"/>
              </a:rPr>
              <a:t>latence / GPU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057400"/>
            <a:ext cx="205740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16367" y="24688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6916C"/>
                </a:solidFill>
                <a:latin typeface="Aptos"/>
              </a:rPr>
              <a:t>Robustesse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3246120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E2340"/>
                </a:solidFill>
                <a:latin typeface="Aptos"/>
              </a:rPr>
              <a:t>perturbations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2057400"/>
            <a:ext cx="205740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48087" y="24688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BE4141"/>
                </a:solidFill>
                <a:latin typeface="Aptos"/>
              </a:rPr>
              <a:t>Explicabilité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19" y="3246120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E2340"/>
                </a:solidFill>
                <a:latin typeface="Aptos"/>
              </a:rPr>
              <a:t>erreurs / limites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834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E2340"/>
                </a:solidFill>
                <a:latin typeface="Aptos"/>
              </a:rPr>
              <a:t>Question : accepteriez-vous +0,5 point d’accuracy si l’inférence devient 10× plus lente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CA6BE"/>
                </a:solidFill>
                <a:latin typeface="Aptos"/>
              </a:rPr>
              <a:t>SYNTHÈSE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2340"/>
                </a:solidFill>
                <a:latin typeface="Aptos"/>
              </a:rPr>
              <a:t>À retenir — du neurone à la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15568"/>
            <a:ext cx="10881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573"/>
                </a:solidFill>
                <a:latin typeface="Aptos"/>
              </a:rPr>
              <a:t>La chaîne conceptuelle complète du Support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10972800" cy="22860"/>
          </a:xfrm>
          <a:prstGeom prst="rect">
            <a:avLst/>
          </a:prstGeom>
          <a:solidFill>
            <a:srgbClr val="2CA6BE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23444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45059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F5FAB"/>
                </a:solidFill>
                <a:latin typeface="Aptos"/>
              </a:rPr>
              <a:t>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46504" y="245059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47672" y="2148840"/>
            <a:ext cx="123444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1F5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93391" y="245059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F5FAB"/>
                </a:solidFill>
                <a:latin typeface="Aptos"/>
              </a:rPr>
              <a:t>wᵀx+b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91256" y="245059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2148840"/>
            <a:ext cx="123444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38144" y="245059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08237"/>
                </a:solidFill>
                <a:latin typeface="Aptos"/>
              </a:rPr>
              <a:t>activation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45059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37176" y="2148840"/>
            <a:ext cx="123444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2CA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2896" y="245059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CA6BE"/>
                </a:solidFill>
                <a:latin typeface="Aptos"/>
              </a:rPr>
              <a:t>MLP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45059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2148840"/>
            <a:ext cx="123444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245059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BE4141"/>
                </a:solidFill>
                <a:latin typeface="Aptos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45059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2148840"/>
            <a:ext cx="123444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E0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245059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E08237"/>
                </a:solidFill>
                <a:latin typeface="Aptos"/>
              </a:rPr>
              <a:t>backprop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0263" y="245059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71432" y="2148840"/>
            <a:ext cx="123444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17152" y="245059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6916C"/>
                </a:solidFill>
                <a:latin typeface="Aptos"/>
              </a:rPr>
              <a:t>CNN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15015" y="245059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2340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16184" y="2148840"/>
            <a:ext cx="123444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269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61904" y="245059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6916C"/>
                </a:solidFill>
                <a:latin typeface="Aptos"/>
              </a:rPr>
              <a:t>transfer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886200"/>
            <a:ext cx="10332720" cy="1143000"/>
          </a:xfrm>
          <a:prstGeom prst="roundRect">
            <a:avLst/>
          </a:prstGeom>
          <a:solidFill>
            <a:srgbClr val="0E2340"/>
          </a:solidFill>
          <a:ln>
            <a:solidFill>
              <a:srgbClr val="0E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425196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Comprendre le calcul → entraîner proprement → choisir l’architecture adaptée → interpréter les erreurs.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B6573"/>
                </a:solidFill>
                <a:latin typeface="Aptos"/>
              </a:rPr>
              <a:t>Suite : NLP, Transformers, IA générative, déploiement &amp; éthique.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37960"/>
            <a:ext cx="5303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B6573"/>
                </a:solidFill>
                <a:latin typeface="Aptos"/>
              </a:rPr>
              <a:t>ESI 4A • Intelligence Artificielle • Jour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1052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573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2119</Words>
  <Application>Microsoft Office PowerPoint</Application>
  <PresentationFormat>Grand écran</PresentationFormat>
  <Paragraphs>424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5" baseType="lpstr">
      <vt:lpstr>Aptos</vt:lpstr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Samson AMOUSSOU</cp:lastModifiedBy>
  <cp:revision>1</cp:revision>
  <dcterms:created xsi:type="dcterms:W3CDTF">2013-01-27T09:14:16Z</dcterms:created>
  <dcterms:modified xsi:type="dcterms:W3CDTF">2026-09-16T21:46:40Z</dcterms:modified>
  <cp:category/>
</cp:coreProperties>
</file>