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2AECC"/>
                </a:solidFill>
                <a:latin typeface="Aptos"/>
              </a:rPr>
              <a:t>ESI — 4e ANNÉE • OPTION DÉVELOPPEUR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7498079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500" b="1">
                <a:solidFill>
                  <a:srgbClr val="0D2440"/>
                </a:solidFill>
                <a:latin typeface="Aptos"/>
              </a:rPr>
              <a:t>NLP, IA générative,
déploiement &amp; éthique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971800"/>
            <a:ext cx="5943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206FB5"/>
                </a:solidFill>
                <a:latin typeface="Aptos"/>
              </a:rPr>
              <a:t>Support 2 — Séances 9 &amp;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480060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0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487375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NLP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4768" y="507492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2784" y="480060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2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7648" y="487375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Transformer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84904" y="507492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2920" y="480060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A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7784" y="487375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507492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480060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EB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487375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GenAI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5176" y="507492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480060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68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8056" y="487375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5312" y="507492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63328" y="480060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C9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18192" y="487375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Gouvernance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D2440"/>
                </a:solidFill>
                <a:latin typeface="Aptos"/>
              </a:rPr>
              <a:t>Objectifs &amp; progression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143000" cy="50292"/>
          </a:xfrm>
          <a:prstGeom prst="rect">
            <a:avLst/>
          </a:prstGeom>
          <a:solidFill>
            <a:srgbClr val="22A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2648" y="182880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0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90195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Tokeniser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4768" y="210312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2784" y="182880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2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7648" y="190195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Représenter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84904" y="210312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2920" y="182880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A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7784" y="190195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Contextualiser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10312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82880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EB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90195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Générer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5176" y="210312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3192" y="182880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68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8056" y="190195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Servir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5312" y="210312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63328" y="182880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C9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18192" y="190195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Gouverner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703320"/>
            <a:ext cx="3063240" cy="141732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3703320"/>
            <a:ext cx="64008" cy="1417320"/>
          </a:xfrm>
          <a:prstGeom prst="rect">
            <a:avLst/>
          </a:prstGeom>
          <a:solidFill>
            <a:srgbClr val="20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813048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Comprendre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233672"/>
            <a:ext cx="2697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NLP → Transformer → LLM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53712" y="3703320"/>
            <a:ext cx="3063240" cy="141732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53712" y="3703320"/>
            <a:ext cx="64008" cy="1417320"/>
          </a:xfrm>
          <a:prstGeom prst="rect">
            <a:avLst/>
          </a:prstGeom>
          <a:solidFill>
            <a:srgbClr val="2A9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36592" y="3813048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Construire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36592" y="4233672"/>
            <a:ext cx="2697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inférence → API → conteneur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93024" y="3703320"/>
            <a:ext cx="3063240" cy="141732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93024" y="3703320"/>
            <a:ext cx="64008" cy="1417320"/>
          </a:xfrm>
          <a:prstGeom prst="rect">
            <a:avLst/>
          </a:prstGeom>
          <a:solidFill>
            <a:srgbClr val="EB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75904" y="3813048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Responsabiliser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5904" y="4233672"/>
            <a:ext cx="2697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monitoring → conformité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D2440"/>
                </a:solidFill>
                <a:latin typeface="Aptos"/>
              </a:rPr>
              <a:t>Pourquoi le NLP est difficile 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143000" cy="50292"/>
          </a:xfrm>
          <a:prstGeom prst="rect">
            <a:avLst/>
          </a:prstGeom>
          <a:solidFill>
            <a:srgbClr val="22A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C6C7C"/>
                </a:solidFill>
                <a:latin typeface="Aptos"/>
              </a:rPr>
              <a:t>Le langage est discret, ambigu, contextuel et séquentiel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192024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64008" cy="1920240"/>
          </a:xfrm>
          <a:prstGeom prst="rect">
            <a:avLst/>
          </a:prstGeom>
          <a:solidFill>
            <a:srgbClr val="68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55648"/>
            <a:ext cx="2148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Ambiguïté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21031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« avocat » : métier ou fruit 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468880" cy="192024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645920"/>
            <a:ext cx="64008" cy="1920240"/>
          </a:xfrm>
          <a:prstGeom prst="rect">
            <a:avLst/>
          </a:prstGeom>
          <a:solidFill>
            <a:srgbClr val="20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755648"/>
            <a:ext cx="2148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Ordre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176272"/>
            <a:ext cx="21031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les mêmes mots, un sens différent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2468880" cy="192024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645920"/>
            <a:ext cx="64008" cy="1920240"/>
          </a:xfrm>
          <a:prstGeom prst="rect">
            <a:avLst/>
          </a:prstGeom>
          <a:solidFill>
            <a:srgbClr val="2A9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755648"/>
            <a:ext cx="2148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Long contexte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76272"/>
            <a:ext cx="21031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l'information utile peut être loin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645920"/>
            <a:ext cx="2468880" cy="192024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1645920"/>
            <a:ext cx="64008" cy="1920240"/>
          </a:xfrm>
          <a:prstGeom prst="rect">
            <a:avLst/>
          </a:prstGeom>
          <a:solidFill>
            <a:srgbClr val="EB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755648"/>
            <a:ext cx="2148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Variabilité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176272"/>
            <a:ext cx="21031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fautes, langues, jargon, style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0916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D2440"/>
                </a:solidFill>
                <a:latin typeface="Aptos"/>
              </a:rPr>
              <a:t>Objectif : produire une représentation numérique qui conserve assez de sens pour la tâche.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D2440"/>
                </a:solidFill>
                <a:latin typeface="Aptos"/>
              </a:rPr>
              <a:t>Tokenisation : du texte aux unités manipulables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143000" cy="50292"/>
          </a:xfrm>
          <a:prstGeom prst="rect">
            <a:avLst/>
          </a:prstGeom>
          <a:solidFill>
            <a:srgbClr val="22A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0D2440"/>
                </a:solidFill>
                <a:latin typeface="Aptos"/>
              </a:rPr>
              <a:t>« Le modèle comprend le contexte.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42316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0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49631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4768" y="2697479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2784" y="242316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2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7648" y="249631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modèle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84904" y="2697479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2920" y="242316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A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7784" y="249631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comprend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697479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242316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EB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49631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5176" y="2697479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242316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68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8056" y="249631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contexte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5312" y="2697479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63328" y="242316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C9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18192" y="249631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4160520"/>
            <a:ext cx="2926080" cy="123444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97280" y="4160520"/>
            <a:ext cx="64008" cy="1234440"/>
          </a:xfrm>
          <a:prstGeom prst="rect">
            <a:avLst/>
          </a:prstGeom>
          <a:solidFill>
            <a:srgbClr val="20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4270248"/>
            <a:ext cx="2606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Mot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690872"/>
            <a:ext cx="2560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simple, mais vocabulaire énorme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17720" y="4160520"/>
            <a:ext cx="2926080" cy="123444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17720" y="4160520"/>
            <a:ext cx="64008" cy="1234440"/>
          </a:xfrm>
          <a:prstGeom prst="rect">
            <a:avLst/>
          </a:prstGeom>
          <a:solidFill>
            <a:srgbClr val="2A9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4270248"/>
            <a:ext cx="2606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Sous-mot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4690872"/>
            <a:ext cx="2560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compromis courant des LLM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4160520"/>
            <a:ext cx="2926080" cy="123444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4160520"/>
            <a:ext cx="64008" cy="1234440"/>
          </a:xfrm>
          <a:prstGeom prst="rect">
            <a:avLst/>
          </a:prstGeom>
          <a:solidFill>
            <a:srgbClr val="EB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4270248"/>
            <a:ext cx="2606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Caractère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690872"/>
            <a:ext cx="2560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robuste, séquences plus longues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6446520"/>
            <a:ext cx="10972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C6C7C"/>
                </a:solidFill>
                <a:latin typeface="Aptos"/>
              </a:rPr>
              <a:t>Référence : Z. Gao, Cornell CS 5788, « Autoregressive Language Models », 2026 — section Tokenization.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D2440"/>
                </a:solidFill>
                <a:latin typeface="Aptos"/>
              </a:rPr>
              <a:t>BPE : construire un vocabulaire de sous-mots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143000" cy="50292"/>
          </a:xfrm>
          <a:prstGeom prst="rect">
            <a:avLst/>
          </a:prstGeom>
          <a:solidFill>
            <a:srgbClr val="22A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C6C7C"/>
                </a:solidFill>
                <a:latin typeface="Aptos"/>
              </a:rPr>
              <a:t>Un exemple concret de tokenisation moderne</a:t>
            </a:r>
          </a:p>
        </p:txBody>
      </p:sp>
      <p:pic>
        <p:nvPicPr>
          <p:cNvPr id="5" name="Picture 4" descr="b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557784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29400" y="1600200"/>
            <a:ext cx="4572000" cy="123444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29400" y="1600200"/>
            <a:ext cx="64008" cy="1234440"/>
          </a:xfrm>
          <a:prstGeom prst="rect">
            <a:avLst/>
          </a:prstGeom>
          <a:solidFill>
            <a:srgbClr val="68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709928"/>
            <a:ext cx="4251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Principe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2130552"/>
            <a:ext cx="4206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partir d'unités simples puis fusionner les paires fréquentes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3063240"/>
            <a:ext cx="4572000" cy="123444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29400" y="3063240"/>
            <a:ext cx="64008" cy="1234440"/>
          </a:xfrm>
          <a:prstGeom prst="rect">
            <a:avLst/>
          </a:prstGeom>
          <a:solidFill>
            <a:srgbClr val="2A9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3172968"/>
            <a:ext cx="4251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Effet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3593592"/>
            <a:ext cx="4206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mots fréquents compacts • mots rares décomposables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4526280"/>
            <a:ext cx="4572000" cy="105156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29400" y="4526280"/>
            <a:ext cx="64008" cy="1051560"/>
          </a:xfrm>
          <a:prstGeom prst="rect">
            <a:avLst/>
          </a:prstGeom>
          <a:solidFill>
            <a:srgbClr val="20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4636008"/>
            <a:ext cx="4251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Réflexe développeur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5056632"/>
            <a:ext cx="4206240" cy="4114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toujours inspecter le tokenizer du modèle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446520"/>
            <a:ext cx="10972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C6C7C"/>
                </a:solidFill>
                <a:latin typeface="Aptos"/>
              </a:rPr>
              <a:t>Source visuelle : Z. Gao, Cornell CS 5788, « Autoregressive Language Models », 2026, slide BPE ; la slide Cornell crédite R. Pulapakura (2023).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D2440"/>
                </a:solidFill>
                <a:latin typeface="Aptos"/>
              </a:rPr>
              <a:t>Embeddings : du token ID au vecteur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143000" cy="50292"/>
          </a:xfrm>
          <a:prstGeom prst="rect">
            <a:avLst/>
          </a:prstGeom>
          <a:solidFill>
            <a:srgbClr val="22A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2648" y="1828800"/>
            <a:ext cx="2647188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0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901952"/>
            <a:ext cx="25374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token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59836" y="210312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7852" y="1828800"/>
            <a:ext cx="2647188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2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42716" y="1901952"/>
            <a:ext cx="25374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10312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1828800"/>
            <a:ext cx="2647188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A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901952"/>
            <a:ext cx="25374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table d'embedding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0244" y="210312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38260" y="1828800"/>
            <a:ext cx="2647188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EB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93124" y="1901952"/>
            <a:ext cx="25374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vecteur dense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383280"/>
            <a:ext cx="4754880" cy="164592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3383280"/>
            <a:ext cx="64008" cy="1645920"/>
          </a:xfrm>
          <a:prstGeom prst="rect">
            <a:avLst/>
          </a:prstGeom>
          <a:solidFill>
            <a:srgbClr val="C9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493008"/>
            <a:ext cx="4434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One-hot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913632"/>
            <a:ext cx="43891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sparse • dimension vocabulaire • aucune proximité apprise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3383280"/>
            <a:ext cx="4754880" cy="164592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92240" y="3383280"/>
            <a:ext cx="64008" cy="1645920"/>
          </a:xfrm>
          <a:prstGeom prst="rect">
            <a:avLst/>
          </a:prstGeom>
          <a:solidFill>
            <a:srgbClr val="2A9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3493008"/>
            <a:ext cx="4434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Embedding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913632"/>
            <a:ext cx="43891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compact • appris • géométrie utile pour le réseau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D2440"/>
                </a:solidFill>
                <a:latin typeface="Aptos"/>
              </a:rPr>
              <a:t>RNN : une première mémoire séquentielle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143000" cy="50292"/>
          </a:xfrm>
          <a:prstGeom prst="rect">
            <a:avLst/>
          </a:prstGeom>
          <a:solidFill>
            <a:srgbClr val="22A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2648" y="192024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0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99339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x₁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4768" y="219456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2784" y="192024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2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7648" y="199339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h₁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84904" y="219456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2920" y="192024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A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7784" y="199339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x₂ → h₂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19456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92024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EB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99339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x₃ → h₃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5176" y="219456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3192" y="192024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68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8056" y="199339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5312" y="219456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63328" y="192024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C9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18192" y="199339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sortie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33756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684FA0"/>
                </a:solidFill>
                <a:latin typeface="Aptos"/>
              </a:rPr>
              <a:t>hₜ = f(Wₓxₜ + Wₕhₜ₋₁ + b)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4572000"/>
            <a:ext cx="4480560" cy="105156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43000" y="4572000"/>
            <a:ext cx="64008" cy="1051560"/>
          </a:xfrm>
          <a:prstGeom prst="rect">
            <a:avLst/>
          </a:prstGeom>
          <a:solidFill>
            <a:srgbClr val="20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25880" y="4681728"/>
            <a:ext cx="4160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Mémoire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5102352"/>
            <a:ext cx="4114800" cy="4114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hₜ résume le passé utile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4572000"/>
            <a:ext cx="4480560" cy="105156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37960" y="4572000"/>
            <a:ext cx="64008" cy="1051560"/>
          </a:xfrm>
          <a:prstGeom prst="rect">
            <a:avLst/>
          </a:prstGeom>
          <a:solidFill>
            <a:srgbClr val="2A9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4681728"/>
            <a:ext cx="4160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Partage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102352"/>
            <a:ext cx="4114800" cy="4114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mêmes paramètres à chaque position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446520"/>
            <a:ext cx="10972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C6C7C"/>
                </a:solidFill>
                <a:latin typeface="Aptos"/>
              </a:rPr>
              <a:t>Référence : Z. Gao, Cornell CS 5788, « Autoregressive Language Models », 2026 — historique des RNN.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D2440"/>
                </a:solidFill>
                <a:latin typeface="Aptos"/>
              </a:rPr>
              <a:t>Limites des RNN : pourquoi chercher autre chose 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143000" cy="50292"/>
          </a:xfrm>
          <a:prstGeom prst="rect">
            <a:avLst/>
          </a:prstGeom>
          <a:solidFill>
            <a:srgbClr val="22A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3383280" cy="347472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64008" cy="3474720"/>
          </a:xfrm>
          <a:prstGeom prst="rect">
            <a:avLst/>
          </a:prstGeom>
          <a:solidFill>
            <a:srgbClr val="C9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64207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0D2440"/>
                </a:solidFill>
                <a:latin typeface="Aptos"/>
              </a:rPr>
              <a:t>Dépendances longues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84831"/>
            <a:ext cx="3017520" cy="28346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1B2631"/>
                </a:solidFill>
                <a:latin typeface="Aptos"/>
              </a:rPr>
              <a:t>gradient qui peut s'atténuer ou exploser
information ancienne difficile à préserver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554480"/>
            <a:ext cx="3383280" cy="347472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07408" y="1554480"/>
            <a:ext cx="64008" cy="3474720"/>
          </a:xfrm>
          <a:prstGeom prst="rect">
            <a:avLst/>
          </a:prstGeom>
          <a:solidFill>
            <a:srgbClr val="EB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664207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0D2440"/>
                </a:solidFill>
                <a:latin typeface="Aptos"/>
              </a:rPr>
              <a:t>Calcul séquentiel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084831"/>
            <a:ext cx="3017520" cy="28346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1B2631"/>
                </a:solidFill>
                <a:latin typeface="Aptos"/>
              </a:rPr>
              <a:t>t+1 dépend de t
parallélisation limitée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91856" y="1554480"/>
            <a:ext cx="3383280" cy="347472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91856" y="1554480"/>
            <a:ext cx="64008" cy="3474720"/>
          </a:xfrm>
          <a:prstGeom prst="rect">
            <a:avLst/>
          </a:prstGeom>
          <a:solidFill>
            <a:srgbClr val="68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4736" y="1664207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0D2440"/>
                </a:solidFill>
                <a:latin typeface="Aptos"/>
              </a:rPr>
              <a:t>Goulot mémoire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4736" y="2084831"/>
            <a:ext cx="3017520" cy="28346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1B2631"/>
                </a:solidFill>
                <a:latin typeface="Aptos"/>
              </a:rPr>
              <a:t>un état caché doit résumer beaucoup d'informations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94960"/>
            <a:ext cx="10332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D2440"/>
                </a:solidFill>
                <a:latin typeface="Aptos"/>
              </a:rPr>
              <a:t>LSTM/GRU améliorent la mémoire ; l'attention change le mécanisme d'accès au contexte.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446520"/>
            <a:ext cx="10972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C6C7C"/>
                </a:solidFill>
                <a:latin typeface="Aptos"/>
              </a:rPr>
              <a:t>Référence : Z. Gao, Cornell CS 5788, 2026 — le support souligne le goulot du vecteur de contexte pour les longues phrases.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D2440"/>
                </a:solidFill>
                <a:latin typeface="Aptos"/>
              </a:rPr>
              <a:t>Attention : Query, Key,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143000" cy="50292"/>
          </a:xfrm>
          <a:prstGeom prst="rect">
            <a:avLst/>
          </a:prstGeom>
          <a:solidFill>
            <a:srgbClr val="22A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C6C7C"/>
                </a:solidFill>
                <a:latin typeface="Aptos"/>
              </a:rPr>
              <a:t>Chaque position apprend où regarder</a:t>
            </a:r>
          </a:p>
        </p:txBody>
      </p:sp>
      <p:pic>
        <p:nvPicPr>
          <p:cNvPr id="5" name="Picture 4" descr="at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5623560" cy="4526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0" y="1554480"/>
            <a:ext cx="4663440" cy="114300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0" y="1554480"/>
            <a:ext cx="64008" cy="1143000"/>
          </a:xfrm>
          <a:prstGeom prst="rect">
            <a:avLst/>
          </a:prstGeom>
          <a:solidFill>
            <a:srgbClr val="68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664207"/>
            <a:ext cx="4343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084831"/>
            <a:ext cx="42976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ce que le token cherche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880360"/>
            <a:ext cx="4663440" cy="114300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2880360"/>
            <a:ext cx="64008" cy="1143000"/>
          </a:xfrm>
          <a:prstGeom prst="rect">
            <a:avLst/>
          </a:prstGeom>
          <a:solidFill>
            <a:srgbClr val="20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990088"/>
            <a:ext cx="4343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410712"/>
            <a:ext cx="42976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ce que chaque position propose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4206240"/>
            <a:ext cx="4663440" cy="114300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0" y="4206240"/>
            <a:ext cx="64008" cy="1143000"/>
          </a:xfrm>
          <a:prstGeom prst="rect">
            <a:avLst/>
          </a:prstGeom>
          <a:solidFill>
            <a:srgbClr val="2A9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4315968"/>
            <a:ext cx="4343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736592"/>
            <a:ext cx="42976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l'information effectivement agrégée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446520"/>
            <a:ext cx="10972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C6C7C"/>
                </a:solidFill>
                <a:latin typeface="Aptos"/>
              </a:rPr>
              <a:t>Source visuelle : Z. Gao, Cornell CS 5788, « Autoregressive Language Models », 2026 ; visuel crédité dans le support à Liu &amp; Neubig, CMU (2024).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D2440"/>
                </a:solidFill>
                <a:latin typeface="Aptos"/>
              </a:rPr>
              <a:t>Multi-head attention : plusieurs relations en parallèle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143000" cy="50292"/>
          </a:xfrm>
          <a:prstGeom prst="rect">
            <a:avLst/>
          </a:prstGeom>
          <a:solidFill>
            <a:srgbClr val="22A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ulti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562356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29400" y="1645920"/>
            <a:ext cx="4572000" cy="132588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29400" y="1645920"/>
            <a:ext cx="64008" cy="1325880"/>
          </a:xfrm>
          <a:prstGeom prst="rect">
            <a:avLst/>
          </a:prstGeom>
          <a:solidFill>
            <a:srgbClr val="68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1755648"/>
            <a:ext cx="4251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Plusieurs têtes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2176272"/>
            <a:ext cx="42062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projections Q/K/V différentes apprises en parallèle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3246120"/>
            <a:ext cx="4572000" cy="132588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9400" y="3246120"/>
            <a:ext cx="64008" cy="1325880"/>
          </a:xfrm>
          <a:prstGeom prst="rect">
            <a:avLst/>
          </a:prstGeom>
          <a:solidFill>
            <a:srgbClr val="20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3355848"/>
            <a:ext cx="4251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Puis concaténation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3776472"/>
            <a:ext cx="42062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les sorties sont regroupées et reprojetées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4846320"/>
            <a:ext cx="4572000" cy="82296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29400" y="4846320"/>
            <a:ext cx="64008" cy="822960"/>
          </a:xfrm>
          <a:prstGeom prst="rect">
            <a:avLst/>
          </a:prstGeom>
          <a:solidFill>
            <a:srgbClr val="2A9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4956048"/>
            <a:ext cx="4251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Intuition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5376672"/>
            <a:ext cx="4206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plusieurs façons de construire le contexte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446520"/>
            <a:ext cx="10972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C6C7C"/>
                </a:solidFill>
                <a:latin typeface="Aptos"/>
              </a:rPr>
              <a:t>Source visuelle : Z. Gao, Cornell CS 5788, 2026 ; visuel crédité dans le support à Liu &amp; Neubig, CMU (2024).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D2440"/>
                </a:solidFill>
                <a:latin typeface="Aptos"/>
              </a:rPr>
              <a:t>Transformer : organiser l'attention en blocs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143000" cy="50292"/>
          </a:xfrm>
          <a:prstGeom prst="rect">
            <a:avLst/>
          </a:prstGeom>
          <a:solidFill>
            <a:srgbClr val="22A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2648" y="182880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0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90195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Tokens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4768" y="210312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2784" y="182880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2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7648" y="190195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Embeddings
+ positions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84904" y="210312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2920" y="182880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A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7784" y="190195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Attention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10312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82880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EB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90195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Feed-forward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5176" y="210312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3192" y="182880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68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8056" y="190195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Residual +
Norm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5312" y="210312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63328" y="182880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C9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18192" y="190195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Répéter N fois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840480"/>
            <a:ext cx="3017520" cy="141732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3840480"/>
            <a:ext cx="64008" cy="1417320"/>
          </a:xfrm>
          <a:prstGeom prst="rect">
            <a:avLst/>
          </a:prstGeom>
          <a:solidFill>
            <a:srgbClr val="2A9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950208"/>
            <a:ext cx="26974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Parallélisation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370832"/>
            <a:ext cx="2651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calcul efficace à l'entraînement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3840480"/>
            <a:ext cx="3017520" cy="141732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0" y="3840480"/>
            <a:ext cx="64008" cy="1417320"/>
          </a:xfrm>
          <a:prstGeom prst="rect">
            <a:avLst/>
          </a:prstGeom>
          <a:solidFill>
            <a:srgbClr val="68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3950208"/>
            <a:ext cx="26974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Contexte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4370832"/>
            <a:ext cx="2651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relations directes entre positions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3840480"/>
            <a:ext cx="3017520" cy="141732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3840480"/>
            <a:ext cx="64008" cy="1417320"/>
          </a:xfrm>
          <a:prstGeom prst="rect">
            <a:avLst/>
          </a:prstGeom>
          <a:solidFill>
            <a:srgbClr val="20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3950208"/>
            <a:ext cx="26974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Profondeur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370832"/>
            <a:ext cx="2651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représentations progressivement enrichies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6446520"/>
            <a:ext cx="10972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C6C7C"/>
                </a:solidFill>
                <a:latin typeface="Aptos"/>
              </a:rPr>
              <a:t>Référence : Z. Gao, Cornell CS 5788, 2026 — Transformer, embeddings, positional encoding et attention.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D2440"/>
                </a:solidFill>
                <a:latin typeface="Aptos"/>
              </a:rPr>
              <a:t>Masked / causal attention : empêcher de voir le futur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143000" cy="50292"/>
          </a:xfrm>
          <a:prstGeom prst="rect">
            <a:avLst/>
          </a:prstGeom>
          <a:solidFill>
            <a:srgbClr val="22A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s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577840" cy="4434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29400" y="1645920"/>
            <a:ext cx="4572000" cy="141732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29400" y="1645920"/>
            <a:ext cx="64008" cy="1417320"/>
          </a:xfrm>
          <a:prstGeom prst="rect">
            <a:avLst/>
          </a:prstGeom>
          <a:solidFill>
            <a:srgbClr val="C9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1755648"/>
            <a:ext cx="4251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Pendant l'entraînement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2176272"/>
            <a:ext cx="4206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le token t ne doit utiliser que les positions ≤ 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3383280"/>
            <a:ext cx="4572000" cy="141732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9400" y="3383280"/>
            <a:ext cx="64008" cy="1417320"/>
          </a:xfrm>
          <a:prstGeom prst="rect">
            <a:avLst/>
          </a:prstGeom>
          <a:solidFill>
            <a:srgbClr val="68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3493008"/>
            <a:ext cx="4251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Pourquoi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3913632"/>
            <a:ext cx="4206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reproduire la contrainte réelle de génération du prochain token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5074920"/>
            <a:ext cx="44805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D2440"/>
                </a:solidFill>
                <a:latin typeface="Aptos"/>
              </a:rPr>
              <a:t>C'est la base du Transformer decoder-only utilisé pour les LLM autorégressifs.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446520"/>
            <a:ext cx="10972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C6C7C"/>
                </a:solidFill>
                <a:latin typeface="Aptos"/>
              </a:rPr>
              <a:t>Source visuelle : Z. Gao, Cornell CS 5788, 2026 ; visuel crédité dans le support à Liu &amp; Neubig, CMU (2024).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D2440"/>
                </a:solidFill>
                <a:latin typeface="Aptos"/>
              </a:rPr>
              <a:t>LLM autorégressif : prédire le prochain token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143000" cy="50292"/>
          </a:xfrm>
          <a:prstGeom prst="rect">
            <a:avLst/>
          </a:prstGeom>
          <a:solidFill>
            <a:srgbClr val="22A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508760"/>
            <a:ext cx="9418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684FA0"/>
                </a:solidFill>
                <a:latin typeface="Aptos"/>
              </a:rPr>
              <a:t>P(y|x) = ∏ₜ P(yₜ | x, y₁,…,yₜ₋₁)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74320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0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81635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4768" y="301752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2784" y="274320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2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7648" y="281635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logits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84904" y="301752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2920" y="274320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A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7784" y="281635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softmax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301752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274320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EB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81635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token choisi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5176" y="301752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274320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68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8056" y="281635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ajout au contexte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5312" y="301752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63328" y="274320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C9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18192" y="281635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recommencer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4343400"/>
            <a:ext cx="4297680" cy="114300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97280" y="4343400"/>
            <a:ext cx="64008" cy="1143000"/>
          </a:xfrm>
          <a:prstGeom prst="rect">
            <a:avLst/>
          </a:prstGeom>
          <a:solidFill>
            <a:srgbClr val="20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4453128"/>
            <a:ext cx="3977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Entraînement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873752"/>
            <a:ext cx="3931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likelihood / cross-entropy sur le prochain token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66560" y="4343400"/>
            <a:ext cx="4297680" cy="114300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66560" y="4343400"/>
            <a:ext cx="64008" cy="1143000"/>
          </a:xfrm>
          <a:prstGeom prst="rect">
            <a:avLst/>
          </a:prstGeom>
          <a:solidFill>
            <a:srgbClr val="EB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4453128"/>
            <a:ext cx="3977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Inférence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4873752"/>
            <a:ext cx="3931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génération séquentielle token après token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446520"/>
            <a:ext cx="10972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C6C7C"/>
                </a:solidFill>
                <a:latin typeface="Aptos"/>
              </a:rPr>
              <a:t>Références : Z. Gao, Cornell CS 5788, 2026 ; V. Kuleshov, Cornell Tech CS 5788, « Autoregressive Models », 2025.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D2440"/>
                </a:solidFill>
                <a:latin typeface="Aptos"/>
              </a:rPr>
              <a:t>Décodage : pourquoi le même modèle peut répondre différemment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143000" cy="50292"/>
          </a:xfrm>
          <a:prstGeom prst="rect">
            <a:avLst/>
          </a:prstGeom>
          <a:solidFill>
            <a:srgbClr val="22A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463040"/>
            <a:ext cx="3383280" cy="361188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463040"/>
            <a:ext cx="64008" cy="3611880"/>
          </a:xfrm>
          <a:prstGeom prst="rect">
            <a:avLst/>
          </a:prstGeom>
          <a:solidFill>
            <a:srgbClr val="20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72768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D2440"/>
                </a:solidFill>
                <a:latin typeface="Aptos"/>
              </a:rPr>
              <a:t>Greedy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93392"/>
            <a:ext cx="3017520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Aptos"/>
              </a:rPr>
              <a:t>prendre le token le plus probable
stable mais parfois répétitif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463040"/>
            <a:ext cx="3383280" cy="361188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07408" y="1463040"/>
            <a:ext cx="64008" cy="3611880"/>
          </a:xfrm>
          <a:prstGeom prst="rect">
            <a:avLst/>
          </a:prstGeom>
          <a:solidFill>
            <a:srgbClr val="EB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572768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D2440"/>
                </a:solidFill>
                <a:latin typeface="Aptos"/>
              </a:rPr>
              <a:t>Température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993392"/>
            <a:ext cx="3017520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Aptos"/>
              </a:rPr>
              <a:t>aplatir ou concentrer la distribution
faible → plus déterministe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7575" y="1463040"/>
            <a:ext cx="3383280" cy="361188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463040"/>
            <a:ext cx="64008" cy="3611880"/>
          </a:xfrm>
          <a:prstGeom prst="rect">
            <a:avLst/>
          </a:prstGeom>
          <a:solidFill>
            <a:srgbClr val="68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0455" y="1572768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D2440"/>
                </a:solidFill>
                <a:latin typeface="Aptos"/>
              </a:rPr>
              <a:t>Top-k / top-p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0455" y="1993392"/>
            <a:ext cx="3017520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Aptos"/>
              </a:rPr>
              <a:t>échantillonner dans un ensemble restreint
contrôler diversité / risque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D2440"/>
                </a:solidFill>
                <a:latin typeface="Aptos"/>
              </a:rPr>
              <a:t>IA générative : plusieurs familles, plusieurs mécanismes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143000" cy="50292"/>
          </a:xfrm>
          <a:prstGeom prst="rect">
            <a:avLst/>
          </a:prstGeom>
          <a:solidFill>
            <a:srgbClr val="22A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606040" cy="388620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64008" cy="3886200"/>
          </a:xfrm>
          <a:prstGeom prst="rect">
            <a:avLst/>
          </a:prstGeom>
          <a:solidFill>
            <a:srgbClr val="68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527048"/>
            <a:ext cx="2286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0D2440"/>
                </a:solidFill>
                <a:latin typeface="Aptos"/>
              </a:rPr>
              <a:t>Autorégressif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947672"/>
            <a:ext cx="2240280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B2631"/>
                </a:solidFill>
                <a:latin typeface="Aptos"/>
              </a:rPr>
              <a:t>génère séquentiellement
LLM • code • audio
+ likelihood exacte
− sampling séquentiel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417320"/>
            <a:ext cx="2606040" cy="388620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417320"/>
            <a:ext cx="64008" cy="3886200"/>
          </a:xfrm>
          <a:prstGeom prst="rect">
            <a:avLst/>
          </a:prstGeom>
          <a:solidFill>
            <a:srgbClr val="20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527048"/>
            <a:ext cx="2286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0D2440"/>
                </a:solidFill>
                <a:latin typeface="Aptos"/>
              </a:rPr>
              <a:t>VAE / latent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947672"/>
            <a:ext cx="2240280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B2631"/>
                </a:solidFill>
                <a:latin typeface="Aptos"/>
              </a:rPr>
              <a:t>encode → espace latent → decode
reconstruction + génération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417320"/>
            <a:ext cx="2606040" cy="388620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417320"/>
            <a:ext cx="64008" cy="3886200"/>
          </a:xfrm>
          <a:prstGeom prst="rect">
            <a:avLst/>
          </a:prstGeom>
          <a:solidFill>
            <a:srgbClr val="EB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527048"/>
            <a:ext cx="2286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0D2440"/>
                </a:solidFill>
                <a:latin typeface="Aptos"/>
              </a:rPr>
              <a:t>GAN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947672"/>
            <a:ext cx="2240280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B2631"/>
                </a:solidFill>
                <a:latin typeface="Aptos"/>
              </a:rPr>
              <a:t>générateur vs discriminateur
génération rapide
entraînement délicat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1417320"/>
            <a:ext cx="2606040" cy="388620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69680" y="1417320"/>
            <a:ext cx="64008" cy="3886200"/>
          </a:xfrm>
          <a:prstGeom prst="rect">
            <a:avLst/>
          </a:prstGeom>
          <a:solidFill>
            <a:srgbClr val="2A9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59" y="1527048"/>
            <a:ext cx="2286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0D2440"/>
                </a:solidFill>
                <a:latin typeface="Aptos"/>
              </a:rPr>
              <a:t>Diffusion /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59" y="1947672"/>
            <a:ext cx="2240280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B2631"/>
                </a:solidFill>
                <a:latin typeface="Aptos"/>
              </a:rPr>
              <a:t>bruit → raffinement
très présent en image/vidéo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446520"/>
            <a:ext cx="10972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C6C7C"/>
                </a:solidFill>
                <a:latin typeface="Aptos"/>
              </a:rPr>
              <a:t>Références : Cornell CS 5788, cours 2025–2026 : Autoregressive Models, PS2 Latent Variable Models, Diffusion Models, Flow Matching.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D2440"/>
                </a:solidFill>
                <a:latin typeface="Aptos"/>
              </a:rPr>
              <a:t>Diffusion : générer en partant du bruit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143000" cy="50292"/>
          </a:xfrm>
          <a:prstGeom prst="rect">
            <a:avLst/>
          </a:prstGeom>
          <a:solidFill>
            <a:srgbClr val="22A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C6C7C"/>
                </a:solidFill>
                <a:latin typeface="Aptos"/>
              </a:rPr>
              <a:t>Une ouverture essentielle sur la génération d'images</a:t>
            </a:r>
          </a:p>
        </p:txBody>
      </p:sp>
      <p:pic>
        <p:nvPicPr>
          <p:cNvPr id="5" name="Picture 4" descr="dif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5623560" cy="4526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29400" y="1600200"/>
            <a:ext cx="4572000" cy="132588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29400" y="1600200"/>
            <a:ext cx="64008" cy="1325880"/>
          </a:xfrm>
          <a:prstGeom prst="rect">
            <a:avLst/>
          </a:prstGeom>
          <a:solidFill>
            <a:srgbClr val="68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709928"/>
            <a:ext cx="4251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Idée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2130552"/>
            <a:ext cx="42062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apprendre à inverser progressivement un processus de bruitage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3200400"/>
            <a:ext cx="4572000" cy="132588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29400" y="3200400"/>
            <a:ext cx="64008" cy="1325880"/>
          </a:xfrm>
          <a:prstGeom prst="rect">
            <a:avLst/>
          </a:prstGeom>
          <a:solidFill>
            <a:srgbClr val="2A9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3310128"/>
            <a:ext cx="4251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Génération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3730752"/>
            <a:ext cx="42062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bruit aléatoire → débruitages successifs → image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4800600"/>
            <a:ext cx="4572000" cy="77724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29400" y="4800600"/>
            <a:ext cx="64008" cy="777240"/>
          </a:xfrm>
          <a:prstGeom prst="rect">
            <a:avLst/>
          </a:prstGeom>
          <a:solidFill>
            <a:srgbClr val="20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4910328"/>
            <a:ext cx="4251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Usage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5330952"/>
            <a:ext cx="420624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image • vidéo • multimodal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446520"/>
            <a:ext cx="10972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C6C7C"/>
                </a:solidFill>
                <a:latin typeface="Aptos"/>
              </a:rPr>
              <a:t>Source visuelle : Cornell CS 5788, « Diffusion Models », 2026, slide « From noise to an image » ; exemple crédité à Aditya Ramesh.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D2440"/>
                </a:solidFill>
                <a:latin typeface="Aptos"/>
              </a:rPr>
              <a:t>Comment construit-on un LLM moderne 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143000" cy="50292"/>
          </a:xfrm>
          <a:prstGeom prst="rect">
            <a:avLst/>
          </a:prstGeom>
          <a:solidFill>
            <a:srgbClr val="22A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C6C7C"/>
                </a:solidFill>
                <a:latin typeface="Aptos"/>
              </a:rPr>
              <a:t>Pré-entraînement → spécialisation → comportement utile</a:t>
            </a:r>
          </a:p>
        </p:txBody>
      </p:sp>
      <p:pic>
        <p:nvPicPr>
          <p:cNvPr id="5" name="Picture 4" descr="ol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57784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0" y="1554480"/>
            <a:ext cx="4663440" cy="123444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0" y="1554480"/>
            <a:ext cx="64008" cy="1234440"/>
          </a:xfrm>
          <a:prstGeom prst="rect">
            <a:avLst/>
          </a:prstGeom>
          <a:solidFill>
            <a:srgbClr val="20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664207"/>
            <a:ext cx="4343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Pre-training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084831"/>
            <a:ext cx="4297679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très grands corpus → langage, syntaxe, connaissances statistiques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3017520"/>
            <a:ext cx="4663440" cy="123444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3017520"/>
            <a:ext cx="64008" cy="1234440"/>
          </a:xfrm>
          <a:prstGeom prst="rect">
            <a:avLst/>
          </a:prstGeom>
          <a:solidFill>
            <a:srgbClr val="2A9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3127248"/>
            <a:ext cx="4343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Mid-training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547872"/>
            <a:ext cx="4297679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données plus ciblées : code, maths, raisonnement, long contexte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4480560"/>
            <a:ext cx="4663440" cy="123444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0" y="4480560"/>
            <a:ext cx="64008" cy="1234440"/>
          </a:xfrm>
          <a:prstGeom prst="rect">
            <a:avLst/>
          </a:prstGeom>
          <a:solidFill>
            <a:srgbClr val="68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4590288"/>
            <a:ext cx="4343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Post-training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5010912"/>
            <a:ext cx="4297679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instruction following • préférences • alignement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446520"/>
            <a:ext cx="10972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C6C7C"/>
                </a:solidFill>
                <a:latin typeface="Aptos"/>
              </a:rPr>
              <a:t>Source visuelle : Cornell CS 5788, Lecture 19 « Post-training », 2026 — étude de cas OLMo 3 ; la slide cite OLMo 3.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D2440"/>
                </a:solidFill>
                <a:latin typeface="Aptos"/>
              </a:rPr>
              <a:t>Du modèle de langage au chatbot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143000" cy="50292"/>
          </a:xfrm>
          <a:prstGeom prst="rect">
            <a:avLst/>
          </a:prstGeom>
          <a:solidFill>
            <a:srgbClr val="22A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t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577840" cy="4434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583680" y="1554480"/>
            <a:ext cx="4663440" cy="128016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0" y="1554480"/>
            <a:ext cx="64008" cy="1280160"/>
          </a:xfrm>
          <a:prstGeom prst="rect">
            <a:avLst/>
          </a:prstGeom>
          <a:solidFill>
            <a:srgbClr val="20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664207"/>
            <a:ext cx="4343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Base 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084831"/>
            <a:ext cx="429767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sait compléter du texte mais ne suit pas nécessairement une intention utilisateur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3154680"/>
            <a:ext cx="4663440" cy="128016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3154680"/>
            <a:ext cx="64008" cy="1280160"/>
          </a:xfrm>
          <a:prstGeom prst="rect">
            <a:avLst/>
          </a:prstGeom>
          <a:solidFill>
            <a:srgbClr val="68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3264408"/>
            <a:ext cx="4343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Chatbot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685032"/>
            <a:ext cx="429767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comportement conversationnel appris après le pré-entraînement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4754880"/>
            <a:ext cx="4663440" cy="82296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0" y="4754880"/>
            <a:ext cx="64008" cy="822960"/>
          </a:xfrm>
          <a:prstGeom prst="rect">
            <a:avLst/>
          </a:prstGeom>
          <a:solidFill>
            <a:srgbClr val="EB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4864608"/>
            <a:ext cx="4343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Question clé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5285232"/>
            <a:ext cx="4297679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comment enseigner préférences, sécurité et format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446520"/>
            <a:ext cx="10972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C6C7C"/>
                </a:solidFill>
                <a:latin typeface="Aptos"/>
              </a:rPr>
              <a:t>Source visuelle : Cornell CS 5788, Lecture 19 « Post-training », 2026, slide « From language model to chatbot ».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D2440"/>
                </a:solidFill>
                <a:latin typeface="Aptos"/>
              </a:rPr>
              <a:t>Post-training : SFT, préférences, RLHF et DPO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143000" cy="50292"/>
          </a:xfrm>
          <a:prstGeom prst="rect">
            <a:avLst/>
          </a:prstGeom>
          <a:solidFill>
            <a:srgbClr val="22A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2092147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0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719072"/>
            <a:ext cx="1982419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Base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04795" y="192024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2811" y="1645920"/>
            <a:ext cx="2092147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2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7675" y="1719072"/>
            <a:ext cx="1982419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SFT
prompt→bonne réponse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24958" y="192024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52974" y="1645920"/>
            <a:ext cx="2092147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A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07838" y="1719072"/>
            <a:ext cx="1982419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Préférences
A &gt;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5121" y="192024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73137" y="1645920"/>
            <a:ext cx="2092147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EB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28001" y="1719072"/>
            <a:ext cx="1982419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RLHF / DPO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65284" y="192024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93300" y="1645920"/>
            <a:ext cx="2092147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68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48164" y="1719072"/>
            <a:ext cx="1982419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Assistant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337560"/>
            <a:ext cx="3383280" cy="182880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3337560"/>
            <a:ext cx="64008" cy="1828800"/>
          </a:xfrm>
          <a:prstGeom prst="rect">
            <a:avLst/>
          </a:prstGeom>
          <a:solidFill>
            <a:srgbClr val="20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447288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0D2440"/>
                </a:solidFill>
                <a:latin typeface="Aptos"/>
              </a:rPr>
              <a:t>SFT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867911"/>
            <a:ext cx="30175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B2631"/>
                </a:solidFill>
                <a:latin typeface="Aptos"/>
              </a:rPr>
              <a:t>apprentissage supervisé sur des exemples d'instructions et réponses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7408" y="3337560"/>
            <a:ext cx="3383280" cy="182880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07408" y="3337560"/>
            <a:ext cx="64008" cy="1828800"/>
          </a:xfrm>
          <a:prstGeom prst="rect">
            <a:avLst/>
          </a:prstGeom>
          <a:solidFill>
            <a:srgbClr val="EB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0288" y="3447288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0D2440"/>
                </a:solidFill>
                <a:latin typeface="Aptos"/>
              </a:rPr>
              <a:t>RLHF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3867911"/>
            <a:ext cx="30175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B2631"/>
                </a:solidFill>
                <a:latin typeface="Aptos"/>
              </a:rPr>
              <a:t>apprendre/optimiser un signal de préférence humaine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91856" y="3337560"/>
            <a:ext cx="3383280" cy="182880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91856" y="3337560"/>
            <a:ext cx="64008" cy="1828800"/>
          </a:xfrm>
          <a:prstGeom prst="rect">
            <a:avLst/>
          </a:prstGeom>
          <a:solidFill>
            <a:srgbClr val="68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74736" y="3447288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0D2440"/>
                </a:solidFill>
                <a:latin typeface="Aptos"/>
              </a:rPr>
              <a:t>DPO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4736" y="3867911"/>
            <a:ext cx="30175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B2631"/>
                </a:solidFill>
                <a:latin typeface="Aptos"/>
              </a:rPr>
              <a:t>optimiser directement à partir de paires préféré / rejeté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446520"/>
            <a:ext cx="10972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C6C7C"/>
                </a:solidFill>
                <a:latin typeface="Aptos"/>
              </a:rPr>
              <a:t>Référence : Cornell CS 5788, Lecture 19 « Post-training », 2026 — instruction tuning, RLHF et dérivation DPO ; plusieurs slides sont adaptées de Yoav Artzi.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D2440"/>
                </a:solidFill>
                <a:latin typeface="Aptos"/>
              </a:rPr>
              <a:t>Prompt engineering : programmer le contexte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143000" cy="50292"/>
          </a:xfrm>
          <a:prstGeom prst="rect">
            <a:avLst/>
          </a:prstGeom>
          <a:solidFill>
            <a:srgbClr val="22A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2648" y="182880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0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90195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4768" y="210312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2784" y="182880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2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7648" y="190195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Tâche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84904" y="210312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2920" y="182880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A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7784" y="190195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Contexte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10312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82880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EB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90195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Contraintes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5176" y="210312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3192" y="182880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68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8056" y="190195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Format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5312" y="210312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63328" y="182880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C9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18192" y="190195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Exemples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703320"/>
            <a:ext cx="10332720" cy="164592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3703320"/>
            <a:ext cx="64008" cy="1645920"/>
          </a:xfrm>
          <a:prstGeom prst="rect">
            <a:avLst/>
          </a:prstGeom>
          <a:solidFill>
            <a:srgbClr val="68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813048"/>
            <a:ext cx="10012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D2440"/>
                </a:solidFill>
                <a:latin typeface="Aptos"/>
              </a:rPr>
              <a:t>Patron robuste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233672"/>
            <a:ext cx="99669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Aptos"/>
              </a:rPr>
              <a:t>« À partir du ticket fourni, retourne uniquement un JSON conforme au schéma {category, urgency, rationale}. N'invente aucune information absente. »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D2440"/>
                </a:solidFill>
                <a:latin typeface="Aptos"/>
              </a:rPr>
              <a:t>LLM en production : capacités ≠ garanties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143000" cy="50292"/>
          </a:xfrm>
          <a:prstGeom prst="rect">
            <a:avLst/>
          </a:prstGeom>
          <a:solidFill>
            <a:srgbClr val="22A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3383280" cy="365760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64008" cy="3657600"/>
          </a:xfrm>
          <a:prstGeom prst="rect">
            <a:avLst/>
          </a:prstGeom>
          <a:solidFill>
            <a:srgbClr val="2A9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27048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D2440"/>
                </a:solidFill>
                <a:latin typeface="Aptos"/>
              </a:rPr>
              <a:t>Forces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47672"/>
            <a:ext cx="3017520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Aptos"/>
              </a:rPr>
              <a:t>résumer
extraire
classer
rédiger
coder
transformer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417320"/>
            <a:ext cx="3383280" cy="365760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07408" y="1417320"/>
            <a:ext cx="64008" cy="3657600"/>
          </a:xfrm>
          <a:prstGeom prst="rect">
            <a:avLst/>
          </a:prstGeom>
          <a:solidFill>
            <a:srgbClr val="C9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527048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D2440"/>
                </a:solidFill>
                <a:latin typeface="Aptos"/>
              </a:rPr>
              <a:t>Risques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947672"/>
            <a:ext cx="3017520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Aptos"/>
              </a:rPr>
              <a:t>hallucination
prompt injection
biais
fuite de données
sortie invalide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7575" y="1417320"/>
            <a:ext cx="3383280" cy="365760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417320"/>
            <a:ext cx="64008" cy="3657600"/>
          </a:xfrm>
          <a:prstGeom prst="rect">
            <a:avLst/>
          </a:prstGeom>
          <a:solidFill>
            <a:srgbClr val="20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0455" y="1527048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D2440"/>
                </a:solidFill>
                <a:latin typeface="Aptos"/>
              </a:rPr>
              <a:t>Contrôles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0455" y="1947672"/>
            <a:ext cx="3017520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Aptos"/>
              </a:rPr>
              <a:t>sources
schéma
validation
permissions
fallback
évaluation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D2440"/>
                </a:solidFill>
                <a:latin typeface="Aptos"/>
              </a:rPr>
              <a:t>Du notebook à l'API d'inférence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143000" cy="50292"/>
          </a:xfrm>
          <a:prstGeom prst="rect">
            <a:avLst/>
          </a:prstGeom>
          <a:solidFill>
            <a:srgbClr val="22A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2648" y="1874519"/>
            <a:ext cx="2092147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0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947672"/>
            <a:ext cx="1982419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Notebook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04795" y="2148839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2811" y="1874519"/>
            <a:ext cx="2092147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2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7675" y="1947672"/>
            <a:ext cx="1982419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predict()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24958" y="2148839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52974" y="1874519"/>
            <a:ext cx="2092147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A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07838" y="1947672"/>
            <a:ext cx="1982419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modèle chargé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5121" y="2148839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73137" y="1874519"/>
            <a:ext cx="2092147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EB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28001" y="1947672"/>
            <a:ext cx="1982419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POST /predict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65284" y="2148839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93300" y="1874519"/>
            <a:ext cx="2092147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68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48164" y="1947672"/>
            <a:ext cx="1982419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JSON réponse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794760"/>
            <a:ext cx="3017520" cy="141732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3794760"/>
            <a:ext cx="64008" cy="1417320"/>
          </a:xfrm>
          <a:prstGeom prst="rect">
            <a:avLst/>
          </a:prstGeom>
          <a:solidFill>
            <a:srgbClr val="20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904488"/>
            <a:ext cx="26974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Entrée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325112"/>
            <a:ext cx="2651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validation du schéma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3794760"/>
            <a:ext cx="3017520" cy="141732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0" y="3794760"/>
            <a:ext cx="64008" cy="1417320"/>
          </a:xfrm>
          <a:prstGeom prst="rect">
            <a:avLst/>
          </a:prstGeom>
          <a:solidFill>
            <a:srgbClr val="68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3904488"/>
            <a:ext cx="26974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Inférence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325112"/>
            <a:ext cx="2651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préprocess → modèle → postprocess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794760"/>
            <a:ext cx="3017520" cy="141732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794760"/>
            <a:ext cx="64008" cy="1417320"/>
          </a:xfrm>
          <a:prstGeom prst="rect">
            <a:avLst/>
          </a:prstGeom>
          <a:solidFill>
            <a:srgbClr val="2A9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3904488"/>
            <a:ext cx="26974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Sortie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325112"/>
            <a:ext cx="2651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résultat + version + statut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D2440"/>
                </a:solidFill>
                <a:latin typeface="Aptos"/>
              </a:rPr>
              <a:t>Conteneurisation : reproduire l'environnement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143000" cy="50292"/>
          </a:xfrm>
          <a:prstGeom prst="rect">
            <a:avLst/>
          </a:prstGeom>
          <a:solidFill>
            <a:srgbClr val="22A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2648" y="1874519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0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94767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4768" y="2148839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2784" y="1874519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2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7648" y="194767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84904" y="2148839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2920" y="1874519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A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7784" y="194767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Dockerfile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148839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874519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EB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94767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5176" y="2148839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3192" y="1874519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68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8056" y="194767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Container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5312" y="2148839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63328" y="1874519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C9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18192" y="194767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Service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794760"/>
            <a:ext cx="3017520" cy="141732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3794760"/>
            <a:ext cx="64008" cy="1417320"/>
          </a:xfrm>
          <a:prstGeom prst="rect">
            <a:avLst/>
          </a:prstGeom>
          <a:solidFill>
            <a:srgbClr val="2A9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904488"/>
            <a:ext cx="26974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Reproductibilité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325112"/>
            <a:ext cx="2651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mêmes versions et dépendances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3794760"/>
            <a:ext cx="3017520" cy="141732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0" y="3794760"/>
            <a:ext cx="64008" cy="1417320"/>
          </a:xfrm>
          <a:prstGeom prst="rect">
            <a:avLst/>
          </a:prstGeom>
          <a:solidFill>
            <a:srgbClr val="20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3904488"/>
            <a:ext cx="26974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Isolation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4325112"/>
            <a:ext cx="2651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environnement séparé de l'hôte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3794760"/>
            <a:ext cx="3017520" cy="141732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3794760"/>
            <a:ext cx="64008" cy="1417320"/>
          </a:xfrm>
          <a:prstGeom prst="rect">
            <a:avLst/>
          </a:prstGeom>
          <a:solidFill>
            <a:srgbClr val="68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3904488"/>
            <a:ext cx="26974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Déploiement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325112"/>
            <a:ext cx="2651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même artefact test → production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D2440"/>
                </a:solidFill>
                <a:latin typeface="Aptos"/>
              </a:rPr>
              <a:t>MLOps : le modèle continue de vivre après le déploiement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143000" cy="50292"/>
          </a:xfrm>
          <a:prstGeom prst="rect">
            <a:avLst/>
          </a:prstGeom>
          <a:solidFill>
            <a:srgbClr val="22A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457814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0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810512"/>
            <a:ext cx="1348086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70462" y="2011679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8478" y="1737360"/>
            <a:ext cx="1457814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2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53342" y="1810512"/>
            <a:ext cx="1348086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Train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6293" y="2011679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84309" y="1737360"/>
            <a:ext cx="1457814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A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39173" y="1810512"/>
            <a:ext cx="1348086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Evaluate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42124" y="2011679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70140" y="1737360"/>
            <a:ext cx="1457814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EB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25004" y="1810512"/>
            <a:ext cx="1348086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Registry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27955" y="2011679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55971" y="1737360"/>
            <a:ext cx="1457814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68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10835" y="1810512"/>
            <a:ext cx="1348086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3786" y="2011679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1802" y="1737360"/>
            <a:ext cx="1457814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C9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6666" y="1810512"/>
            <a:ext cx="1348086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Monitor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99617" y="2011679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27633" y="1737360"/>
            <a:ext cx="1457814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0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82497" y="1810512"/>
            <a:ext cx="1348086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Retrain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3657600"/>
            <a:ext cx="3017520" cy="160020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3657600"/>
            <a:ext cx="64008" cy="1600200"/>
          </a:xfrm>
          <a:prstGeom prst="rect">
            <a:avLst/>
          </a:prstGeom>
          <a:solidFill>
            <a:srgbClr val="20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3767328"/>
            <a:ext cx="26974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Traçabilité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187952"/>
            <a:ext cx="26517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code + données + modèle + config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3657600"/>
            <a:ext cx="3017520" cy="160020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0" y="3657600"/>
            <a:ext cx="64008" cy="1600200"/>
          </a:xfrm>
          <a:prstGeom prst="rect">
            <a:avLst/>
          </a:prstGeom>
          <a:solidFill>
            <a:srgbClr val="2A9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3767328"/>
            <a:ext cx="26974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Automatisation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4187952"/>
            <a:ext cx="26517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tests • CI/CD • promotion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3657600"/>
            <a:ext cx="3017520" cy="160020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0" y="3657600"/>
            <a:ext cx="64008" cy="1600200"/>
          </a:xfrm>
          <a:prstGeom prst="rect">
            <a:avLst/>
          </a:prstGeom>
          <a:solidFill>
            <a:srgbClr val="EB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3767328"/>
            <a:ext cx="26974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Boucle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187952"/>
            <a:ext cx="26517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monitoring → diagnostic → nouvelle version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D2440"/>
                </a:solidFill>
                <a:latin typeface="Aptos"/>
              </a:rPr>
              <a:t>Monitoring : quatre niveaux à surveiller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143000" cy="50292"/>
          </a:xfrm>
          <a:prstGeom prst="rect">
            <a:avLst/>
          </a:prstGeom>
          <a:solidFill>
            <a:srgbClr val="22A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2468880" cy="347472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64008" cy="3474720"/>
          </a:xfrm>
          <a:prstGeom prst="rect">
            <a:avLst/>
          </a:prstGeom>
          <a:solidFill>
            <a:srgbClr val="20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18488"/>
            <a:ext cx="2148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0D2440"/>
                </a:solidFill>
                <a:latin typeface="Aptos"/>
              </a:rPr>
              <a:t>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39112"/>
            <a:ext cx="2103120" cy="28346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1B2631"/>
                </a:solidFill>
                <a:latin typeface="Aptos"/>
              </a:rPr>
              <a:t>latence • erreurs
CPU/GPU • disponibilité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508760"/>
            <a:ext cx="2468880" cy="347472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508760"/>
            <a:ext cx="64008" cy="3474720"/>
          </a:xfrm>
          <a:prstGeom prst="rect">
            <a:avLst/>
          </a:prstGeom>
          <a:solidFill>
            <a:srgbClr val="2A9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618488"/>
            <a:ext cx="2148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0D2440"/>
                </a:solidFill>
                <a:latin typeface="Aptos"/>
              </a:rPr>
              <a:t>Données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039112"/>
            <a:ext cx="2103120" cy="28346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1B2631"/>
                </a:solidFill>
                <a:latin typeface="Aptos"/>
              </a:rPr>
              <a:t>schéma • drift
valeurs manquantes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2468880" cy="347472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508760"/>
            <a:ext cx="64008" cy="3474720"/>
          </a:xfrm>
          <a:prstGeom prst="rect">
            <a:avLst/>
          </a:prstGeom>
          <a:solidFill>
            <a:srgbClr val="68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18488"/>
            <a:ext cx="2148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0D2440"/>
                </a:solidFill>
                <a:latin typeface="Aptos"/>
              </a:rPr>
              <a:t>Modèle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039112"/>
            <a:ext cx="2103120" cy="28346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1B2631"/>
                </a:solidFill>
                <a:latin typeface="Aptos"/>
              </a:rPr>
              <a:t>performance
confiance • erreurs métier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508760"/>
            <a:ext cx="2468880" cy="347472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52560" y="1508760"/>
            <a:ext cx="64008" cy="3474720"/>
          </a:xfrm>
          <a:prstGeom prst="rect">
            <a:avLst/>
          </a:prstGeom>
          <a:solidFill>
            <a:srgbClr val="EB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618488"/>
            <a:ext cx="2148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0D2440"/>
                </a:solidFill>
                <a:latin typeface="Aptos"/>
              </a:rPr>
              <a:t>LLM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039112"/>
            <a:ext cx="2103120" cy="28346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1B2631"/>
                </a:solidFill>
                <a:latin typeface="Aptos"/>
              </a:rPr>
              <a:t>tokens • coût
format • sécurité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94960"/>
            <a:ext cx="10332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D2440"/>
                </a:solidFill>
                <a:latin typeface="Aptos"/>
              </a:rPr>
              <a:t>Une métrique utile doit avoir un seuil, un propriétaire et une action.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D2440"/>
                </a:solidFill>
                <a:latin typeface="Aptos"/>
              </a:rPr>
              <a:t>Biais : ils peuvent entrer à chaque étape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143000" cy="50292"/>
          </a:xfrm>
          <a:prstGeom prst="rect">
            <a:avLst/>
          </a:prstGeom>
          <a:solidFill>
            <a:srgbClr val="22A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0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71907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Monde réel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4768" y="192024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2784" y="164592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2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7648" y="171907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Collecte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84904" y="192024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2920" y="164592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A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7784" y="171907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Labels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92024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64592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EB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71907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5176" y="192024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3192" y="164592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68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8056" y="171907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Modèle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5312" y="192024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63328" y="164592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C9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18192" y="171907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Décision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200400"/>
            <a:ext cx="3383280" cy="182880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3200400"/>
            <a:ext cx="64008" cy="1828800"/>
          </a:xfrm>
          <a:prstGeom prst="rect">
            <a:avLst/>
          </a:prstGeom>
          <a:solidFill>
            <a:srgbClr val="C9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310128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Données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730752"/>
            <a:ext cx="30175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sous-représentation • historique • proxies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07408" y="3200400"/>
            <a:ext cx="3383280" cy="182880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07408" y="3200400"/>
            <a:ext cx="64008" cy="1828800"/>
          </a:xfrm>
          <a:prstGeom prst="rect">
            <a:avLst/>
          </a:prstGeom>
          <a:solidFill>
            <a:srgbClr val="EB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0288" y="3310128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Évaluation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3730752"/>
            <a:ext cx="30175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métrique globale qui masque des écarts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91856" y="3200400"/>
            <a:ext cx="3383280" cy="182880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91856" y="3200400"/>
            <a:ext cx="64008" cy="1828800"/>
          </a:xfrm>
          <a:prstGeom prst="rect">
            <a:avLst/>
          </a:prstGeom>
          <a:solidFill>
            <a:srgbClr val="68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6" y="3310128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Usage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4736" y="3730752"/>
            <a:ext cx="30175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impact réel de l'automatisation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D2440"/>
                </a:solidFill>
                <a:latin typeface="Aptos"/>
              </a:rPr>
              <a:t>RGPD : concevoir avec les données personnelles en tête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143000" cy="50292"/>
          </a:xfrm>
          <a:prstGeom prst="rect">
            <a:avLst/>
          </a:prstGeom>
          <a:solidFill>
            <a:srgbClr val="22A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429000" cy="379476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64008" cy="3794760"/>
          </a:xfrm>
          <a:prstGeom prst="rect">
            <a:avLst/>
          </a:prstGeom>
          <a:solidFill>
            <a:srgbClr val="20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27048"/>
            <a:ext cx="3108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0D2440"/>
                </a:solidFill>
                <a:latin typeface="Aptos"/>
              </a:rPr>
              <a:t>Licéité &amp; transparence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47672"/>
            <a:ext cx="3063240" cy="3154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1B2631"/>
                </a:solidFill>
                <a:latin typeface="Aptos"/>
              </a:rPr>
              <a:t>base légale
finalité explicite
information des personnes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417320"/>
            <a:ext cx="3429000" cy="379476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79976" y="1417320"/>
            <a:ext cx="64008" cy="3794760"/>
          </a:xfrm>
          <a:prstGeom prst="rect">
            <a:avLst/>
          </a:prstGeom>
          <a:solidFill>
            <a:srgbClr val="2A9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1527048"/>
            <a:ext cx="3108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0D2440"/>
                </a:solidFill>
                <a:latin typeface="Aptos"/>
              </a:rPr>
              <a:t>Minimisation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6" y="1947672"/>
            <a:ext cx="3063240" cy="3154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1B2631"/>
                </a:solidFill>
                <a:latin typeface="Aptos"/>
              </a:rPr>
              <a:t>données nécessaires seulement
conservation limitée
exactitude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1" y="1417320"/>
            <a:ext cx="3429000" cy="379476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28431" y="1417320"/>
            <a:ext cx="64008" cy="3794760"/>
          </a:xfrm>
          <a:prstGeom prst="rect">
            <a:avLst/>
          </a:prstGeom>
          <a:solidFill>
            <a:srgbClr val="68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1" y="1527048"/>
            <a:ext cx="3108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0D2440"/>
                </a:solidFill>
                <a:latin typeface="Aptos"/>
              </a:rPr>
              <a:t>Sécurité &amp; responsabilité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1" y="1947672"/>
            <a:ext cx="3063240" cy="3154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1B2631"/>
                </a:solidFill>
                <a:latin typeface="Aptos"/>
              </a:rPr>
              <a:t>confidentialité
mesures techniques
accountability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6446520"/>
            <a:ext cx="10972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C6C7C"/>
                </a:solidFill>
                <a:latin typeface="Aptos"/>
              </a:rPr>
              <a:t>Source : Commission européenne, « Principles of the GDPR », consulté en septembre 2026.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D2440"/>
                </a:solidFill>
                <a:latin typeface="Aptos"/>
              </a:rPr>
              <a:t>AI Act : calendrier et obligations à connaître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143000" cy="50292"/>
          </a:xfrm>
          <a:prstGeom prst="rect">
            <a:avLst/>
          </a:prstGeom>
          <a:solidFill>
            <a:srgbClr val="22A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C6C7C"/>
                </a:solidFill>
                <a:latin typeface="Aptos"/>
              </a:rPr>
              <a:t>État de la réglementation européenne en septembre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388620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64008" cy="3886200"/>
          </a:xfrm>
          <a:prstGeom prst="rect">
            <a:avLst/>
          </a:prstGeom>
          <a:solidFill>
            <a:srgbClr val="C9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81328"/>
            <a:ext cx="22402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Depuis 02/2025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2194560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B2631"/>
                </a:solidFill>
                <a:latin typeface="Aptos"/>
              </a:rPr>
              <a:t>pratiques interdites
+ obligations d'AI literacy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1371600"/>
            <a:ext cx="2560320" cy="388620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93008" y="1371600"/>
            <a:ext cx="64008" cy="3886200"/>
          </a:xfrm>
          <a:prstGeom prst="rect">
            <a:avLst/>
          </a:prstGeom>
          <a:solidFill>
            <a:srgbClr val="20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7" y="1481328"/>
            <a:ext cx="22402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Depuis 08/2025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1901952"/>
            <a:ext cx="2194560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B2631"/>
                </a:solidFill>
                <a:latin typeface="Aptos"/>
              </a:rPr>
              <a:t>gouvernance
+ obligations GPAI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1371600"/>
            <a:ext cx="2560320" cy="388620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54496" y="1371600"/>
            <a:ext cx="64008" cy="3886200"/>
          </a:xfrm>
          <a:prstGeom prst="rect">
            <a:avLst/>
          </a:prstGeom>
          <a:solidFill>
            <a:srgbClr val="68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1481328"/>
            <a:ext cx="22402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Depuis 08/2026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1901952"/>
            <a:ext cx="2194560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B2631"/>
                </a:solidFill>
                <a:latin typeface="Aptos"/>
              </a:rPr>
              <a:t>pouvoirs d'application
+ transparence de certains systèmes/contenus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15984" y="1371600"/>
            <a:ext cx="2423160" cy="388620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1371600"/>
            <a:ext cx="64008" cy="3886200"/>
          </a:xfrm>
          <a:prstGeom prst="rect">
            <a:avLst/>
          </a:prstGeom>
          <a:solidFill>
            <a:srgbClr val="EB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98863" y="1481328"/>
            <a:ext cx="2103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À venir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8863" y="1901952"/>
            <a:ext cx="2057400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haut risque Annexe III : 02/12/2027
produits réglementés : 02/08/2028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446520"/>
            <a:ext cx="10972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C6C7C"/>
                </a:solidFill>
                <a:latin typeface="Aptos"/>
              </a:rPr>
              <a:t>Source : Commission européenne, cadre d'application de l'AI Act, mise à jour 24 août 2026.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D2440"/>
                </a:solidFill>
                <a:latin typeface="Aptos"/>
              </a:rPr>
              <a:t>Architecture de référence : une application GenAI en production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143000" cy="50292"/>
          </a:xfrm>
          <a:prstGeom prst="rect">
            <a:avLst/>
          </a:prstGeom>
          <a:solidFill>
            <a:srgbClr val="22A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2648" y="141732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0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49047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4768" y="169164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2784" y="141732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2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7648" y="149047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84904" y="169164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2920" y="141732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A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7784" y="149047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69164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41732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EB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49047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Modèle / 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5176" y="169164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3192" y="141732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68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8056" y="149047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Post-traitement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5312" y="169164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63328" y="141732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C9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18192" y="149047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Réponse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2971800"/>
            <a:ext cx="2468880" cy="182880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2971800"/>
            <a:ext cx="64008" cy="1828800"/>
          </a:xfrm>
          <a:prstGeom prst="rect">
            <a:avLst/>
          </a:prstGeom>
          <a:solidFill>
            <a:srgbClr val="C9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081528"/>
            <a:ext cx="2148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Sécurité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502152"/>
            <a:ext cx="21031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auth • secrets
permissions • rate limit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93008" y="2971800"/>
            <a:ext cx="2468880" cy="182880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93008" y="2971800"/>
            <a:ext cx="64008" cy="1828800"/>
          </a:xfrm>
          <a:prstGeom prst="rect">
            <a:avLst/>
          </a:prstGeom>
          <a:solidFill>
            <a:srgbClr val="20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75887" y="3081528"/>
            <a:ext cx="2148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Observabilité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75887" y="3502152"/>
            <a:ext cx="21031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logs • traces
latence • coût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08776" y="2971800"/>
            <a:ext cx="2468880" cy="182880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08776" y="2971800"/>
            <a:ext cx="64008" cy="1828800"/>
          </a:xfrm>
          <a:prstGeom prst="rect">
            <a:avLst/>
          </a:prstGeom>
          <a:solidFill>
            <a:srgbClr val="2A9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91656" y="3081528"/>
            <a:ext cx="2148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Qualité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6" y="3502152"/>
            <a:ext cx="21031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tests • évaluation
schéma • fallback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24544" y="2971800"/>
            <a:ext cx="2468880" cy="182880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24544" y="2971800"/>
            <a:ext cx="64008" cy="1828800"/>
          </a:xfrm>
          <a:prstGeom prst="rect">
            <a:avLst/>
          </a:prstGeom>
          <a:solidFill>
            <a:srgbClr val="68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07424" y="3081528"/>
            <a:ext cx="2148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D2440"/>
                </a:solidFill>
                <a:latin typeface="Aptos"/>
              </a:rPr>
              <a:t>Gouvernance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07424" y="3502152"/>
            <a:ext cx="21031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versions
RGPD • AI 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349240"/>
            <a:ext cx="10332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D2440"/>
                </a:solidFill>
                <a:latin typeface="Aptos"/>
              </a:rPr>
              <a:t>Le modèle est au centre du calcul — pas au centre de toutes les responsabilités.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D2440"/>
                </a:solidFill>
                <a:latin typeface="Aptos"/>
              </a:rPr>
              <a:t>Synthèse générale du module IA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143000" cy="50292"/>
          </a:xfrm>
          <a:prstGeom prst="rect">
            <a:avLst/>
          </a:prstGeom>
          <a:solidFill>
            <a:srgbClr val="22A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2648" y="1417320"/>
            <a:ext cx="1457814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0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490472"/>
            <a:ext cx="1348086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Données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70462" y="169164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8478" y="1417320"/>
            <a:ext cx="1457814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2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53342" y="1490472"/>
            <a:ext cx="1348086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Supervisé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6293" y="169164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84309" y="1417320"/>
            <a:ext cx="1457814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A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39173" y="1490472"/>
            <a:ext cx="1348086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Ensembles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42124" y="169164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70140" y="1417320"/>
            <a:ext cx="1457814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EB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25004" y="1490472"/>
            <a:ext cx="1348086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Non supervisé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27955" y="169164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55971" y="1417320"/>
            <a:ext cx="1457814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68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10835" y="1490472"/>
            <a:ext cx="1348086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Deep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3786" y="169164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1802" y="1417320"/>
            <a:ext cx="1457814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C9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6666" y="1490472"/>
            <a:ext cx="1348086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NLP / GenAI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99617" y="169164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27633" y="1417320"/>
            <a:ext cx="1457814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0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82497" y="1490472"/>
            <a:ext cx="1348086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Production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15468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0D2440"/>
                </a:solidFill>
                <a:latin typeface="Aptos"/>
              </a:rPr>
              <a:t>Une solution IA professionnelle =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" y="379476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0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386791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problème clair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4768" y="406908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62784" y="379476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2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17648" y="386791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données fiables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84904" y="406908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12920" y="379476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A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7784" y="386791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évaluation honnête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406908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63056" y="379476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EB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386791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déploiement robuste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85176" y="406908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13192" y="379476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68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68056" y="386791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monitoring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5312" y="4069080"/>
            <a:ext cx="128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C6C7C"/>
                </a:solidFill>
                <a:latin typeface="Aptos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63328" y="3794760"/>
            <a:ext cx="172212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C9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18192" y="3867912"/>
            <a:ext cx="1612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2440"/>
                </a:solidFill>
                <a:latin typeface="Aptos"/>
              </a:rPr>
              <a:t>responsabilité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5440680"/>
            <a:ext cx="10607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684FA0"/>
                </a:solidFill>
                <a:latin typeface="Aptos"/>
              </a:rPr>
              <a:t>Question finale : sauriez-vous défendre votre système devant un développeur, un métier, un utilisateur et un auditeur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