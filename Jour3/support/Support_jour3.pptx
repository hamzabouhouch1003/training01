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471" autoAdjust="0"/>
  </p:normalViewPr>
  <p:slideViewPr>
    <p:cSldViewPr snapToGrid="0" snapToObjects="1">
      <p:cViewPr varScale="1">
        <p:scale>
          <a:sx n="63" d="100"/>
          <a:sy n="63" d="100"/>
        </p:scale>
        <p:origin x="142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son AMOUSSOU" userId="e3a853be89db41b5" providerId="LiveId" clId="{B8BC9159-DD46-46C1-847E-34313044516F}"/>
    <pc:docChg chg="modSld">
      <pc:chgData name="Samson AMOUSSOU" userId="e3a853be89db41b5" providerId="LiveId" clId="{B8BC9159-DD46-46C1-847E-34313044516F}" dt="2026-09-15T18:17:14.988" v="0" actId="1076"/>
      <pc:docMkLst>
        <pc:docMk/>
      </pc:docMkLst>
      <pc:sldChg chg="modSp mod">
        <pc:chgData name="Samson AMOUSSOU" userId="e3a853be89db41b5" providerId="LiveId" clId="{B8BC9159-DD46-46C1-847E-34313044516F}" dt="2026-09-15T18:17:14.988" v="0" actId="1076"/>
        <pc:sldMkLst>
          <pc:docMk/>
          <pc:sldMk cId="0" sldId="261"/>
        </pc:sldMkLst>
        <pc:spChg chg="mod">
          <ac:chgData name="Samson AMOUSSOU" userId="e3a853be89db41b5" providerId="LiveId" clId="{B8BC9159-DD46-46C1-847E-34313044516F}" dt="2026-09-15T18:17:14.988" v="0" actId="1076"/>
          <ac:spMkLst>
            <pc:docMk/>
            <pc:sldMk cId="0" sldId="261"/>
            <ac:spMk id="1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3155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ptos"/>
              </a:rPr>
              <a:t>INTELLIGENCE ARTIFICIELLE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274320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800" b="1">
                <a:solidFill>
                  <a:srgbClr val="0A2D4E"/>
                </a:solidFill>
                <a:latin typeface="Aptos"/>
              </a:rPr>
              <a:t>Jour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27632"/>
            <a:ext cx="7680960" cy="1325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3400" b="1">
                <a:solidFill>
                  <a:srgbClr val="0A2D4E"/>
                </a:solidFill>
                <a:latin typeface="Aptos"/>
              </a:rPr>
              <a:t>Méthodes d’ensemble</a:t>
            </a:r>
            <a:br/>
            <a:r>
              <a:rPr sz="3400" b="1">
                <a:solidFill>
                  <a:srgbClr val="0A2D4E"/>
                </a:solidFill>
                <a:latin typeface="Aptos"/>
              </a:rPr>
              <a:t>&amp; apprentissage non supervisé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804672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0">
                <a:solidFill>
                  <a:srgbClr val="64707D"/>
                </a:solidFill>
                <a:latin typeface="Aptos"/>
              </a:rPr>
              <a:t>De la réduction de variance à la découverte de structures cachées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16052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4160520"/>
            <a:ext cx="2125065" cy="640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432511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COMBINER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72744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Bagging • Random 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6273" y="487375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3433" y="416052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83433" y="4160520"/>
            <a:ext cx="2125065" cy="64008"/>
          </a:xfrm>
          <a:prstGeom prst="rect">
            <a:avLst/>
          </a:prstGeom>
          <a:solidFill>
            <a:srgbClr val="2B8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8025" y="432511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CORRIGER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8025" y="472744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AdaBoost • Gradient Boosting • XGBoost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1067" y="487375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18227" y="416052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18227" y="4160520"/>
            <a:ext cx="2125065" cy="64008"/>
          </a:xfrm>
          <a:prstGeom prst="rect">
            <a:avLst/>
          </a:prstGeom>
          <a:solidFill>
            <a:srgbClr val="EF7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82819" y="432511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VALIDER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2819" y="472744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CV • GridSearchCV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5860" y="487375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53020" y="416052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53020" y="4160520"/>
            <a:ext cx="2125065" cy="64008"/>
          </a:xfrm>
          <a:prstGeom prst="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17612" y="432511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DÉCOUVRIR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7612" y="472744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K-means • CAH • DBSCAN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0654" y="487375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87814" y="416052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487814" y="4160520"/>
            <a:ext cx="2125065" cy="6400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52406" y="432511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RÉDUIRE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2406" y="472744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PCA • t-SNE • anomalies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Objectifs et fil conducteur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Une progression unique : diagnostiquer → choisir → valider → interpréter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2125065" cy="640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22199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1. Diagnostic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2432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Biais, variance, underfit, overfit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6273" y="277063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3433" y="205740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83433" y="2057400"/>
            <a:ext cx="2125065" cy="64008"/>
          </a:xfrm>
          <a:prstGeom prst="rect">
            <a:avLst/>
          </a:prstGeom>
          <a:solidFill>
            <a:srgbClr val="2B8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8025" y="222199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2. Ensemble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8025" y="262432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Bagging puis boosting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1067" y="277063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18227" y="205740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18227" y="2057400"/>
            <a:ext cx="2125065" cy="64008"/>
          </a:xfrm>
          <a:prstGeom prst="rect">
            <a:avLst/>
          </a:prstGeom>
          <a:solidFill>
            <a:srgbClr val="EF7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82819" y="222199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3.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2819" y="262432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CV et tuning sans fuite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5860" y="277063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53020" y="205740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53020" y="2057400"/>
            <a:ext cx="2125065" cy="64008"/>
          </a:xfrm>
          <a:prstGeom prst="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17612" y="222199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4. Non supervisé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7612" y="262432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Clusters sans cible 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0654" y="277063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87814" y="205740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487814" y="2057400"/>
            <a:ext cx="2125065" cy="6400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52406" y="222199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5. Représentation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2406" y="262432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PCA, t-SNE, anomalies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754880"/>
            <a:ext cx="10698480" cy="6858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0A2D4E"/>
                </a:solidFill>
                <a:latin typeface="Aptos"/>
              </a:rPr>
              <a:t>Question directrice : quel mécanisme répond au problème observé — variance, biais, structure inconnue ou dimension excessive 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Avant d’ajouter des modèles : diagnostiquer le régime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Les performances TRAIN et VALIDATION racontent une histoire différente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4290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3429000" cy="64008"/>
          </a:xfrm>
          <a:prstGeom prst="rect">
            <a:avLst/>
          </a:prstGeom>
          <a:solidFill>
            <a:srgbClr val="EF7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993392"/>
            <a:ext cx="30998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0A2D4E"/>
                </a:solidFill>
                <a:latin typeface="Aptos"/>
              </a:rPr>
              <a:t>Sous-apprentissage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95728"/>
            <a:ext cx="3099816" cy="2304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1C2630"/>
                </a:solidFill>
                <a:latin typeface="Aptos"/>
              </a:rPr>
              <a:t>TRAIN faible</a:t>
            </a:r>
            <a:br/>
            <a:r>
              <a:rPr sz="1600" b="0">
                <a:solidFill>
                  <a:srgbClr val="1C2630"/>
                </a:solidFill>
                <a:latin typeface="Aptos"/>
              </a:rPr>
              <a:t>VALIDATION faible</a:t>
            </a:r>
            <a:br/>
            <a:r>
              <a:rPr sz="1600" b="0">
                <a:solidFill>
                  <a:srgbClr val="1C2630"/>
                </a:solidFill>
                <a:latin typeface="Aptos"/>
              </a:rPr>
              <a:t>→ modèle trop simple / biais élevé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290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828800"/>
            <a:ext cx="3429000" cy="64008"/>
          </a:xfrm>
          <a:prstGeom prst="rect">
            <a:avLst/>
          </a:prstGeom>
          <a:solidFill>
            <a:srgbClr val="2B8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5424" y="1993392"/>
            <a:ext cx="30998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0A2D4E"/>
                </a:solidFill>
                <a:latin typeface="Aptos"/>
              </a:rPr>
              <a:t>Bon compromis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395728"/>
            <a:ext cx="3099816" cy="2304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1C2630"/>
                </a:solidFill>
                <a:latin typeface="Aptos"/>
              </a:rPr>
              <a:t>TRAIN bon</a:t>
            </a:r>
            <a:br/>
            <a:r>
              <a:rPr sz="1600" b="0">
                <a:solidFill>
                  <a:srgbClr val="1C2630"/>
                </a:solidFill>
                <a:latin typeface="Aptos"/>
              </a:rPr>
              <a:t>VALIDATION proche</a:t>
            </a:r>
            <a:br/>
            <a:r>
              <a:rPr sz="1600" b="0">
                <a:solidFill>
                  <a:srgbClr val="1C2630"/>
                </a:solidFill>
                <a:latin typeface="Aptos"/>
              </a:rPr>
              <a:t>→ complexité adaptée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828800"/>
            <a:ext cx="34290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47304" y="1828800"/>
            <a:ext cx="3429000" cy="64008"/>
          </a:xfrm>
          <a:prstGeom prst="rect">
            <a:avLst/>
          </a:prstGeom>
          <a:solidFill>
            <a:srgbClr val="C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1896" y="1993392"/>
            <a:ext cx="30998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0A2D4E"/>
                </a:solidFill>
                <a:latin typeface="Aptos"/>
              </a:rPr>
              <a:t>Sur-apprentissage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395728"/>
            <a:ext cx="3099816" cy="2304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1C2630"/>
                </a:solidFill>
                <a:latin typeface="Aptos"/>
              </a:rPr>
              <a:t>TRAIN excellent</a:t>
            </a:r>
            <a:br/>
            <a:r>
              <a:rPr sz="1600" b="0">
                <a:solidFill>
                  <a:srgbClr val="1C2630"/>
                </a:solidFill>
                <a:latin typeface="Aptos"/>
              </a:rPr>
              <a:t>VALIDATION dégradée</a:t>
            </a:r>
            <a:br/>
            <a:r>
              <a:rPr sz="1600" b="0">
                <a:solidFill>
                  <a:srgbClr val="1C2630"/>
                </a:solidFill>
                <a:latin typeface="Aptos"/>
              </a:rPr>
              <a:t>→ variance élevée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66360"/>
            <a:ext cx="10515600" cy="5486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0A2D4E"/>
                </a:solidFill>
                <a:latin typeface="Aptos"/>
              </a:rPr>
              <a:t>Ensembling n’est pas une recette automatique : on choisit la stratégie selon le type d’erreur.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Bagging vs Boosting : deux réponses différentes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Même famille “ensemble”, mais mécanismes et objectifs distincts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6070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Dimension</a:t>
                      </a:r>
                    </a:p>
                  </a:txBody>
                  <a:tcPr>
                    <a:solidFill>
                      <a:srgbClr val="0A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Bagging</a:t>
                      </a:r>
                    </a:p>
                  </a:txBody>
                  <a:tcPr>
                    <a:solidFill>
                      <a:srgbClr val="0A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Boosting</a:t>
                      </a:r>
                    </a:p>
                  </a:txBody>
                  <a:tcPr>
                    <a:solidFill>
                      <a:srgbClr val="0A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630"/>
                          </a:solidFill>
                          <a:latin typeface="Aptos"/>
                        </a:rPr>
                        <a:t>Entraînement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630"/>
                          </a:solidFill>
                          <a:latin typeface="Aptos"/>
                        </a:rPr>
                        <a:t>Modèles en parallèle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630"/>
                          </a:solidFill>
                          <a:latin typeface="Aptos"/>
                        </a:rPr>
                        <a:t>Modèles séquentiels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630"/>
                          </a:solidFill>
                          <a:latin typeface="Aptos"/>
                        </a:rPr>
                        <a:t>Données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630"/>
                          </a:solidFill>
                          <a:latin typeface="Aptos"/>
                        </a:rPr>
                        <a:t>Bootstrap / sous-échantillons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630"/>
                          </a:solidFill>
                          <a:latin typeface="Aptos"/>
                        </a:rPr>
                        <a:t>Répond aux erreurs ou résidus précédents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630"/>
                          </a:solidFill>
                          <a:latin typeface="Aptos"/>
                        </a:rPr>
                        <a:t>Effet principal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630"/>
                          </a:solidFill>
                          <a:latin typeface="Aptos"/>
                        </a:rPr>
                        <a:t>Réduit la 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630"/>
                          </a:solidFill>
                          <a:latin typeface="Aptos"/>
                        </a:rPr>
                        <a:t>Réduit le biais, puis optimise la perte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630"/>
                          </a:solidFill>
                          <a:latin typeface="Aptos"/>
                        </a:rPr>
                        <a:t>Base learner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630"/>
                          </a:solidFill>
                          <a:latin typeface="Aptos"/>
                        </a:rPr>
                        <a:t>Souvent arbres profonds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630"/>
                          </a:solidFill>
                          <a:latin typeface="Aptos"/>
                        </a:rPr>
                        <a:t>Souvent petits arbres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630"/>
                          </a:solidFill>
                          <a:latin typeface="Aptos"/>
                        </a:rPr>
                        <a:t>Risque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630"/>
                          </a:solidFill>
                          <a:latin typeface="Aptos"/>
                        </a:rPr>
                        <a:t>Coût + complexité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630"/>
                          </a:solidFill>
                          <a:latin typeface="Aptos"/>
                        </a:rPr>
                        <a:t>Sensibilité au tuning / bruit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Bagging — bootstrap + agrégation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Diversifier les modèles pour stabiliser la prédiction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2125065" cy="640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1343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Bootstrap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1576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Tirer n observations avec remise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6273" y="286207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3433" y="214884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83433" y="2148840"/>
            <a:ext cx="2125065" cy="64008"/>
          </a:xfrm>
          <a:prstGeom prst="rect">
            <a:avLst/>
          </a:prstGeom>
          <a:solidFill>
            <a:srgbClr val="2B8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8025" y="231343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Entraîner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8025" y="271576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Un modèle par échantillon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1067" y="286207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18227" y="214884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18227" y="2148840"/>
            <a:ext cx="2125065" cy="64008"/>
          </a:xfrm>
          <a:prstGeom prst="rect">
            <a:avLst/>
          </a:prstGeom>
          <a:solidFill>
            <a:srgbClr val="EF7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82819" y="231343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Diversifier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2819" y="271576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Chaque modèle voit des données différentes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5860" y="286207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53020" y="214884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53020" y="2148840"/>
            <a:ext cx="2125065" cy="64008"/>
          </a:xfrm>
          <a:prstGeom prst="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17612" y="231343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Agréger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7612" y="271576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Moyenne ou vote majoritaire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0654" y="286207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87814" y="214884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487814" y="2148840"/>
            <a:ext cx="2125065" cy="6400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52406" y="231343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Résultat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2406" y="271576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Variance réduite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754880"/>
            <a:ext cx="10241280" cy="5943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900" b="1">
                <a:solidFill>
                  <a:srgbClr val="0A2D4E"/>
                </a:solidFill>
                <a:latin typeface="Aptos"/>
              </a:rPr>
              <a:t>Idée clé : des modèles imparfaits mais peu corrélés peuvent produire un ensemble plus stable.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Random Forest — bagging + aléa sur les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Décorréler davantage les arbres pour réduire la variance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2918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291840" cy="640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993392"/>
            <a:ext cx="296265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0A2D4E"/>
                </a:solidFill>
                <a:latin typeface="Aptos"/>
              </a:rPr>
              <a:t>1 • Bootstrap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395728"/>
            <a:ext cx="2962656" cy="2578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1C2630"/>
                </a:solidFill>
                <a:latin typeface="Aptos"/>
              </a:rPr>
              <a:t>Chaque arbre apprend sur un échantillon bootstrap.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2918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3291840" cy="64008"/>
          </a:xfrm>
          <a:prstGeom prst="rect">
            <a:avLst/>
          </a:prstGeom>
          <a:solidFill>
            <a:srgbClr val="2B8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1" y="1993392"/>
            <a:ext cx="296265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0A2D4E"/>
                </a:solidFill>
                <a:latin typeface="Aptos"/>
              </a:rPr>
              <a:t>2 • Sous-ensemble de 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542032"/>
            <a:ext cx="2962656" cy="2578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1C2630"/>
                </a:solidFill>
                <a:latin typeface="Aptos"/>
              </a:rPr>
              <a:t>À chaque split, seule une partie des features est candidate.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2918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291840" cy="64008"/>
          </a:xfrm>
          <a:prstGeom prst="rect">
            <a:avLst/>
          </a:prstGeom>
          <a:solidFill>
            <a:srgbClr val="EF7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94192" y="1993392"/>
            <a:ext cx="296265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0A2D4E"/>
                </a:solidFill>
                <a:latin typeface="Aptos"/>
              </a:rPr>
              <a:t>3 • Agrégation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395728"/>
            <a:ext cx="2962656" cy="2578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1C2630"/>
                </a:solidFill>
                <a:latin typeface="Aptos"/>
              </a:rPr>
              <a:t>Classification : vote.</a:t>
            </a:r>
            <a:br/>
            <a:r>
              <a:rPr sz="1500" b="0">
                <a:solidFill>
                  <a:srgbClr val="1C2630"/>
                </a:solidFill>
                <a:latin typeface="Aptos"/>
              </a:rPr>
              <a:t>Régression : moyenne.</a:t>
            </a:r>
            <a:br/>
            <a:br/>
            <a:r>
              <a:rPr sz="1500" b="0">
                <a:solidFill>
                  <a:srgbClr val="1C2630"/>
                </a:solidFill>
                <a:latin typeface="Aptos"/>
              </a:rPr>
              <a:t>Bonus : importance des variables.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Boosting — transformer des weak learners en modèle fort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Chaque étape corrige ce que l’ensemble actuel explique 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pic>
        <p:nvPicPr>
          <p:cNvPr id="6" name="Picture 5" descr="_crop_lecture13-boosting_p51_im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28800"/>
            <a:ext cx="5029200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26480" y="1828800"/>
            <a:ext cx="53035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26480" y="1828800"/>
            <a:ext cx="5303520" cy="64008"/>
          </a:xfrm>
          <a:prstGeom prst="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1993392"/>
            <a:ext cx="497433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800" b="1">
                <a:solidFill>
                  <a:srgbClr val="0A2D4E"/>
                </a:solidFill>
                <a:latin typeface="Aptos"/>
              </a:rPr>
              <a:t>Lecture du schéma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2395728"/>
            <a:ext cx="4974336" cy="23957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1C2630"/>
                </a:solidFill>
                <a:latin typeface="Aptos"/>
              </a:rPr>
              <a:t>Le modèle est additif : Fₘ(x)=Fₘ₋₁(x)+η·hₘ(x).</a:t>
            </a:r>
            <a:br/>
            <a:br/>
            <a:r>
              <a:rPr sz="1600" b="0">
                <a:solidFill>
                  <a:srgbClr val="1C2630"/>
                </a:solidFill>
                <a:latin typeface="Aptos"/>
              </a:rPr>
              <a:t>Le nouveau weak learner hₘ ne repart pas de zéro : il cible l’information encore mal modélisée.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30368"/>
            <a:ext cx="10241280" cy="4572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700" b="1">
                <a:solidFill>
                  <a:srgbClr val="0A2D4E"/>
                </a:solidFill>
                <a:latin typeface="Aptos"/>
              </a:rPr>
              <a:t>Weak learner : modèle volontairement simple, légèrement meilleur que le hasard.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AdaBoost — réapprendre sur les observations difficiles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La distribution des poids évolue après chaque erreur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2125065" cy="640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3055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Initialiser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3288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Poids égaux pour tous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6273" y="2679191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3433" y="196596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83433" y="1965960"/>
            <a:ext cx="2125065" cy="64008"/>
          </a:xfrm>
          <a:prstGeom prst="rect">
            <a:avLst/>
          </a:prstGeom>
          <a:solidFill>
            <a:srgbClr val="2B8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8025" y="213055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Apprendre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8025" y="253288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Petit arbre / stump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1067" y="2679191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18227" y="196596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18227" y="1965960"/>
            <a:ext cx="2125065" cy="64008"/>
          </a:xfrm>
          <a:prstGeom prst="rect">
            <a:avLst/>
          </a:prstGeom>
          <a:solidFill>
            <a:srgbClr val="EF7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82819" y="213055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Mesurer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2819" y="253288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Erreur pondérée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5860" y="2679191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53020" y="196596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53020" y="1965960"/>
            <a:ext cx="2125065" cy="64008"/>
          </a:xfrm>
          <a:prstGeom prst="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17612" y="213055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Repondérer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7612" y="253288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Plus de poids aux erreurs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0654" y="2679191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87814" y="196596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487814" y="1965960"/>
            <a:ext cx="2125065" cy="6400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52406" y="213055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Combiner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2406" y="253288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Vote pondéré des learners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434840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0A2D4E"/>
                </a:solidFill>
                <a:latin typeface="Aptos"/>
              </a:rPr>
              <a:t>Conséquence : les observations mal classées attirent progressivement l’attention de l’algorithme.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5074920"/>
            <a:ext cx="8503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828800" y="5074920"/>
            <a:ext cx="8503920" cy="64008"/>
          </a:xfrm>
          <a:prstGeom prst="rect">
            <a:avLst/>
          </a:prstGeom>
          <a:solidFill>
            <a:srgbClr val="C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93392" y="5239512"/>
            <a:ext cx="817473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0A2D4E"/>
                </a:solidFill>
                <a:latin typeface="Aptos"/>
              </a:rPr>
              <a:t>Point de vigilance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93392" y="5641848"/>
            <a:ext cx="8174736" cy="6400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Des labels faux ou des outliers peuvent recevoir beaucoup de poids : AdaBoost peut alors poursuivre du bruit.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Gradient Boosting — apprendre les erreurs résiduelles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Une descente de gradient dans l’espace des fonctions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pic>
        <p:nvPicPr>
          <p:cNvPr id="6" name="Picture 5" descr="_crop_lecture13-boosting_p87_im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5212080" cy="3154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72200" y="1783080"/>
            <a:ext cx="53035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1783080"/>
            <a:ext cx="5303520" cy="6400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36792" y="1947672"/>
            <a:ext cx="497433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0A2D4E"/>
                </a:solidFill>
                <a:latin typeface="Aptos"/>
              </a:rPr>
              <a:t>Mécanisme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2350008"/>
            <a:ext cx="4974336" cy="25328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1C2630"/>
                </a:solidFill>
                <a:latin typeface="Aptos"/>
              </a:rPr>
              <a:t>1. Prédiction courante Fₘ₋₁(x)</a:t>
            </a:r>
            <a:br/>
            <a:r>
              <a:rPr sz="1500" b="0">
                <a:solidFill>
                  <a:srgbClr val="1C2630"/>
                </a:solidFill>
                <a:latin typeface="Aptos"/>
              </a:rPr>
              <a:t>2. Calcul du signal d’erreur (pseudo-résidu)</a:t>
            </a:r>
            <a:br/>
            <a:r>
              <a:rPr sz="1500" b="0">
                <a:solidFill>
                  <a:srgbClr val="1C2630"/>
                </a:solidFill>
                <a:latin typeface="Aptos"/>
              </a:rPr>
              <a:t>3. Un petit arbre apprend ce signal</a:t>
            </a:r>
            <a:br/>
            <a:r>
              <a:rPr sz="1500" b="0">
                <a:solidFill>
                  <a:srgbClr val="1C2630"/>
                </a:solidFill>
                <a:latin typeface="Aptos"/>
              </a:rPr>
              <a:t>4. Mise à jour : Fₘ = Fₘ₋₁ + ηhₘ</a:t>
            </a:r>
            <a:br/>
            <a:r>
              <a:rPr sz="1500" b="0">
                <a:solidFill>
                  <a:srgbClr val="1C2630"/>
                </a:solidFill>
                <a:latin typeface="Aptos"/>
              </a:rPr>
              <a:t>5. Répéter jusqu’au critère d’arrêt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257800"/>
            <a:ext cx="100584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700" b="1">
                <a:solidFill>
                  <a:srgbClr val="0A2D4E"/>
                </a:solidFill>
                <a:latin typeface="Aptos"/>
              </a:rPr>
              <a:t>Le learning rate η contrôle la contribution de chaque nouvel arbre.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Régulariser le Gradient Boosting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La performance vient du compromis entre capacité et contrôle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6517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2651760" cy="640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993392"/>
            <a:ext cx="232257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0A2D4E"/>
                </a:solidFill>
                <a:latin typeface="Aptos"/>
              </a:rPr>
              <a:t>n_estimators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95728"/>
            <a:ext cx="2322576" cy="2670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1C2630"/>
                </a:solidFill>
                <a:latin typeface="Aptos"/>
              </a:rPr>
              <a:t>Nombre d’arbres. Trop faible → biais ; trop élevé → risque d’overfit et coût.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828800"/>
            <a:ext cx="26517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828800"/>
            <a:ext cx="2651760" cy="64008"/>
          </a:xfrm>
          <a:prstGeom prst="rect">
            <a:avLst/>
          </a:prstGeom>
          <a:solidFill>
            <a:srgbClr val="2B8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3592" y="1993392"/>
            <a:ext cx="232257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0A2D4E"/>
                </a:solidFill>
                <a:latin typeface="Aptos"/>
              </a:rPr>
              <a:t>learning_rate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395728"/>
            <a:ext cx="2322576" cy="2670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1C2630"/>
                </a:solidFill>
                <a:latin typeface="Aptos"/>
              </a:rPr>
              <a:t>Pas d’apprentissage. Plus petit → apprentissage plus progressif, souvent plus robuste.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26517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2651760" cy="64008"/>
          </a:xfrm>
          <a:prstGeom prst="rect">
            <a:avLst/>
          </a:prstGeom>
          <a:solidFill>
            <a:srgbClr val="EF7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1" y="1993392"/>
            <a:ext cx="232257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0A2D4E"/>
                </a:solidFill>
                <a:latin typeface="Aptos"/>
              </a:rPr>
              <a:t>tree depth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395728"/>
            <a:ext cx="2322576" cy="2670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1C2630"/>
                </a:solidFill>
                <a:latin typeface="Aptos"/>
              </a:rPr>
              <a:t>Profondeur / feuilles : contrôle les interactions capturées par chaque weak learner.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828800"/>
            <a:ext cx="2468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280" y="1828800"/>
            <a:ext cx="2468880" cy="64008"/>
          </a:xfrm>
          <a:prstGeom prst="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62872" y="1993392"/>
            <a:ext cx="213969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0A2D4E"/>
                </a:solidFill>
                <a:latin typeface="Aptos"/>
              </a:rPr>
              <a:t>early stopping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2395728"/>
            <a:ext cx="2139696" cy="2670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1C2630"/>
                </a:solidFill>
                <a:latin typeface="Aptos"/>
              </a:rPr>
              <a:t>Arrêter lorsque la validation n’améliore plus la perte.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XGBoost — Gradient Boosting industrialisé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Même logique additive, avec régularisation et optimisations de calcul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4290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3429000" cy="640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993392"/>
            <a:ext cx="30998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0A2D4E"/>
                </a:solidFill>
                <a:latin typeface="Aptos"/>
              </a:rPr>
              <a:t>Régularisation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95728"/>
            <a:ext cx="3099816" cy="2487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1C2630"/>
                </a:solidFill>
                <a:latin typeface="Aptos"/>
              </a:rPr>
              <a:t>Pénalités sur la complexité des arbres ; shrinkage ; sous-échantillonnage.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290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828800"/>
            <a:ext cx="3429000" cy="64008"/>
          </a:xfrm>
          <a:prstGeom prst="rect">
            <a:avLst/>
          </a:prstGeom>
          <a:solidFill>
            <a:srgbClr val="2B8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5424" y="1993392"/>
            <a:ext cx="30998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0A2D4E"/>
                </a:solidFill>
                <a:latin typeface="Aptos"/>
              </a:rPr>
              <a:t>Optimisation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395728"/>
            <a:ext cx="3099816" cy="2487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1C2630"/>
                </a:solidFill>
                <a:latin typeface="Aptos"/>
              </a:rPr>
              <a:t>Calculs efficaces, gestion structurée des splits et parallélisation de certaines opérations.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828800"/>
            <a:ext cx="34290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47304" y="1828800"/>
            <a:ext cx="3429000" cy="64008"/>
          </a:xfrm>
          <a:prstGeom prst="rect">
            <a:avLst/>
          </a:prstGeom>
          <a:solidFill>
            <a:srgbClr val="EF7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1896" y="1993392"/>
            <a:ext cx="30998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0A2D4E"/>
                </a:solidFill>
                <a:latin typeface="Aptos"/>
              </a:rPr>
              <a:t>Usage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395728"/>
            <a:ext cx="3099816" cy="2487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1C2630"/>
                </a:solidFill>
                <a:latin typeface="Aptos"/>
              </a:rPr>
              <a:t>Très performant sur données tabulaires ; exige validation et tuning rigoureux.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0A2D4E"/>
                </a:solidFill>
                <a:latin typeface="Aptos"/>
              </a:rPr>
              <a:t>Ne pas confondre “algorithme puissant” et “modèle automatiquement meilleur”.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Choisir une méthode d’ensemble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La méthode doit répondre au diagnostic, au coût et au besoin d’explicabilité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37360"/>
          <a:ext cx="108813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Méthode</a:t>
                      </a:r>
                    </a:p>
                  </a:txBody>
                  <a:tcPr>
                    <a:solidFill>
                      <a:srgbClr val="0A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Atout principal</a:t>
                      </a:r>
                    </a:p>
                  </a:txBody>
                  <a:tcPr>
                    <a:solidFill>
                      <a:srgbClr val="0A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Quand la préférer</a:t>
                      </a:r>
                    </a:p>
                  </a:txBody>
                  <a:tcPr>
                    <a:solidFill>
                      <a:srgbClr val="0A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Vigilance</a:t>
                      </a:r>
                    </a:p>
                  </a:txBody>
                  <a:tcPr>
                    <a:solidFill>
                      <a:srgbClr val="0A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630"/>
                          </a:solidFill>
                          <a:latin typeface="Aptos"/>
                        </a:rPr>
                        <a:t>Bagging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630"/>
                          </a:solidFill>
                          <a:latin typeface="Aptos"/>
                        </a:rPr>
                        <a:t>Stabilité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630"/>
                          </a:solidFill>
                          <a:latin typeface="Aptos"/>
                        </a:rPr>
                        <a:t>Modèle à forte 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630"/>
                          </a:solidFill>
                          <a:latin typeface="Aptos"/>
                        </a:rPr>
                        <a:t>Coût mémoire/CPU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630"/>
                          </a:solidFill>
                          <a:latin typeface="Aptos"/>
                        </a:rPr>
                        <a:t>Random Forest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630"/>
                          </a:solidFill>
                          <a:latin typeface="Aptos"/>
                        </a:rPr>
                        <a:t>Robuste, peu de tuning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630"/>
                          </a:solidFill>
                          <a:latin typeface="Aptos"/>
                        </a:rPr>
                        <a:t>Baseline tabulaire solide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630"/>
                          </a:solidFill>
                          <a:latin typeface="Aptos"/>
                        </a:rPr>
                        <a:t>Moins interprétable qu’un arbre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630"/>
                          </a:solidFill>
                          <a:latin typeface="Aptos"/>
                        </a:rPr>
                        <a:t>AdaBoost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630"/>
                          </a:solidFill>
                          <a:latin typeface="Aptos"/>
                        </a:rPr>
                        <a:t>Focalisation sur erreurs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630"/>
                          </a:solidFill>
                          <a:latin typeface="Aptos"/>
                        </a:rPr>
                        <a:t>Classification propre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630"/>
                          </a:solidFill>
                          <a:latin typeface="Aptos"/>
                        </a:rPr>
                        <a:t>Outliers / labels bruités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630"/>
                          </a:solidFill>
                          <a:latin typeface="Aptos"/>
                        </a:rPr>
                        <a:t>Gradient Boosting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630"/>
                          </a:solidFill>
                          <a:latin typeface="Aptos"/>
                        </a:rPr>
                        <a:t>Optimisation flexible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630"/>
                          </a:solidFill>
                          <a:latin typeface="Aptos"/>
                        </a:rPr>
                        <a:t>Performance tabulaire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630"/>
                          </a:solidFill>
                          <a:latin typeface="Aptos"/>
                        </a:rPr>
                        <a:t>Tuning + temps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630"/>
                          </a:solidFill>
                          <a:latin typeface="Aptos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630"/>
                          </a:solidFill>
                          <a:latin typeface="Aptos"/>
                        </a:rPr>
                        <a:t>Performance + régularisation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630"/>
                          </a:solidFill>
                          <a:latin typeface="Aptos"/>
                        </a:rPr>
                        <a:t>Données tabulaires complexes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630"/>
                          </a:solidFill>
                          <a:latin typeface="Aptos"/>
                        </a:rPr>
                        <a:t>Hyperparamètres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Validation croisée — estimer la généralisation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Un seul split peut être chanceux ou défavorable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2125065" cy="640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26771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Fold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7004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1 bloc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6273" y="281635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3433" y="210312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83433" y="2103120"/>
            <a:ext cx="2125065" cy="64008"/>
          </a:xfrm>
          <a:prstGeom prst="rect">
            <a:avLst/>
          </a:prstGeom>
          <a:solidFill>
            <a:srgbClr val="2B8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8025" y="226771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Fold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8025" y="267004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Rotation du bloc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1067" y="281635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18227" y="210312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18227" y="2103120"/>
            <a:ext cx="2125065" cy="64008"/>
          </a:xfrm>
          <a:prstGeom prst="rect">
            <a:avLst/>
          </a:prstGeom>
          <a:solidFill>
            <a:srgbClr val="EF7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82819" y="226771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Fold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2819" y="267004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Rotation du bloc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5860" y="281635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53020" y="210312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53020" y="2103120"/>
            <a:ext cx="2125065" cy="64008"/>
          </a:xfrm>
          <a:prstGeom prst="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17612" y="226771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Fold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7612" y="267004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Rotation du bloc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0654" y="281635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87814" y="210312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487814" y="2103120"/>
            <a:ext cx="2125065" cy="6400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52406" y="226771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Synthèse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2406" y="267004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Moyenne ± dispersion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709160"/>
            <a:ext cx="10698480" cy="5943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0A2D4E"/>
                </a:solidFill>
                <a:latin typeface="Aptos"/>
              </a:rPr>
              <a:t>Le preprocessing appris doit être refait à l’intérieur de chaque fold — d’où l’intérêt d’un Pipeline.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GridSearchCV — tuner sans contaminer le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Les hyperparamètres se choisissent sur TRAIN/CV ; TEST reste scellé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2125065" cy="640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3055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3288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Prétraitement + modèle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6273" y="2679191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3433" y="196596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83433" y="1965960"/>
            <a:ext cx="2125065" cy="64008"/>
          </a:xfrm>
          <a:prstGeom prst="rect">
            <a:avLst/>
          </a:prstGeom>
          <a:solidFill>
            <a:srgbClr val="2B8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8025" y="213055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Grille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8025" y="253288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Définir valeurs candidates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1067" y="2679191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18227" y="196596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18227" y="1965960"/>
            <a:ext cx="2125065" cy="64008"/>
          </a:xfrm>
          <a:prstGeom prst="rect">
            <a:avLst/>
          </a:prstGeom>
          <a:solidFill>
            <a:srgbClr val="EF7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82819" y="213055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CV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2819" y="253288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Évaluer chaque combinaison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5860" y="2679191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53020" y="196596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53020" y="1965960"/>
            <a:ext cx="2125065" cy="64008"/>
          </a:xfrm>
          <a:prstGeom prst="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17612" y="213055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Sélection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7612" y="253288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Choisir selon métrique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0654" y="2679191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87814" y="196596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487814" y="1965960"/>
            <a:ext cx="2125065" cy="6400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52406" y="213055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2406" y="253288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Évaluer une seule fois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7320" y="4800600"/>
            <a:ext cx="9326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417320" y="4800600"/>
            <a:ext cx="9326880" cy="64008"/>
          </a:xfrm>
          <a:prstGeom prst="rect">
            <a:avLst/>
          </a:prstGeom>
          <a:solidFill>
            <a:srgbClr val="C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81912" y="4965192"/>
            <a:ext cx="899769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0A2D4E"/>
                </a:solidFill>
                <a:latin typeface="Aptos"/>
              </a:rPr>
              <a:t>Règle d’or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81912" y="5367528"/>
            <a:ext cx="8997696" cy="182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Le TEST n’est ni un outil de tuning ni un tableau de bord. Il sert à l’estimation finale.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Après le tuning : ne pas regarder seulement le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Un modèle de production se choisit sur plusieurs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4290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3429000" cy="640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993392"/>
            <a:ext cx="30998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0A2D4E"/>
                </a:solidFill>
                <a:latin typeface="Aptos"/>
              </a:rP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95728"/>
            <a:ext cx="3099816" cy="2487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1C2630"/>
                </a:solidFill>
                <a:latin typeface="Aptos"/>
              </a:rPr>
              <a:t>Métrique principale + dispersion CV + performance test finale.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290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828800"/>
            <a:ext cx="3429000" cy="64008"/>
          </a:xfrm>
          <a:prstGeom prst="rect">
            <a:avLst/>
          </a:prstGeom>
          <a:solidFill>
            <a:srgbClr val="EF7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5424" y="1993392"/>
            <a:ext cx="30998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0A2D4E"/>
                </a:solidFill>
                <a:latin typeface="Aptos"/>
              </a:rPr>
              <a:t>Stabilité &amp; coût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395728"/>
            <a:ext cx="3099816" cy="2487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1C2630"/>
                </a:solidFill>
                <a:latin typeface="Aptos"/>
              </a:rPr>
              <a:t>Temps d’entraînement, latence, mémoire, robustesse aux variations.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828800"/>
            <a:ext cx="34290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47304" y="1828800"/>
            <a:ext cx="3429000" cy="64008"/>
          </a:xfrm>
          <a:prstGeom prst="rect">
            <a:avLst/>
          </a:prstGeom>
          <a:solidFill>
            <a:srgbClr val="2B8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1896" y="1993392"/>
            <a:ext cx="30998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0A2D4E"/>
                </a:solidFill>
                <a:latin typeface="Aptos"/>
              </a:rPr>
              <a:t>Usage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395728"/>
            <a:ext cx="3099816" cy="2487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1C2630"/>
                </a:solidFill>
                <a:latin typeface="Aptos"/>
              </a:rPr>
              <a:t>Explicabilité, maintenance, monitoring, contraintes métier.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Deuxième partie — apprentissage non supervisé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On retire la cible y : le modèle doit découvrir la structure de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2918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291840" cy="640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993392"/>
            <a:ext cx="296265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0A2D4E"/>
                </a:solidFill>
                <a:latin typeface="Aptos"/>
              </a:rPr>
              <a:t>Clusters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395728"/>
            <a:ext cx="2962656" cy="2487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1C2630"/>
                </a:solidFill>
                <a:latin typeface="Aptos"/>
              </a:rPr>
              <a:t>Identifier des groupes cachés d’observations similaires.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828800"/>
            <a:ext cx="32918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53128" y="1828800"/>
            <a:ext cx="3291840" cy="64008"/>
          </a:xfrm>
          <a:prstGeom prst="rect">
            <a:avLst/>
          </a:prstGeom>
          <a:solidFill>
            <a:srgbClr val="EF7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93392"/>
            <a:ext cx="296265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0A2D4E"/>
                </a:solidFill>
                <a:latin typeface="Aptos"/>
              </a:rPr>
              <a:t>Anomalies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95728"/>
            <a:ext cx="2962656" cy="2487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1C2630"/>
                </a:solidFill>
                <a:latin typeface="Aptos"/>
              </a:rPr>
              <a:t>Repérer les observations atypiques ou rares.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57031" y="1828800"/>
            <a:ext cx="32918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57031" y="1828800"/>
            <a:ext cx="3291840" cy="64008"/>
          </a:xfrm>
          <a:prstGeom prst="rect">
            <a:avLst/>
          </a:prstGeom>
          <a:solidFill>
            <a:srgbClr val="2B8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21624" y="1993392"/>
            <a:ext cx="296265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0A2D4E"/>
                </a:solidFill>
                <a:latin typeface="Aptos"/>
              </a:rPr>
              <a:t>Représentation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2395728"/>
            <a:ext cx="2962656" cy="2487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1C2630"/>
                </a:solidFill>
                <a:latin typeface="Aptos"/>
              </a:rPr>
              <a:t>Réduire la dimension pour résumer ou visualiser la structure.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10241280" cy="4572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0A2D4E"/>
                </a:solidFill>
                <a:latin typeface="Aptos"/>
              </a:rPr>
              <a:t>Sans labels, “bon” ne signifie plus automatiquement “bonne accuracy”.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Workflow professionnel en non supervisé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La partie la plus difficile n’est souvent pas l’algorithme, mais la représentation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752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752600" cy="640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267712"/>
            <a:ext cx="14234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Cadrer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70048"/>
            <a:ext cx="1423416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Quelle décision métier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3808" y="281635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10968" y="2103120"/>
            <a:ext cx="1752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10968" y="2103120"/>
            <a:ext cx="1752600" cy="64008"/>
          </a:xfrm>
          <a:prstGeom prst="rect">
            <a:avLst/>
          </a:prstGeom>
          <a:solidFill>
            <a:srgbClr val="2B8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75560" y="2267712"/>
            <a:ext cx="14234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Construire 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5560" y="2670048"/>
            <a:ext cx="1423416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Features utiles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6136" y="281635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3296" y="2103120"/>
            <a:ext cx="1752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73296" y="2103120"/>
            <a:ext cx="1752600" cy="64008"/>
          </a:xfrm>
          <a:prstGeom prst="rect">
            <a:avLst/>
          </a:prstGeom>
          <a:solidFill>
            <a:srgbClr val="EF7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7887" y="2267712"/>
            <a:ext cx="14234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Scaler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7887" y="2670048"/>
            <a:ext cx="1423416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Rendre distances cohérentes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281635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35623" y="2103120"/>
            <a:ext cx="1752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35623" y="2103120"/>
            <a:ext cx="1752600" cy="64008"/>
          </a:xfrm>
          <a:prstGeom prst="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0215" y="2267712"/>
            <a:ext cx="14234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Explorer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5" y="2670048"/>
            <a:ext cx="1423416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K-means / CAH / DBSCAN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0791" y="281635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7951" y="2103120"/>
            <a:ext cx="1752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97951" y="2103120"/>
            <a:ext cx="1752600" cy="6400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62543" y="2267712"/>
            <a:ext cx="14234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Valider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2543" y="2670048"/>
            <a:ext cx="1423416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Indices + stabilité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3120" y="281635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60280" y="2103120"/>
            <a:ext cx="1752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60280" y="2103120"/>
            <a:ext cx="1752600" cy="64008"/>
          </a:xfrm>
          <a:prstGeom prst="rect">
            <a:avLst/>
          </a:prstGeom>
          <a:solidFill>
            <a:srgbClr val="C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24872" y="2267712"/>
            <a:ext cx="14234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Interpréter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4872" y="2670048"/>
            <a:ext cx="1423416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Profiler les groupes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Distance et scaling — le point mathématique clé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Les algorithmes de distance héritent directement de l’échelle des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966960" cy="7315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2600" b="1">
                <a:solidFill>
                  <a:srgbClr val="0A2D4E"/>
                </a:solidFill>
                <a:latin typeface="Aptos"/>
              </a:rPr>
              <a:t>d(xᵢ,xⱼ) = √ Σₖ (xᵢₖ − xⱼₖ)²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3383280" cy="64008"/>
          </a:xfrm>
          <a:prstGeom prst="rect">
            <a:avLst/>
          </a:prstGeom>
          <a:solidFill>
            <a:srgbClr val="C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999232"/>
            <a:ext cx="305409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0A2D4E"/>
                </a:solidFill>
                <a:latin typeface="Aptos"/>
              </a:rPr>
              <a:t>Problème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401568"/>
            <a:ext cx="3054096" cy="14813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1C2630"/>
                </a:solidFill>
                <a:latin typeface="Aptos"/>
              </a:rPr>
              <a:t>Une variable en milliers peut dominer une variable comprise entre 0 et 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83464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2834640"/>
            <a:ext cx="3383280" cy="64008"/>
          </a:xfrm>
          <a:prstGeom prst="rect">
            <a:avLst/>
          </a:prstGeom>
          <a:solidFill>
            <a:srgbClr val="2B8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999232"/>
            <a:ext cx="305409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0A2D4E"/>
                </a:solidFill>
                <a:latin typeface="Aptos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01568"/>
            <a:ext cx="3054096" cy="14813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1C2630"/>
                </a:solidFill>
                <a:latin typeface="Aptos"/>
              </a:rPr>
              <a:t>StandardScaler ou autre transformation adaptée, apprise sur les données pertinentes.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83464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3296" y="2834640"/>
            <a:ext cx="3383280" cy="640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999232"/>
            <a:ext cx="305409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0A2D4E"/>
                </a:solidFill>
                <a:latin typeface="Aptos"/>
              </a:rP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401568"/>
            <a:ext cx="3054096" cy="14813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1C2630"/>
                </a:solidFill>
                <a:latin typeface="Aptos"/>
              </a:rPr>
              <a:t>K-means, CAH, DBSCAN, PCA et kNN sont particulièrement sensibles à l’échelle.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K-means — objectif et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Minimiser la dispersion intra-cluster autour de K centroïdes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pic>
        <p:nvPicPr>
          <p:cNvPr id="7" name="Picture 6" descr="_crop_lecture18-clustering_p7_im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600200"/>
            <a:ext cx="5074920" cy="3520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8288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3151"/>
                </a:solidFill>
              </a:defRPr>
            </a:pPr>
            <a:r>
              <a:t>Le centroïde μₖ = moyenne des points du cluster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395728"/>
            <a:ext cx="40233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5B6978"/>
                </a:solidFill>
              </a:defRPr>
            </a:pPr>
            <a:r>
              <a:t>1. Choisir K centroïdes initiaux</a:t>
            </a:r>
            <a:br/>
            <a:r>
              <a:t>2. Affecter chaque point au plus proche</a:t>
            </a:r>
            <a:br/>
            <a:r>
              <a:t>3. Recalculer chaque centroïde</a:t>
            </a:r>
            <a:br/>
            <a:r>
              <a:t>4. Réaffecter les points</a:t>
            </a:r>
            <a:br/>
            <a:r>
              <a:t>5. Arrêter quand les centroïdes ne bougent presque plus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09160"/>
            <a:ext cx="4023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6FE0"/>
                </a:solidFill>
              </a:defRPr>
            </a:pPr>
            <a:r>
              <a:t>Objectif : réduire la somme des distances² point → centroïde.</a:t>
            </a:r>
          </a:p>
        </p:txBody>
      </p:sp>
      <p:pic>
        <p:nvPicPr>
          <p:cNvPr id="16" name="Picture 15" descr="kmeans_centroi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755648"/>
            <a:ext cx="65379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Choisir K : coude, silhouette et métier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Aucun indice ne remplace l’interprétation de la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20</a:t>
            </a:r>
          </a:p>
        </p:txBody>
      </p:sp>
      <p:pic>
        <p:nvPicPr>
          <p:cNvPr id="19" name="Picture 18" descr="elb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28800"/>
            <a:ext cx="5029200" cy="3063240"/>
          </a:xfrm>
          <a:prstGeom prst="rect">
            <a:avLst/>
          </a:prstGeom>
        </p:spPr>
      </p:pic>
      <p:pic>
        <p:nvPicPr>
          <p:cNvPr id="20" name="Picture 19" descr="silhouet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828800"/>
            <a:ext cx="5029200" cy="30632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716768" y="1965960"/>
            <a:ext cx="960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3151"/>
                </a:solidFill>
              </a:defRPr>
            </a:pPr>
            <a:r>
              <a:t>MÉTIER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6768" y="2468880"/>
            <a:ext cx="9601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5B6978"/>
                </a:solidFill>
              </a:defRPr>
            </a:pPr>
            <a:r>
              <a:t>Le meilleur K statistique n’est utile que si les groupes sont stables, distincts et actionnables.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74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3151"/>
                </a:solidFill>
              </a:defRPr>
            </a:pPr>
            <a:r>
              <a:t>Lecture : l’inertie baisse toujours quand K augmente. Le “coude” repère le moment où ajouter un cluster apporte beaucoup moins de gain.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CAH — construire une hiérarchie de regroupements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Le dendrogramme montre les fusions successives et aide à choisir une coupe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874519"/>
            <a:ext cx="3749039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5B6978"/>
                </a:solidFill>
              </a:defRPr>
            </a:pPr>
            <a:r>
              <a:t>1 point = 1 cluster</a:t>
            </a:r>
            <a:br/>
            <a:r>
              <a:t>↓</a:t>
            </a:r>
            <a:br/>
            <a:r>
              <a:t>Fusionner les groupes les plus proches</a:t>
            </a:r>
            <a:br/>
            <a:r>
              <a:t>↓</a:t>
            </a:r>
            <a:br/>
            <a:r>
              <a:t>Répéter</a:t>
            </a:r>
            <a:br/>
            <a:r>
              <a:t>↓</a:t>
            </a:r>
            <a:br/>
            <a:r>
              <a:t>Couper le dendrogramme au niveau utile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434840"/>
            <a:ext cx="374903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3151"/>
                </a:solidFill>
              </a:defRPr>
            </a:pPr>
            <a:r>
              <a:t>La hauteur d’une fusion indique la dissimilarité au moment de la fusion.</a:t>
            </a:r>
          </a:p>
        </p:txBody>
      </p:sp>
      <p:pic>
        <p:nvPicPr>
          <p:cNvPr id="34" name="Picture 33" descr="cah_dendr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828800"/>
            <a:ext cx="67665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DBSCAN — densité, voisinage et bruit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Pas besoin de fixer K ; les points isolés peuvent rester “noise”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874519"/>
            <a:ext cx="3749039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5B6978"/>
                </a:solidFill>
              </a:defRPr>
            </a:pPr>
            <a:r>
              <a:t>ε : rayon du voisinage</a:t>
            </a:r>
            <a:br/>
            <a:r>
              <a:t>min_samples : densité minimale</a:t>
            </a:r>
            <a:br/>
            <a:br/>
            <a:r>
              <a:t>Core point : zone dense</a:t>
            </a:r>
            <a:br/>
            <a:r>
              <a:t>Border point : voisin d’une zone dense</a:t>
            </a:r>
            <a:br/>
            <a:r>
              <a:t>Noise : point non rattaché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17720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3151"/>
                </a:solidFill>
              </a:defRPr>
            </a:pPr>
            <a:r>
              <a:t>Contrairement à K-means, DBSCAN n’impose pas des clusters sphériques.</a:t>
            </a:r>
          </a:p>
        </p:txBody>
      </p:sp>
      <p:pic>
        <p:nvPicPr>
          <p:cNvPr id="21" name="Picture 20" descr="db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828800"/>
            <a:ext cx="67665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Comparer K-means, CAH et 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Le bon algorithme dépend de la géométrie et de l’objectif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23</a:t>
            </a:r>
          </a:p>
        </p:txBody>
      </p:sp>
      <p:pic>
        <p:nvPicPr>
          <p:cNvPr id="8" name="Picture 7" descr="kmeans_compare_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19"/>
            <a:ext cx="5577840" cy="2240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1874519"/>
            <a:ext cx="512064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5B6978"/>
                </a:solidFill>
              </a:defRPr>
            </a:pPr>
            <a:r>
              <a:t>K-means</a:t>
            </a:r>
            <a:br/>
            <a:r>
              <a:t>• rapide, K imposé, groupes compacts</a:t>
            </a:r>
            <a:br/>
            <a:br/>
            <a:r>
              <a:t>CAH</a:t>
            </a:r>
            <a:br/>
            <a:r>
              <a:t>• hiérarchie, choix par coupe, plus coûteuse</a:t>
            </a:r>
            <a:br/>
            <a:br/>
            <a:r>
              <a:t>DBSCAN</a:t>
            </a:r>
            <a:br/>
            <a:r>
              <a:t>• densité, bruit explicite, formes arbitraires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3151"/>
                </a:solidFill>
              </a:defRPr>
            </a:pPr>
            <a:r>
              <a:t>Le bon algorithme dépend de la géométrie : un score seul ne suffit pas. Visualiser les données aide à comprendre ce que chaque hypothèse impose.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Évaluer un clustering sans 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On combine critères internes, stabilité et utilité métier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828800"/>
            <a:ext cx="3429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5B6978"/>
                </a:solidFill>
              </a:defRPr>
            </a:pPr>
            <a:r>
              <a:t>1. Géométrie</a:t>
            </a:r>
            <a:br/>
            <a:r>
              <a:t>Silhouette, inertie, Davies–Bouldin</a:t>
            </a:r>
            <a:br/>
            <a:br/>
            <a:r>
              <a:t>2. Stabilité</a:t>
            </a:r>
            <a:br/>
            <a:r>
              <a:t>Seeds, sous-échantillons</a:t>
            </a:r>
            <a:br/>
            <a:br/>
            <a:r>
              <a:t>3. Métier</a:t>
            </a:r>
            <a:br/>
            <a:r>
              <a:t>Les groupes ont-ils un sens ?</a:t>
            </a:r>
          </a:p>
        </p:txBody>
      </p:sp>
      <p:pic>
        <p:nvPicPr>
          <p:cNvPr id="20" name="Picture 19" descr="silhou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828800"/>
            <a:ext cx="6629400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" y="507492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3151"/>
                </a:solidFill>
              </a:defRPr>
            </a:pPr>
            <a:r>
              <a:t>Un clustering “bon” = cohérent géométriquement + stable + interprétable.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Du cluster au segment métier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Un numéro de cluster n’a aucune valeur tant qu’il n’est pas interprété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2125065" cy="640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22199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Profiler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2432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Médianes, distributions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6273" y="277063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3433" y="205740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83433" y="2057400"/>
            <a:ext cx="2125065" cy="64008"/>
          </a:xfrm>
          <a:prstGeom prst="rect">
            <a:avLst/>
          </a:prstGeom>
          <a:solidFill>
            <a:srgbClr val="2B8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8025" y="222199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Nommer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8025" y="262432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Décrire le comportement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1067" y="277063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18227" y="205740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18227" y="2057400"/>
            <a:ext cx="2125065" cy="64008"/>
          </a:xfrm>
          <a:prstGeom prst="rect">
            <a:avLst/>
          </a:prstGeom>
          <a:solidFill>
            <a:srgbClr val="EF7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82819" y="222199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Comparer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2819" y="262432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Différences clés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5860" y="277063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53020" y="205740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53020" y="2057400"/>
            <a:ext cx="2125065" cy="64008"/>
          </a:xfrm>
          <a:prstGeom prst="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17612" y="222199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Valider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7612" y="262432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Taille et stabilité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0654" y="277063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87814" y="2057400"/>
            <a:ext cx="2125065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487814" y="2057400"/>
            <a:ext cx="2125065" cy="6400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52406" y="2221992"/>
            <a:ext cx="179588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Agir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2406" y="2624328"/>
            <a:ext cx="1795881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Décision /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754880"/>
            <a:ext cx="10515600" cy="5943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700" b="1">
                <a:solidFill>
                  <a:srgbClr val="0A2D4E"/>
                </a:solidFill>
                <a:latin typeface="Aptos"/>
              </a:rPr>
              <a:t>Exemple retail : “forte récence + fréquence élevée + panier élevé” devient un segment VIP — pas simplement “cluster 2”.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PCA — réduire la dimension en conservant la variance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Projection linéaire sur des axes orthogonaux ordonnés par variance expliquée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828800"/>
            <a:ext cx="38404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5B6978"/>
                </a:solidFill>
              </a:defRPr>
            </a:pPr>
            <a:r>
              <a:t>PC1 : direction de variance maximale</a:t>
            </a:r>
            <a:br/>
            <a:r>
              <a:t>PC2 : meilleure direction restante, orthogonale à PC1</a:t>
            </a:r>
            <a:br/>
            <a:br/>
            <a:r>
              <a:t>Chaque composante est une combinaison des variables initiales.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26280"/>
            <a:ext cx="3840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3151"/>
                </a:solidFill>
              </a:defRPr>
            </a:pPr>
            <a:r>
              <a:t>On choisit le nombre de composantes avec la variance expliquée cumulée + le besoin métier.</a:t>
            </a:r>
          </a:p>
        </p:txBody>
      </p:sp>
      <p:pic>
        <p:nvPicPr>
          <p:cNvPr id="22" name="Picture 21" descr="pca_ax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828800"/>
            <a:ext cx="67208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t-SNE — visualiser les voisinages locaux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Excellent pour l’exploration 2D/3D ; mauvais outil pour mesurer des distances globales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365760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5B6978"/>
                </a:solidFill>
              </a:defRPr>
            </a:pPr>
            <a:r>
              <a:t>À lire :</a:t>
            </a:r>
            <a:br/>
            <a:r>
              <a:t>• voisinages locaux</a:t>
            </a:r>
            <a:br/>
            <a:r>
              <a:t>• îlots visuels</a:t>
            </a:r>
            <a:br/>
            <a:br/>
            <a:r>
              <a:t>À ne pas conclure :</a:t>
            </a:r>
            <a:br/>
            <a:r>
              <a:t>• distance globale exacte</a:t>
            </a:r>
            <a:br/>
            <a:r>
              <a:t>• taille réelle des clusters</a:t>
            </a:r>
            <a:br/>
            <a:r>
              <a:t>• nombre “vrai” de clusters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754880"/>
            <a:ext cx="365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3151"/>
                </a:solidFill>
              </a:defRPr>
            </a:pPr>
            <a:r>
              <a:t>t-SNE = outil d’exploration, pas preuve statistique.</a:t>
            </a:r>
          </a:p>
        </p:txBody>
      </p:sp>
      <p:pic>
        <p:nvPicPr>
          <p:cNvPr id="14" name="Picture 13" descr="ts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828800"/>
            <a:ext cx="6903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Détection d’anomalies — choisir selon la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Une anomalie est une observation rare relativement au comportement attendu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65760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5B6978"/>
                </a:solidFill>
              </a:defRPr>
            </a:pPr>
            <a:r>
              <a:t>Isolation Forest : points faciles à isoler</a:t>
            </a:r>
            <a:br/>
            <a:r>
              <a:t>LOF : densité locale atypique</a:t>
            </a:r>
            <a:br/>
            <a:r>
              <a:t>DBSCAN : points hors zones denses</a:t>
            </a:r>
            <a:br/>
            <a:r>
              <a:t>Règles métier : seuils experts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3657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3151"/>
                </a:solidFill>
              </a:defRPr>
            </a:pPr>
            <a:r>
              <a:t>Rare ≠ erreur. Une anomalie est un candidat à investiguer.</a:t>
            </a:r>
          </a:p>
        </p:txBody>
      </p:sp>
      <p:pic>
        <p:nvPicPr>
          <p:cNvPr id="10" name="Picture 9" descr="anomal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828800"/>
            <a:ext cx="6903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TP de synthèse — de la donnée au segment exploitable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Un workflow reproductible, justifié et défendable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752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1752600" cy="640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30552"/>
            <a:ext cx="14234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A.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32888"/>
            <a:ext cx="1423416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Construire table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3808" y="2679191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10968" y="1965960"/>
            <a:ext cx="1752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10968" y="1965960"/>
            <a:ext cx="1752600" cy="64008"/>
          </a:xfrm>
          <a:prstGeom prst="rect">
            <a:avLst/>
          </a:prstGeom>
          <a:solidFill>
            <a:srgbClr val="2B8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75560" y="2130552"/>
            <a:ext cx="14234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B. Préparer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5560" y="2532888"/>
            <a:ext cx="1423416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Nettoyer + scaler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6136" y="2679191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3296" y="1965960"/>
            <a:ext cx="1752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73296" y="1965960"/>
            <a:ext cx="1752600" cy="64008"/>
          </a:xfrm>
          <a:prstGeom prst="rect">
            <a:avLst/>
          </a:prstGeom>
          <a:solidFill>
            <a:srgbClr val="EF7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7887" y="2130552"/>
            <a:ext cx="14234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C. 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7887" y="2532888"/>
            <a:ext cx="1423416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Comparer ≥ 2 méthodes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2679191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35623" y="1965960"/>
            <a:ext cx="1752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35623" y="1965960"/>
            <a:ext cx="1752600" cy="64008"/>
          </a:xfrm>
          <a:prstGeom prst="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0215" y="2130552"/>
            <a:ext cx="14234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D. Réduction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5" y="2532888"/>
            <a:ext cx="1423416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PCA / t-SNE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0791" y="2679191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7951" y="1965960"/>
            <a:ext cx="1752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97951" y="1965960"/>
            <a:ext cx="1752600" cy="6400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62543" y="2130552"/>
            <a:ext cx="14234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E. Anomalies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2543" y="2532888"/>
            <a:ext cx="1423416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Analyser cas atypiques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3120" y="2679191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60280" y="1965960"/>
            <a:ext cx="1752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60280" y="1965960"/>
            <a:ext cx="1752600" cy="64008"/>
          </a:xfrm>
          <a:prstGeom prst="rect">
            <a:avLst/>
          </a:prstGeom>
          <a:solidFill>
            <a:srgbClr val="C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24872" y="2130552"/>
            <a:ext cx="14234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F. Restituer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4872" y="2532888"/>
            <a:ext cx="1423416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Segments + limites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709160"/>
            <a:ext cx="10698480" cy="5943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0A2D4E"/>
                </a:solidFill>
                <a:latin typeface="Aptos"/>
              </a:rPr>
              <a:t>Livrable attendu : code reproductible + justification des choix + interprétation des groupes + limites.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ptos"/>
              </a:rPr>
              <a:t>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0A2D4E"/>
                </a:solidFill>
                <a:latin typeface="Aptos"/>
              </a:rPr>
              <a:t>Ce que vous devez savoir faire à la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4707D"/>
                </a:solidFill>
                <a:latin typeface="Aptos"/>
              </a:rPr>
              <a:t>Relier le problème, l’algorithme, la validation et l’interprétation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00" b="0">
                <a:solidFill>
                  <a:srgbClr val="969EA8"/>
                </a:solidFill>
                <a:latin typeface="Aptos"/>
              </a:rPr>
              <a:t>ESI 4A • Intelligence Artificielle • Méthodes d’ensemble &amp; non supervisé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752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752600" cy="640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084832"/>
            <a:ext cx="14234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Diagnostiquer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87168"/>
            <a:ext cx="1423416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Biais vs variance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3808" y="263347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10968" y="1920240"/>
            <a:ext cx="1752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10968" y="1920240"/>
            <a:ext cx="1752600" cy="64008"/>
          </a:xfrm>
          <a:prstGeom prst="rect">
            <a:avLst/>
          </a:prstGeom>
          <a:solidFill>
            <a:srgbClr val="2B8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75560" y="2084832"/>
            <a:ext cx="14234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Combiner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5560" y="2487168"/>
            <a:ext cx="1423416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Bagging / boosting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6136" y="263347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3296" y="1920240"/>
            <a:ext cx="1752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73296" y="1920240"/>
            <a:ext cx="1752600" cy="64008"/>
          </a:xfrm>
          <a:prstGeom prst="rect">
            <a:avLst/>
          </a:prstGeom>
          <a:solidFill>
            <a:srgbClr val="EF7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7887" y="2084832"/>
            <a:ext cx="14234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Valider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7887" y="2487168"/>
            <a:ext cx="1423416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CV + tuning propre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263347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35623" y="1920240"/>
            <a:ext cx="1752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35623" y="1920240"/>
            <a:ext cx="1752600" cy="64008"/>
          </a:xfrm>
          <a:prstGeom prst="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0215" y="2084832"/>
            <a:ext cx="14234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Segmenter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5" y="2487168"/>
            <a:ext cx="1423416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K-means / CAH / DBSCAN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0791" y="263347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7951" y="1920240"/>
            <a:ext cx="1752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97951" y="1920240"/>
            <a:ext cx="1752600" cy="6400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62543" y="2084832"/>
            <a:ext cx="14234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Réduire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2543" y="2487168"/>
            <a:ext cx="1423416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PCA / t-SNE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3120" y="2633472"/>
            <a:ext cx="1828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60280" y="1920240"/>
            <a:ext cx="1752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60280" y="1920240"/>
            <a:ext cx="1752600" cy="64008"/>
          </a:xfrm>
          <a:prstGeom prst="rect">
            <a:avLst/>
          </a:prstGeom>
          <a:solidFill>
            <a:srgbClr val="C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24872" y="2084832"/>
            <a:ext cx="1423416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0A2D4E"/>
                </a:solidFill>
                <a:latin typeface="Aptos"/>
              </a:rPr>
              <a:t>Détecter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4872" y="2487168"/>
            <a:ext cx="1423416" cy="11612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0">
                <a:solidFill>
                  <a:srgbClr val="1C2630"/>
                </a:solidFill>
                <a:latin typeface="Aptos"/>
              </a:rPr>
              <a:t>Anomalies + sens métier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846320"/>
            <a:ext cx="10241280" cy="5486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2000" b="1">
                <a:solidFill>
                  <a:srgbClr val="0A2D4E"/>
                </a:solidFill>
                <a:latin typeface="Aptos"/>
              </a:rPr>
              <a:t>Suite : réseaux de neurones, Deep Learning et CNN.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700" b="0">
                <a:solidFill>
                  <a:srgbClr val="A0A8B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5030</Words>
  <Application>Microsoft Office PowerPoint</Application>
  <PresentationFormat>Grand écran</PresentationFormat>
  <Paragraphs>644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4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Samson AMOUSSOU</cp:lastModifiedBy>
  <cp:revision>1</cp:revision>
  <dcterms:created xsi:type="dcterms:W3CDTF">2013-01-27T09:14:16Z</dcterms:created>
  <dcterms:modified xsi:type="dcterms:W3CDTF">2026-09-15T18:17:25Z</dcterms:modified>
  <cp:category/>
</cp:coreProperties>
</file>