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2"/>
    <p:sldId id="257" r:id="rId3"/>
    <p:sldId id="258" r:id="rId4"/>
    <p:sldId id="259" r:id="rId5"/>
    <p:sldId id="260" r:id="rId6"/>
    <p:sldId id="353" r:id="rId7"/>
    <p:sldId id="346" r:id="rId8"/>
    <p:sldId id="347" r:id="rId9"/>
    <p:sldId id="264" r:id="rId10"/>
    <p:sldId id="265" r:id="rId11"/>
    <p:sldId id="266" r:id="rId12"/>
    <p:sldId id="267" r:id="rId13"/>
    <p:sldId id="268" r:id="rId14"/>
    <p:sldId id="269" r:id="rId15"/>
    <p:sldId id="333" r:id="rId16"/>
    <p:sldId id="334" r:id="rId17"/>
    <p:sldId id="349" r:id="rId18"/>
    <p:sldId id="354" r:id="rId19"/>
    <p:sldId id="355" r:id="rId20"/>
    <p:sldId id="356" r:id="rId21"/>
    <p:sldId id="357" r:id="rId22"/>
    <p:sldId id="358" r:id="rId23"/>
    <p:sldId id="261" r:id="rId24"/>
    <p:sldId id="262" r:id="rId25"/>
    <p:sldId id="263"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350" r:id="rId39"/>
    <p:sldId id="351" r:id="rId40"/>
    <p:sldId id="290" r:id="rId41"/>
    <p:sldId id="359" r:id="rId42"/>
    <p:sldId id="360" r:id="rId43"/>
    <p:sldId id="361" r:id="rId44"/>
    <p:sldId id="291" r:id="rId45"/>
    <p:sldId id="292" r:id="rId46"/>
    <p:sldId id="352" r:id="rId47"/>
    <p:sldId id="294" r:id="rId48"/>
    <p:sldId id="295" r:id="rId49"/>
    <p:sldId id="296" r:id="rId50"/>
    <p:sldId id="297" r:id="rId51"/>
    <p:sldId id="298" r:id="rId52"/>
    <p:sldId id="336" r:id="rId53"/>
    <p:sldId id="337" r:id="rId54"/>
    <p:sldId id="338" r:id="rId55"/>
    <p:sldId id="339" r:id="rId56"/>
    <p:sldId id="340" r:id="rId57"/>
    <p:sldId id="341" r:id="rId58"/>
    <p:sldId id="342" r:id="rId59"/>
    <p:sldId id="343" r:id="rId60"/>
    <p:sldId id="344" r:id="rId61"/>
    <p:sldId id="345"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770330-2841-405C-84C9-730CC7EC2BD2}" v="10" dt="2026-09-14T22:34:26.1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020" autoAdjust="0"/>
  </p:normalViewPr>
  <p:slideViewPr>
    <p:cSldViewPr snapToGrid="0" snapToObjects="1">
      <p:cViewPr varScale="1">
        <p:scale>
          <a:sx n="73" d="100"/>
          <a:sy n="73" d="100"/>
        </p:scale>
        <p:origin x="104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son AMOUSSOU" userId="e3a853be89db41b5" providerId="LiveId" clId="{B8BC9159-DD46-46C1-847E-34313044516F}"/>
    <pc:docChg chg="undo custSel addSld delSld modSld">
      <pc:chgData name="Samson AMOUSSOU" userId="e3a853be89db41b5" providerId="LiveId" clId="{B8BC9159-DD46-46C1-847E-34313044516F}" dt="2026-09-14T22:34:26.143" v="100"/>
      <pc:docMkLst>
        <pc:docMk/>
      </pc:docMkLst>
      <pc:sldChg chg="delSp mod">
        <pc:chgData name="Samson AMOUSSOU" userId="e3a853be89db41b5" providerId="LiveId" clId="{B8BC9159-DD46-46C1-847E-34313044516F}" dt="2026-09-08T22:16:06.962" v="53" actId="478"/>
        <pc:sldMkLst>
          <pc:docMk/>
          <pc:sldMk cId="0" sldId="256"/>
        </pc:sldMkLst>
      </pc:sldChg>
      <pc:sldChg chg="delSp modSp mod">
        <pc:chgData name="Samson AMOUSSOU" userId="e3a853be89db41b5" providerId="LiveId" clId="{B8BC9159-DD46-46C1-847E-34313044516F}" dt="2026-09-11T21:11:13.509" v="57" actId="1076"/>
        <pc:sldMkLst>
          <pc:docMk/>
          <pc:sldMk cId="0" sldId="257"/>
        </pc:sldMkLst>
        <pc:spChg chg="mod">
          <ac:chgData name="Samson AMOUSSOU" userId="e3a853be89db41b5" providerId="LiveId" clId="{B8BC9159-DD46-46C1-847E-34313044516F}" dt="2026-09-11T21:11:13.509" v="57" actId="1076"/>
          <ac:spMkLst>
            <pc:docMk/>
            <pc:sldMk cId="0" sldId="257"/>
            <ac:spMk id="4" creationId="{00000000-0000-0000-0000-000000000000}"/>
          </ac:spMkLst>
        </pc:spChg>
        <pc:spChg chg="mod">
          <ac:chgData name="Samson AMOUSSOU" userId="e3a853be89db41b5" providerId="LiveId" clId="{B8BC9159-DD46-46C1-847E-34313044516F}" dt="2026-09-11T21:11:09.536" v="56" actId="403"/>
          <ac:spMkLst>
            <pc:docMk/>
            <pc:sldMk cId="0" sldId="257"/>
            <ac:spMk id="7" creationId="{00000000-0000-0000-0000-000000000000}"/>
          </ac:spMkLst>
        </pc:spChg>
        <pc:spChg chg="mod">
          <ac:chgData name="Samson AMOUSSOU" userId="e3a853be89db41b5" providerId="LiveId" clId="{B8BC9159-DD46-46C1-847E-34313044516F}" dt="2026-09-11T21:11:09.536" v="56" actId="403"/>
          <ac:spMkLst>
            <pc:docMk/>
            <pc:sldMk cId="0" sldId="257"/>
            <ac:spMk id="8" creationId="{00000000-0000-0000-0000-000000000000}"/>
          </ac:spMkLst>
        </pc:spChg>
        <pc:spChg chg="mod">
          <ac:chgData name="Samson AMOUSSOU" userId="e3a853be89db41b5" providerId="LiveId" clId="{B8BC9159-DD46-46C1-847E-34313044516F}" dt="2026-09-11T21:11:09.536" v="56" actId="403"/>
          <ac:spMkLst>
            <pc:docMk/>
            <pc:sldMk cId="0" sldId="257"/>
            <ac:spMk id="9" creationId="{00000000-0000-0000-0000-000000000000}"/>
          </ac:spMkLst>
        </pc:spChg>
        <pc:spChg chg="mod">
          <ac:chgData name="Samson AMOUSSOU" userId="e3a853be89db41b5" providerId="LiveId" clId="{B8BC9159-DD46-46C1-847E-34313044516F}" dt="2026-09-11T21:11:09.536" v="56" actId="403"/>
          <ac:spMkLst>
            <pc:docMk/>
            <pc:sldMk cId="0" sldId="257"/>
            <ac:spMk id="12" creationId="{00000000-0000-0000-0000-000000000000}"/>
          </ac:spMkLst>
        </pc:spChg>
        <pc:spChg chg="mod">
          <ac:chgData name="Samson AMOUSSOU" userId="e3a853be89db41b5" providerId="LiveId" clId="{B8BC9159-DD46-46C1-847E-34313044516F}" dt="2026-09-11T21:11:09.536" v="56" actId="403"/>
          <ac:spMkLst>
            <pc:docMk/>
            <pc:sldMk cId="0" sldId="257"/>
            <ac:spMk id="13" creationId="{00000000-0000-0000-0000-000000000000}"/>
          </ac:spMkLst>
        </pc:spChg>
        <pc:spChg chg="mod">
          <ac:chgData name="Samson AMOUSSOU" userId="e3a853be89db41b5" providerId="LiveId" clId="{B8BC9159-DD46-46C1-847E-34313044516F}" dt="2026-09-11T21:11:09.536" v="56" actId="403"/>
          <ac:spMkLst>
            <pc:docMk/>
            <pc:sldMk cId="0" sldId="257"/>
            <ac:spMk id="16" creationId="{00000000-0000-0000-0000-000000000000}"/>
          </ac:spMkLst>
        </pc:spChg>
        <pc:spChg chg="mod">
          <ac:chgData name="Samson AMOUSSOU" userId="e3a853be89db41b5" providerId="LiveId" clId="{B8BC9159-DD46-46C1-847E-34313044516F}" dt="2026-09-11T21:11:09.536" v="56" actId="403"/>
          <ac:spMkLst>
            <pc:docMk/>
            <pc:sldMk cId="0" sldId="257"/>
            <ac:spMk id="19" creationId="{00000000-0000-0000-0000-000000000000}"/>
          </ac:spMkLst>
        </pc:spChg>
        <pc:spChg chg="mod">
          <ac:chgData name="Samson AMOUSSOU" userId="e3a853be89db41b5" providerId="LiveId" clId="{B8BC9159-DD46-46C1-847E-34313044516F}" dt="2026-09-11T21:11:09.536" v="56" actId="403"/>
          <ac:spMkLst>
            <pc:docMk/>
            <pc:sldMk cId="0" sldId="257"/>
            <ac:spMk id="21" creationId="{00000000-0000-0000-0000-000000000000}"/>
          </ac:spMkLst>
        </pc:spChg>
        <pc:spChg chg="mod">
          <ac:chgData name="Samson AMOUSSOU" userId="e3a853be89db41b5" providerId="LiveId" clId="{B8BC9159-DD46-46C1-847E-34313044516F}" dt="2026-09-11T21:11:09.536" v="56" actId="403"/>
          <ac:spMkLst>
            <pc:docMk/>
            <pc:sldMk cId="0" sldId="257"/>
            <ac:spMk id="22" creationId="{00000000-0000-0000-0000-000000000000}"/>
          </ac:spMkLst>
        </pc:spChg>
      </pc:sldChg>
      <pc:sldChg chg="delSp mod">
        <pc:chgData name="Samson AMOUSSOU" userId="e3a853be89db41b5" providerId="LiveId" clId="{B8BC9159-DD46-46C1-847E-34313044516F}" dt="2026-09-08T22:15:58.079" v="51" actId="478"/>
        <pc:sldMkLst>
          <pc:docMk/>
          <pc:sldMk cId="0" sldId="258"/>
        </pc:sldMkLst>
      </pc:sldChg>
      <pc:sldChg chg="delSp modSp mod">
        <pc:chgData name="Samson AMOUSSOU" userId="e3a853be89db41b5" providerId="LiveId" clId="{B8BC9159-DD46-46C1-847E-34313044516F}" dt="2026-09-08T22:15:49.706" v="49" actId="478"/>
        <pc:sldMkLst>
          <pc:docMk/>
          <pc:sldMk cId="0" sldId="259"/>
        </pc:sldMkLst>
      </pc:sldChg>
      <pc:sldChg chg="delSp modSp mod">
        <pc:chgData name="Samson AMOUSSOU" userId="e3a853be89db41b5" providerId="LiveId" clId="{B8BC9159-DD46-46C1-847E-34313044516F}" dt="2026-09-11T21:14:47.771" v="58" actId="1036"/>
        <pc:sldMkLst>
          <pc:docMk/>
          <pc:sldMk cId="0" sldId="260"/>
        </pc:sldMkLst>
        <pc:picChg chg="mod">
          <ac:chgData name="Samson AMOUSSOU" userId="e3a853be89db41b5" providerId="LiveId" clId="{B8BC9159-DD46-46C1-847E-34313044516F}" dt="2026-09-11T21:14:47.771" v="58" actId="1036"/>
          <ac:picMkLst>
            <pc:docMk/>
            <pc:sldMk cId="0" sldId="260"/>
            <ac:picMk id="2" creationId="{00000000-0000-0000-0000-000000000000}"/>
          </ac:picMkLst>
        </pc:picChg>
      </pc:sldChg>
      <pc:sldChg chg="delSp modSp add del mod">
        <pc:chgData name="Samson AMOUSSOU" userId="e3a853be89db41b5" providerId="LiveId" clId="{B8BC9159-DD46-46C1-847E-34313044516F}" dt="2026-09-14T22:28:15.569" v="95"/>
        <pc:sldMkLst>
          <pc:docMk/>
          <pc:sldMk cId="0" sldId="261"/>
        </pc:sldMkLst>
        <pc:picChg chg="mod">
          <ac:chgData name="Samson AMOUSSOU" userId="e3a853be89db41b5" providerId="LiveId" clId="{B8BC9159-DD46-46C1-847E-34313044516F}" dt="2026-09-14T22:17:10.659" v="76" actId="14100"/>
          <ac:picMkLst>
            <pc:docMk/>
            <pc:sldMk cId="0" sldId="261"/>
            <ac:picMk id="2" creationId="{00000000-0000-0000-0000-000000000000}"/>
          </ac:picMkLst>
        </pc:picChg>
      </pc:sldChg>
      <pc:sldChg chg="delSp modSp add del mod">
        <pc:chgData name="Samson AMOUSSOU" userId="e3a853be89db41b5" providerId="LiveId" clId="{B8BC9159-DD46-46C1-847E-34313044516F}" dt="2026-09-14T22:28:15.569" v="95"/>
        <pc:sldMkLst>
          <pc:docMk/>
          <pc:sldMk cId="0" sldId="262"/>
        </pc:sldMkLst>
      </pc:sldChg>
      <pc:sldChg chg="delSp add del mod">
        <pc:chgData name="Samson AMOUSSOU" userId="e3a853be89db41b5" providerId="LiveId" clId="{B8BC9159-DD46-46C1-847E-34313044516F}" dt="2026-09-14T22:28:15.569" v="95"/>
        <pc:sldMkLst>
          <pc:docMk/>
          <pc:sldMk cId="0" sldId="263"/>
        </pc:sldMkLst>
      </pc:sldChg>
      <pc:sldChg chg="delSp modSp mod">
        <pc:chgData name="Samson AMOUSSOU" userId="e3a853be89db41b5" providerId="LiveId" clId="{B8BC9159-DD46-46C1-847E-34313044516F}" dt="2026-09-14T21:05:06.146" v="60" actId="1035"/>
        <pc:sldMkLst>
          <pc:docMk/>
          <pc:sldMk cId="0" sldId="264"/>
        </pc:sldMkLst>
        <pc:spChg chg="mod">
          <ac:chgData name="Samson AMOUSSOU" userId="e3a853be89db41b5" providerId="LiveId" clId="{B8BC9159-DD46-46C1-847E-34313044516F}" dt="2026-09-14T21:05:06.146" v="60" actId="1035"/>
          <ac:spMkLst>
            <pc:docMk/>
            <pc:sldMk cId="0" sldId="264"/>
            <ac:spMk id="23" creationId="{00000000-0000-0000-0000-000000000000}"/>
          </ac:spMkLst>
        </pc:spChg>
      </pc:sldChg>
      <pc:sldChg chg="delSp mod">
        <pc:chgData name="Samson AMOUSSOU" userId="e3a853be89db41b5" providerId="LiveId" clId="{B8BC9159-DD46-46C1-847E-34313044516F}" dt="2026-09-08T22:15:19.100" v="42" actId="478"/>
        <pc:sldMkLst>
          <pc:docMk/>
          <pc:sldMk cId="0" sldId="265"/>
        </pc:sldMkLst>
      </pc:sldChg>
      <pc:sldChg chg="delSp mod">
        <pc:chgData name="Samson AMOUSSOU" userId="e3a853be89db41b5" providerId="LiveId" clId="{B8BC9159-DD46-46C1-847E-34313044516F}" dt="2026-09-08T22:15:14.884" v="41" actId="478"/>
        <pc:sldMkLst>
          <pc:docMk/>
          <pc:sldMk cId="0" sldId="266"/>
        </pc:sldMkLst>
      </pc:sldChg>
      <pc:sldChg chg="delSp mod">
        <pc:chgData name="Samson AMOUSSOU" userId="e3a853be89db41b5" providerId="LiveId" clId="{B8BC9159-DD46-46C1-847E-34313044516F}" dt="2026-09-08T22:15:12.303" v="40" actId="478"/>
        <pc:sldMkLst>
          <pc:docMk/>
          <pc:sldMk cId="0" sldId="267"/>
        </pc:sldMkLst>
      </pc:sldChg>
      <pc:sldChg chg="delSp mod">
        <pc:chgData name="Samson AMOUSSOU" userId="e3a853be89db41b5" providerId="LiveId" clId="{B8BC9159-DD46-46C1-847E-34313044516F}" dt="2026-09-08T22:15:07.617" v="39" actId="478"/>
        <pc:sldMkLst>
          <pc:docMk/>
          <pc:sldMk cId="0" sldId="268"/>
        </pc:sldMkLst>
      </pc:sldChg>
      <pc:sldChg chg="delSp mod">
        <pc:chgData name="Samson AMOUSSOU" userId="e3a853be89db41b5" providerId="LiveId" clId="{B8BC9159-DD46-46C1-847E-34313044516F}" dt="2026-09-08T22:15:04.389" v="38" actId="478"/>
        <pc:sldMkLst>
          <pc:docMk/>
          <pc:sldMk cId="0" sldId="269"/>
        </pc:sldMkLst>
      </pc:sldChg>
      <pc:sldChg chg="delSp modSp del mod">
        <pc:chgData name="Samson AMOUSSOU" userId="e3a853be89db41b5" providerId="LiveId" clId="{B8BC9159-DD46-46C1-847E-34313044516F}" dt="2026-09-14T22:28:08.074" v="94" actId="47"/>
        <pc:sldMkLst>
          <pc:docMk/>
          <pc:sldMk cId="0" sldId="271"/>
        </pc:sldMkLst>
      </pc:sldChg>
      <pc:sldChg chg="delSp del mod">
        <pc:chgData name="Samson AMOUSSOU" userId="e3a853be89db41b5" providerId="LiveId" clId="{B8BC9159-DD46-46C1-847E-34313044516F}" dt="2026-09-14T21:49:53.012" v="68" actId="47"/>
        <pc:sldMkLst>
          <pc:docMk/>
          <pc:sldMk cId="0" sldId="272"/>
        </pc:sldMkLst>
      </pc:sldChg>
      <pc:sldChg chg="delSp mod">
        <pc:chgData name="Samson AMOUSSOU" userId="e3a853be89db41b5" providerId="LiveId" clId="{B8BC9159-DD46-46C1-847E-34313044516F}" dt="2026-09-08T22:14:20.983" v="30" actId="478"/>
        <pc:sldMkLst>
          <pc:docMk/>
          <pc:sldMk cId="0" sldId="273"/>
        </pc:sldMkLst>
      </pc:sldChg>
      <pc:sldChg chg="delSp mod">
        <pc:chgData name="Samson AMOUSSOU" userId="e3a853be89db41b5" providerId="LiveId" clId="{B8BC9159-DD46-46C1-847E-34313044516F}" dt="2026-09-08T22:14:17.020" v="29" actId="478"/>
        <pc:sldMkLst>
          <pc:docMk/>
          <pc:sldMk cId="0" sldId="274"/>
        </pc:sldMkLst>
      </pc:sldChg>
      <pc:sldChg chg="delSp mod">
        <pc:chgData name="Samson AMOUSSOU" userId="e3a853be89db41b5" providerId="LiveId" clId="{B8BC9159-DD46-46C1-847E-34313044516F}" dt="2026-09-08T22:14:06.675" v="28" actId="478"/>
        <pc:sldMkLst>
          <pc:docMk/>
          <pc:sldMk cId="0" sldId="275"/>
        </pc:sldMkLst>
      </pc:sldChg>
      <pc:sldChg chg="delSp mod">
        <pc:chgData name="Samson AMOUSSOU" userId="e3a853be89db41b5" providerId="LiveId" clId="{B8BC9159-DD46-46C1-847E-34313044516F}" dt="2026-09-08T22:14:02.710" v="27" actId="478"/>
        <pc:sldMkLst>
          <pc:docMk/>
          <pc:sldMk cId="0" sldId="276"/>
        </pc:sldMkLst>
      </pc:sldChg>
      <pc:sldChg chg="delSp mod">
        <pc:chgData name="Samson AMOUSSOU" userId="e3a853be89db41b5" providerId="LiveId" clId="{B8BC9159-DD46-46C1-847E-34313044516F}" dt="2026-09-08T22:13:57.807" v="26" actId="478"/>
        <pc:sldMkLst>
          <pc:docMk/>
          <pc:sldMk cId="0" sldId="277"/>
        </pc:sldMkLst>
      </pc:sldChg>
      <pc:sldChg chg="delSp mod">
        <pc:chgData name="Samson AMOUSSOU" userId="e3a853be89db41b5" providerId="LiveId" clId="{B8BC9159-DD46-46C1-847E-34313044516F}" dt="2026-09-08T22:13:54.089" v="25" actId="478"/>
        <pc:sldMkLst>
          <pc:docMk/>
          <pc:sldMk cId="0" sldId="278"/>
        </pc:sldMkLst>
      </pc:sldChg>
      <pc:sldChg chg="delSp mod">
        <pc:chgData name="Samson AMOUSSOU" userId="e3a853be89db41b5" providerId="LiveId" clId="{B8BC9159-DD46-46C1-847E-34313044516F}" dt="2026-09-08T22:13:49.769" v="24" actId="478"/>
        <pc:sldMkLst>
          <pc:docMk/>
          <pc:sldMk cId="0" sldId="279"/>
        </pc:sldMkLst>
      </pc:sldChg>
      <pc:sldChg chg="delSp mod">
        <pc:chgData name="Samson AMOUSSOU" userId="e3a853be89db41b5" providerId="LiveId" clId="{B8BC9159-DD46-46C1-847E-34313044516F}" dt="2026-09-08T22:13:43.613" v="23" actId="478"/>
        <pc:sldMkLst>
          <pc:docMk/>
          <pc:sldMk cId="0" sldId="280"/>
        </pc:sldMkLst>
      </pc:sldChg>
      <pc:sldChg chg="delSp mod">
        <pc:chgData name="Samson AMOUSSOU" userId="e3a853be89db41b5" providerId="LiveId" clId="{B8BC9159-DD46-46C1-847E-34313044516F}" dt="2026-09-08T22:13:39.903" v="22" actId="478"/>
        <pc:sldMkLst>
          <pc:docMk/>
          <pc:sldMk cId="0" sldId="281"/>
        </pc:sldMkLst>
      </pc:sldChg>
      <pc:sldChg chg="delSp mod">
        <pc:chgData name="Samson AMOUSSOU" userId="e3a853be89db41b5" providerId="LiveId" clId="{B8BC9159-DD46-46C1-847E-34313044516F}" dt="2026-09-08T22:13:36.408" v="21" actId="478"/>
        <pc:sldMkLst>
          <pc:docMk/>
          <pc:sldMk cId="0" sldId="282"/>
        </pc:sldMkLst>
      </pc:sldChg>
      <pc:sldChg chg="delSp modSp mod">
        <pc:chgData name="Samson AMOUSSOU" userId="e3a853be89db41b5" providerId="LiveId" clId="{B8BC9159-DD46-46C1-847E-34313044516F}" dt="2026-09-11T17:54:26.369" v="54" actId="1036"/>
        <pc:sldMkLst>
          <pc:docMk/>
          <pc:sldMk cId="0" sldId="283"/>
        </pc:sldMkLst>
        <pc:picChg chg="mod">
          <ac:chgData name="Samson AMOUSSOU" userId="e3a853be89db41b5" providerId="LiveId" clId="{B8BC9159-DD46-46C1-847E-34313044516F}" dt="2026-09-11T17:54:26.369" v="54" actId="1036"/>
          <ac:picMkLst>
            <pc:docMk/>
            <pc:sldMk cId="0" sldId="283"/>
            <ac:picMk id="2" creationId="{00000000-0000-0000-0000-000000000000}"/>
          </ac:picMkLst>
        </pc:picChg>
      </pc:sldChg>
      <pc:sldChg chg="delSp mod">
        <pc:chgData name="Samson AMOUSSOU" userId="e3a853be89db41b5" providerId="LiveId" clId="{B8BC9159-DD46-46C1-847E-34313044516F}" dt="2026-09-08T22:13:25.231" v="19" actId="478"/>
        <pc:sldMkLst>
          <pc:docMk/>
          <pc:sldMk cId="0" sldId="284"/>
        </pc:sldMkLst>
      </pc:sldChg>
      <pc:sldChg chg="delSp del mod">
        <pc:chgData name="Samson AMOUSSOU" userId="e3a853be89db41b5" providerId="LiveId" clId="{B8BC9159-DD46-46C1-847E-34313044516F}" dt="2026-09-14T21:52:06.216" v="70" actId="47"/>
        <pc:sldMkLst>
          <pc:docMk/>
          <pc:sldMk cId="0" sldId="285"/>
        </pc:sldMkLst>
      </pc:sldChg>
      <pc:sldChg chg="delSp del mod">
        <pc:chgData name="Samson AMOUSSOU" userId="e3a853be89db41b5" providerId="LiveId" clId="{B8BC9159-DD46-46C1-847E-34313044516F}" dt="2026-09-14T21:53:47.833" v="72" actId="47"/>
        <pc:sldMkLst>
          <pc:docMk/>
          <pc:sldMk cId="0" sldId="286"/>
        </pc:sldMkLst>
      </pc:sldChg>
      <pc:sldChg chg="delSp add del mod">
        <pc:chgData name="Samson AMOUSSOU" userId="e3a853be89db41b5" providerId="LiveId" clId="{B8BC9159-DD46-46C1-847E-34313044516F}" dt="2026-09-14T22:34:21.622" v="99" actId="47"/>
        <pc:sldMkLst>
          <pc:docMk/>
          <pc:sldMk cId="0" sldId="287"/>
        </pc:sldMkLst>
      </pc:sldChg>
      <pc:sldChg chg="delSp add del mod">
        <pc:chgData name="Samson AMOUSSOU" userId="e3a853be89db41b5" providerId="LiveId" clId="{B8BC9159-DD46-46C1-847E-34313044516F}" dt="2026-09-14T22:34:21.622" v="99" actId="47"/>
        <pc:sldMkLst>
          <pc:docMk/>
          <pc:sldMk cId="0" sldId="288"/>
        </pc:sldMkLst>
      </pc:sldChg>
      <pc:sldChg chg="delSp add del mod">
        <pc:chgData name="Samson AMOUSSOU" userId="e3a853be89db41b5" providerId="LiveId" clId="{B8BC9159-DD46-46C1-847E-34313044516F}" dt="2026-09-14T22:34:21.622" v="99" actId="47"/>
        <pc:sldMkLst>
          <pc:docMk/>
          <pc:sldMk cId="0" sldId="289"/>
        </pc:sldMkLst>
      </pc:sldChg>
      <pc:sldChg chg="delSp mod">
        <pc:chgData name="Samson AMOUSSOU" userId="e3a853be89db41b5" providerId="LiveId" clId="{B8BC9159-DD46-46C1-847E-34313044516F}" dt="2026-09-08T22:12:47.328" v="13" actId="478"/>
        <pc:sldMkLst>
          <pc:docMk/>
          <pc:sldMk cId="0" sldId="290"/>
        </pc:sldMkLst>
      </pc:sldChg>
      <pc:sldChg chg="delSp mod">
        <pc:chgData name="Samson AMOUSSOU" userId="e3a853be89db41b5" providerId="LiveId" clId="{B8BC9159-DD46-46C1-847E-34313044516F}" dt="2026-09-08T22:12:40.892" v="12" actId="478"/>
        <pc:sldMkLst>
          <pc:docMk/>
          <pc:sldMk cId="0" sldId="291"/>
        </pc:sldMkLst>
      </pc:sldChg>
      <pc:sldChg chg="delSp mod">
        <pc:chgData name="Samson AMOUSSOU" userId="e3a853be89db41b5" providerId="LiveId" clId="{B8BC9159-DD46-46C1-847E-34313044516F}" dt="2026-09-08T22:12:33.155" v="11" actId="478"/>
        <pc:sldMkLst>
          <pc:docMk/>
          <pc:sldMk cId="0" sldId="292"/>
        </pc:sldMkLst>
      </pc:sldChg>
      <pc:sldChg chg="delSp modSp del mod">
        <pc:chgData name="Samson AMOUSSOU" userId="e3a853be89db41b5" providerId="LiveId" clId="{B8BC9159-DD46-46C1-847E-34313044516F}" dt="2026-09-14T21:55:32.270" v="74" actId="47"/>
        <pc:sldMkLst>
          <pc:docMk/>
          <pc:sldMk cId="0" sldId="293"/>
        </pc:sldMkLst>
      </pc:sldChg>
      <pc:sldChg chg="delSp mod">
        <pc:chgData name="Samson AMOUSSOU" userId="e3a853be89db41b5" providerId="LiveId" clId="{B8BC9159-DD46-46C1-847E-34313044516F}" dt="2026-09-08T22:12:11.414" v="8" actId="478"/>
        <pc:sldMkLst>
          <pc:docMk/>
          <pc:sldMk cId="0" sldId="294"/>
        </pc:sldMkLst>
      </pc:sldChg>
      <pc:sldChg chg="delSp mod">
        <pc:chgData name="Samson AMOUSSOU" userId="e3a853be89db41b5" providerId="LiveId" clId="{B8BC9159-DD46-46C1-847E-34313044516F}" dt="2026-09-08T22:12:02.014" v="7" actId="478"/>
        <pc:sldMkLst>
          <pc:docMk/>
          <pc:sldMk cId="0" sldId="295"/>
        </pc:sldMkLst>
      </pc:sldChg>
      <pc:sldChg chg="delSp mod">
        <pc:chgData name="Samson AMOUSSOU" userId="e3a853be89db41b5" providerId="LiveId" clId="{B8BC9159-DD46-46C1-847E-34313044516F}" dt="2026-09-08T22:11:56.854" v="6" actId="478"/>
        <pc:sldMkLst>
          <pc:docMk/>
          <pc:sldMk cId="0" sldId="296"/>
        </pc:sldMkLst>
      </pc:sldChg>
      <pc:sldChg chg="delSp mod">
        <pc:chgData name="Samson AMOUSSOU" userId="e3a853be89db41b5" providerId="LiveId" clId="{B8BC9159-DD46-46C1-847E-34313044516F}" dt="2026-09-08T22:11:49.239" v="5" actId="478"/>
        <pc:sldMkLst>
          <pc:docMk/>
          <pc:sldMk cId="0" sldId="297"/>
        </pc:sldMkLst>
      </pc:sldChg>
      <pc:sldChg chg="delSp mod">
        <pc:chgData name="Samson AMOUSSOU" userId="e3a853be89db41b5" providerId="LiveId" clId="{B8BC9159-DD46-46C1-847E-34313044516F}" dt="2026-09-08T22:11:44.578" v="4" actId="478"/>
        <pc:sldMkLst>
          <pc:docMk/>
          <pc:sldMk cId="0" sldId="298"/>
        </pc:sldMkLst>
      </pc:sldChg>
      <pc:sldChg chg="add del">
        <pc:chgData name="Samson AMOUSSOU" userId="e3a853be89db41b5" providerId="LiveId" clId="{B8BC9159-DD46-46C1-847E-34313044516F}" dt="2026-09-14T22:27:33.695" v="93" actId="47"/>
        <pc:sldMkLst>
          <pc:docMk/>
          <pc:sldMk cId="0" sldId="320"/>
        </pc:sldMkLst>
      </pc:sldChg>
      <pc:sldChg chg="add del">
        <pc:chgData name="Samson AMOUSSOU" userId="e3a853be89db41b5" providerId="LiveId" clId="{B8BC9159-DD46-46C1-847E-34313044516F}" dt="2026-09-14T22:27:33.695" v="93" actId="47"/>
        <pc:sldMkLst>
          <pc:docMk/>
          <pc:sldMk cId="0" sldId="321"/>
        </pc:sldMkLst>
      </pc:sldChg>
      <pc:sldChg chg="add del">
        <pc:chgData name="Samson AMOUSSOU" userId="e3a853be89db41b5" providerId="LiveId" clId="{B8BC9159-DD46-46C1-847E-34313044516F}" dt="2026-09-14T22:27:33.695" v="93" actId="47"/>
        <pc:sldMkLst>
          <pc:docMk/>
          <pc:sldMk cId="0" sldId="322"/>
        </pc:sldMkLst>
      </pc:sldChg>
      <pc:sldChg chg="add del">
        <pc:chgData name="Samson AMOUSSOU" userId="e3a853be89db41b5" providerId="LiveId" clId="{B8BC9159-DD46-46C1-847E-34313044516F}" dt="2026-09-14T22:27:33.695" v="93" actId="47"/>
        <pc:sldMkLst>
          <pc:docMk/>
          <pc:sldMk cId="0" sldId="323"/>
        </pc:sldMkLst>
      </pc:sldChg>
      <pc:sldChg chg="add del">
        <pc:chgData name="Samson AMOUSSOU" userId="e3a853be89db41b5" providerId="LiveId" clId="{B8BC9159-DD46-46C1-847E-34313044516F}" dt="2026-09-14T22:27:33.695" v="93" actId="47"/>
        <pc:sldMkLst>
          <pc:docMk/>
          <pc:sldMk cId="0" sldId="324"/>
        </pc:sldMkLst>
      </pc:sldChg>
      <pc:sldChg chg="add del">
        <pc:chgData name="Samson AMOUSSOU" userId="e3a853be89db41b5" providerId="LiveId" clId="{B8BC9159-DD46-46C1-847E-34313044516F}" dt="2026-09-14T22:27:33.695" v="93" actId="47"/>
        <pc:sldMkLst>
          <pc:docMk/>
          <pc:sldMk cId="0" sldId="325"/>
        </pc:sldMkLst>
      </pc:sldChg>
      <pc:sldChg chg="add del">
        <pc:chgData name="Samson AMOUSSOU" userId="e3a853be89db41b5" providerId="LiveId" clId="{B8BC9159-DD46-46C1-847E-34313044516F}" dt="2026-09-14T22:27:33.695" v="93" actId="47"/>
        <pc:sldMkLst>
          <pc:docMk/>
          <pc:sldMk cId="0" sldId="326"/>
        </pc:sldMkLst>
      </pc:sldChg>
      <pc:sldChg chg="add del">
        <pc:chgData name="Samson AMOUSSOU" userId="e3a853be89db41b5" providerId="LiveId" clId="{B8BC9159-DD46-46C1-847E-34313044516F}" dt="2026-09-14T22:27:33.695" v="93" actId="47"/>
        <pc:sldMkLst>
          <pc:docMk/>
          <pc:sldMk cId="0" sldId="328"/>
        </pc:sldMkLst>
      </pc:sldChg>
      <pc:sldChg chg="add del">
        <pc:chgData name="Samson AMOUSSOU" userId="e3a853be89db41b5" providerId="LiveId" clId="{B8BC9159-DD46-46C1-847E-34313044516F}" dt="2026-09-14T22:27:33.695" v="93" actId="47"/>
        <pc:sldMkLst>
          <pc:docMk/>
          <pc:sldMk cId="0" sldId="329"/>
        </pc:sldMkLst>
      </pc:sldChg>
      <pc:sldChg chg="add del">
        <pc:chgData name="Samson AMOUSSOU" userId="e3a853be89db41b5" providerId="LiveId" clId="{B8BC9159-DD46-46C1-847E-34313044516F}" dt="2026-09-14T22:27:33.695" v="93" actId="47"/>
        <pc:sldMkLst>
          <pc:docMk/>
          <pc:sldMk cId="0" sldId="330"/>
        </pc:sldMkLst>
      </pc:sldChg>
      <pc:sldChg chg="add del">
        <pc:chgData name="Samson AMOUSSOU" userId="e3a853be89db41b5" providerId="LiveId" clId="{B8BC9159-DD46-46C1-847E-34313044516F}" dt="2026-09-14T22:27:33.695" v="93" actId="47"/>
        <pc:sldMkLst>
          <pc:docMk/>
          <pc:sldMk cId="0" sldId="331"/>
        </pc:sldMkLst>
      </pc:sldChg>
      <pc:sldChg chg="add del">
        <pc:chgData name="Samson AMOUSSOU" userId="e3a853be89db41b5" providerId="LiveId" clId="{B8BC9159-DD46-46C1-847E-34313044516F}" dt="2026-09-14T22:27:33.695" v="93" actId="47"/>
        <pc:sldMkLst>
          <pc:docMk/>
          <pc:sldMk cId="0" sldId="332"/>
        </pc:sldMkLst>
      </pc:sldChg>
      <pc:sldChg chg="delSp add mod setBg">
        <pc:chgData name="Samson AMOUSSOU" userId="e3a853be89db41b5" providerId="LiveId" clId="{B8BC9159-DD46-46C1-847E-34313044516F}" dt="2026-09-08T22:15:01.363" v="37" actId="478"/>
        <pc:sldMkLst>
          <pc:docMk/>
          <pc:sldMk cId="0" sldId="333"/>
        </pc:sldMkLst>
      </pc:sldChg>
      <pc:sldChg chg="delSp add mod setBg">
        <pc:chgData name="Samson AMOUSSOU" userId="e3a853be89db41b5" providerId="LiveId" clId="{B8BC9159-DD46-46C1-847E-34313044516F}" dt="2026-09-08T22:14:57.540" v="36" actId="478"/>
        <pc:sldMkLst>
          <pc:docMk/>
          <pc:sldMk cId="0" sldId="334"/>
        </pc:sldMkLst>
      </pc:sldChg>
      <pc:sldChg chg="delSp add del mod setBg">
        <pc:chgData name="Samson AMOUSSOU" userId="e3a853be89db41b5" providerId="LiveId" clId="{B8BC9159-DD46-46C1-847E-34313044516F}" dt="2026-09-14T22:30:07.748" v="96" actId="47"/>
        <pc:sldMkLst>
          <pc:docMk/>
          <pc:sldMk cId="0" sldId="335"/>
        </pc:sldMkLst>
      </pc:sldChg>
      <pc:sldChg chg="add">
        <pc:chgData name="Samson AMOUSSOU" userId="e3a853be89db41b5" providerId="LiveId" clId="{B8BC9159-DD46-46C1-847E-34313044516F}" dt="2026-09-14T21:45:43.799" v="61"/>
        <pc:sldMkLst>
          <pc:docMk/>
          <pc:sldMk cId="0" sldId="346"/>
        </pc:sldMkLst>
      </pc:sldChg>
      <pc:sldChg chg="add">
        <pc:chgData name="Samson AMOUSSOU" userId="e3a853be89db41b5" providerId="LiveId" clId="{B8BC9159-DD46-46C1-847E-34313044516F}" dt="2026-09-14T21:47:25.687" v="63"/>
        <pc:sldMkLst>
          <pc:docMk/>
          <pc:sldMk cId="0" sldId="347"/>
        </pc:sldMkLst>
      </pc:sldChg>
      <pc:sldChg chg="add del setBg">
        <pc:chgData name="Samson AMOUSSOU" userId="e3a853be89db41b5" providerId="LiveId" clId="{B8BC9159-DD46-46C1-847E-34313044516F}" dt="2026-09-14T21:49:45.885" v="67" actId="47"/>
        <pc:sldMkLst>
          <pc:docMk/>
          <pc:sldMk cId="2954288913" sldId="348"/>
        </pc:sldMkLst>
      </pc:sldChg>
      <pc:sldChg chg="add">
        <pc:chgData name="Samson AMOUSSOU" userId="e3a853be89db41b5" providerId="LiveId" clId="{B8BC9159-DD46-46C1-847E-34313044516F}" dt="2026-09-14T21:49:31.314" v="66"/>
        <pc:sldMkLst>
          <pc:docMk/>
          <pc:sldMk cId="0" sldId="349"/>
        </pc:sldMkLst>
      </pc:sldChg>
      <pc:sldChg chg="add">
        <pc:chgData name="Samson AMOUSSOU" userId="e3a853be89db41b5" providerId="LiveId" clId="{B8BC9159-DD46-46C1-847E-34313044516F}" dt="2026-09-14T21:52:03.603" v="69"/>
        <pc:sldMkLst>
          <pc:docMk/>
          <pc:sldMk cId="0" sldId="350"/>
        </pc:sldMkLst>
      </pc:sldChg>
      <pc:sldChg chg="add">
        <pc:chgData name="Samson AMOUSSOU" userId="e3a853be89db41b5" providerId="LiveId" clId="{B8BC9159-DD46-46C1-847E-34313044516F}" dt="2026-09-14T21:53:45.005" v="71"/>
        <pc:sldMkLst>
          <pc:docMk/>
          <pc:sldMk cId="0" sldId="351"/>
        </pc:sldMkLst>
      </pc:sldChg>
      <pc:sldChg chg="add">
        <pc:chgData name="Samson AMOUSSOU" userId="e3a853be89db41b5" providerId="LiveId" clId="{B8BC9159-DD46-46C1-847E-34313044516F}" dt="2026-09-14T21:55:28.640" v="73"/>
        <pc:sldMkLst>
          <pc:docMk/>
          <pc:sldMk cId="0" sldId="352"/>
        </pc:sldMkLst>
      </pc:sldChg>
      <pc:sldChg chg="modSp add mod">
        <pc:chgData name="Samson AMOUSSOU" userId="e3a853be89db41b5" providerId="LiveId" clId="{B8BC9159-DD46-46C1-847E-34313044516F}" dt="2026-09-14T22:18:46.205" v="92" actId="1038"/>
        <pc:sldMkLst>
          <pc:docMk/>
          <pc:sldMk cId="0" sldId="353"/>
        </pc:sldMkLst>
        <pc:spChg chg="mod">
          <ac:chgData name="Samson AMOUSSOU" userId="e3a853be89db41b5" providerId="LiveId" clId="{B8BC9159-DD46-46C1-847E-34313044516F}" dt="2026-09-14T22:18:46.205" v="92" actId="1038"/>
          <ac:spMkLst>
            <pc:docMk/>
            <pc:sldMk cId="0" sldId="353"/>
            <ac:spMk id="5" creationId="{00000000-0000-0000-0000-000000000000}"/>
          </ac:spMkLst>
        </pc:spChg>
        <pc:spChg chg="mod">
          <ac:chgData name="Samson AMOUSSOU" userId="e3a853be89db41b5" providerId="LiveId" clId="{B8BC9159-DD46-46C1-847E-34313044516F}" dt="2026-09-14T22:18:46.205" v="92" actId="1038"/>
          <ac:spMkLst>
            <pc:docMk/>
            <pc:sldMk cId="0" sldId="353"/>
            <ac:spMk id="6" creationId="{00000000-0000-0000-0000-000000000000}"/>
          </ac:spMkLst>
        </pc:spChg>
        <pc:spChg chg="mod">
          <ac:chgData name="Samson AMOUSSOU" userId="e3a853be89db41b5" providerId="LiveId" clId="{B8BC9159-DD46-46C1-847E-34313044516F}" dt="2026-09-14T22:18:46.205" v="92" actId="1038"/>
          <ac:spMkLst>
            <pc:docMk/>
            <pc:sldMk cId="0" sldId="353"/>
            <ac:spMk id="8" creationId="{00000000-0000-0000-0000-000000000000}"/>
          </ac:spMkLst>
        </pc:spChg>
        <pc:spChg chg="mod">
          <ac:chgData name="Samson AMOUSSOU" userId="e3a853be89db41b5" providerId="LiveId" clId="{B8BC9159-DD46-46C1-847E-34313044516F}" dt="2026-09-14T22:18:46.205" v="92" actId="1038"/>
          <ac:spMkLst>
            <pc:docMk/>
            <pc:sldMk cId="0" sldId="353"/>
            <ac:spMk id="9" creationId="{00000000-0000-0000-0000-000000000000}"/>
          </ac:spMkLst>
        </pc:spChg>
        <pc:spChg chg="mod">
          <ac:chgData name="Samson AMOUSSOU" userId="e3a853be89db41b5" providerId="LiveId" clId="{B8BC9159-DD46-46C1-847E-34313044516F}" dt="2026-09-14T22:18:46.205" v="92" actId="1038"/>
          <ac:spMkLst>
            <pc:docMk/>
            <pc:sldMk cId="0" sldId="353"/>
            <ac:spMk id="10" creationId="{00000000-0000-0000-0000-000000000000}"/>
          </ac:spMkLst>
        </pc:spChg>
        <pc:spChg chg="mod">
          <ac:chgData name="Samson AMOUSSOU" userId="e3a853be89db41b5" providerId="LiveId" clId="{B8BC9159-DD46-46C1-847E-34313044516F}" dt="2026-09-14T22:18:46.205" v="92" actId="1038"/>
          <ac:spMkLst>
            <pc:docMk/>
            <pc:sldMk cId="0" sldId="353"/>
            <ac:spMk id="11" creationId="{00000000-0000-0000-0000-000000000000}"/>
          </ac:spMkLst>
        </pc:spChg>
        <pc:spChg chg="mod">
          <ac:chgData name="Samson AMOUSSOU" userId="e3a853be89db41b5" providerId="LiveId" clId="{B8BC9159-DD46-46C1-847E-34313044516F}" dt="2026-09-14T22:18:46.205" v="92" actId="1038"/>
          <ac:spMkLst>
            <pc:docMk/>
            <pc:sldMk cId="0" sldId="353"/>
            <ac:spMk id="12" creationId="{00000000-0000-0000-0000-000000000000}"/>
          </ac:spMkLst>
        </pc:spChg>
        <pc:spChg chg="mod">
          <ac:chgData name="Samson AMOUSSOU" userId="e3a853be89db41b5" providerId="LiveId" clId="{B8BC9159-DD46-46C1-847E-34313044516F}" dt="2026-09-14T22:18:46.205" v="92" actId="1038"/>
          <ac:spMkLst>
            <pc:docMk/>
            <pc:sldMk cId="0" sldId="353"/>
            <ac:spMk id="14" creationId="{00000000-0000-0000-0000-000000000000}"/>
          </ac:spMkLst>
        </pc:spChg>
        <pc:spChg chg="mod">
          <ac:chgData name="Samson AMOUSSOU" userId="e3a853be89db41b5" providerId="LiveId" clId="{B8BC9159-DD46-46C1-847E-34313044516F}" dt="2026-09-14T22:18:46.205" v="92" actId="1038"/>
          <ac:spMkLst>
            <pc:docMk/>
            <pc:sldMk cId="0" sldId="353"/>
            <ac:spMk id="15" creationId="{00000000-0000-0000-0000-000000000000}"/>
          </ac:spMkLst>
        </pc:spChg>
        <pc:spChg chg="mod">
          <ac:chgData name="Samson AMOUSSOU" userId="e3a853be89db41b5" providerId="LiveId" clId="{B8BC9159-DD46-46C1-847E-34313044516F}" dt="2026-09-14T22:18:46.205" v="92" actId="1038"/>
          <ac:spMkLst>
            <pc:docMk/>
            <pc:sldMk cId="0" sldId="353"/>
            <ac:spMk id="16" creationId="{00000000-0000-0000-0000-000000000000}"/>
          </ac:spMkLst>
        </pc:spChg>
      </pc:sldChg>
      <pc:sldChg chg="add">
        <pc:chgData name="Samson AMOUSSOU" userId="e3a853be89db41b5" providerId="LiveId" clId="{B8BC9159-DD46-46C1-847E-34313044516F}" dt="2026-09-14T22:28:15.569" v="95"/>
        <pc:sldMkLst>
          <pc:docMk/>
          <pc:sldMk cId="0" sldId="354"/>
        </pc:sldMkLst>
      </pc:sldChg>
      <pc:sldChg chg="add">
        <pc:chgData name="Samson AMOUSSOU" userId="e3a853be89db41b5" providerId="LiveId" clId="{B8BC9159-DD46-46C1-847E-34313044516F}" dt="2026-09-14T22:28:15.569" v="95"/>
        <pc:sldMkLst>
          <pc:docMk/>
          <pc:sldMk cId="0" sldId="355"/>
        </pc:sldMkLst>
      </pc:sldChg>
      <pc:sldChg chg="add">
        <pc:chgData name="Samson AMOUSSOU" userId="e3a853be89db41b5" providerId="LiveId" clId="{B8BC9159-DD46-46C1-847E-34313044516F}" dt="2026-09-14T22:28:15.569" v="95"/>
        <pc:sldMkLst>
          <pc:docMk/>
          <pc:sldMk cId="0" sldId="356"/>
        </pc:sldMkLst>
      </pc:sldChg>
      <pc:sldChg chg="add">
        <pc:chgData name="Samson AMOUSSOU" userId="e3a853be89db41b5" providerId="LiveId" clId="{B8BC9159-DD46-46C1-847E-34313044516F}" dt="2026-09-14T22:28:15.569" v="95"/>
        <pc:sldMkLst>
          <pc:docMk/>
          <pc:sldMk cId="0" sldId="357"/>
        </pc:sldMkLst>
      </pc:sldChg>
      <pc:sldChg chg="add">
        <pc:chgData name="Samson AMOUSSOU" userId="e3a853be89db41b5" providerId="LiveId" clId="{B8BC9159-DD46-46C1-847E-34313044516F}" dt="2026-09-14T22:28:15.569" v="95"/>
        <pc:sldMkLst>
          <pc:docMk/>
          <pc:sldMk cId="0" sldId="358"/>
        </pc:sldMkLst>
      </pc:sldChg>
      <pc:sldChg chg="add">
        <pc:chgData name="Samson AMOUSSOU" userId="e3a853be89db41b5" providerId="LiveId" clId="{B8BC9159-DD46-46C1-847E-34313044516F}" dt="2026-09-14T22:34:26.143" v="100"/>
        <pc:sldMkLst>
          <pc:docMk/>
          <pc:sldMk cId="0" sldId="359"/>
        </pc:sldMkLst>
      </pc:sldChg>
      <pc:sldChg chg="add">
        <pc:chgData name="Samson AMOUSSOU" userId="e3a853be89db41b5" providerId="LiveId" clId="{B8BC9159-DD46-46C1-847E-34313044516F}" dt="2026-09-14T22:34:26.143" v="100"/>
        <pc:sldMkLst>
          <pc:docMk/>
          <pc:sldMk cId="0" sldId="360"/>
        </pc:sldMkLst>
      </pc:sldChg>
      <pc:sldChg chg="add">
        <pc:chgData name="Samson AMOUSSOU" userId="e3a853be89db41b5" providerId="LiveId" clId="{B8BC9159-DD46-46C1-847E-34313044516F}" dt="2026-09-14T22:34:26.143" v="100"/>
        <pc:sldMkLst>
          <pc:docMk/>
          <pc:sldMk cId="0" sldId="361"/>
        </pc:sldMkLst>
      </pc:sldChg>
      <pc:sldMasterChg chg="delSldLayout">
        <pc:chgData name="Samson AMOUSSOU" userId="e3a853be89db41b5" providerId="LiveId" clId="{B8BC9159-DD46-46C1-847E-34313044516F}" dt="2026-09-14T22:27:33.695" v="93" actId="47"/>
        <pc:sldMasterMkLst>
          <pc:docMk/>
          <pc:sldMasterMk cId="2209977519" sldId="2147483648"/>
        </pc:sldMasterMkLst>
        <pc:sldLayoutChg chg="del">
          <pc:chgData name="Samson AMOUSSOU" userId="e3a853be89db41b5" providerId="LiveId" clId="{B8BC9159-DD46-46C1-847E-34313044516F}" dt="2026-09-14T22:27:33.695" v="93" actId="47"/>
          <pc:sldLayoutMkLst>
            <pc:docMk/>
            <pc:sldMasterMk cId="2209977519" sldId="2147483648"/>
            <pc:sldLayoutMk cId="2577458824" sldId="2147483660"/>
          </pc:sldLayoutMkLst>
        </pc:sldLayoutChg>
        <pc:sldLayoutChg chg="del">
          <pc:chgData name="Samson AMOUSSOU" userId="e3a853be89db41b5" providerId="LiveId" clId="{B8BC9159-DD46-46C1-847E-34313044516F}" dt="2026-09-14T22:27:33.695" v="93" actId="47"/>
          <pc:sldLayoutMkLst>
            <pc:docMk/>
            <pc:sldMasterMk cId="2209977519" sldId="2147483648"/>
            <pc:sldLayoutMk cId="2936715822"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501B85-BB03-4475-9399-B8701BA49CE3}" type="datetimeFigureOut">
              <a:rPr lang="fr-FR" smtClean="0"/>
              <a:t>15/09/2026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84081F-9246-4BC8-8BB1-048490D7BDD7}" type="slidenum">
              <a:rPr lang="fr-FR" smtClean="0"/>
              <a:t>‹N°›</a:t>
            </a:fld>
            <a:endParaRPr lang="fr-FR"/>
          </a:p>
        </p:txBody>
      </p:sp>
    </p:spTree>
    <p:extLst>
      <p:ext uri="{BB962C8B-B14F-4D97-AF65-F5344CB8AC3E}">
        <p14:creationId xmlns:p14="http://schemas.microsoft.com/office/powerpoint/2010/main" val="2039302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TRAIN : sert à apprendre les paramètres du modèle. Les opérations apprises à partir des données, comme l’imputation ou le scaling, doivent également être ajustées sur TRAIN.</a:t>
            </a:r>
          </a:p>
          <a:p>
            <a:r>
              <a:t>VALIDATION / CV : sert à comparer les modèles, choisir les hyperparamètres et prendre les décisions de tuning. En validation croisée, plusieurs découpages du TRAIN sont utilisés.</a:t>
            </a:r>
          </a:p>
          <a:p>
            <a:r>
              <a:t>TEST : sert uniquement à l’évaluation finale. Il simule des données réellement nouvelles et ne doit pas influencer le choix du modèle.</a:t>
            </a:r>
          </a:p>
          <a:p>
            <a:r>
              <a:t>Une répartition 70/15/15 est seulement un exemple pédagogique : les proportions dépendent de la taille et de la structure des données.</a:t>
            </a:r>
          </a:p>
          <a:p>
            <a:r>
              <a:t>Erreur fréquente : regarder régulièrement les performances sur TEST pendant le tuning. Dans ce cas, les décisions finissent par s’adapter au TEST et son estimation de généralisation devient optimiste.</a:t>
            </a:r>
          </a:p>
          <a:p>
            <a:r>
              <a:t>Phrase à retenir : TRAIN apprend, VALIDATION choisit, TEST évalue.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choix du split dépend de la manière dont les données seront rencontrées en production.</a:t>
            </a:r>
          </a:p>
          <a:p>
            <a:r>
              <a:t>Split aléatoire : adapté lorsque les observations sont indépendantes. Exemple : 10 000 clients avec une seule ligne par client.</a:t>
            </a:r>
          </a:p>
          <a:p>
            <a:r>
              <a:t>Split temporel : nécessaire lorsque l’objectif est de prédire le futur. On entraîne sur le passé et on évalue sur une période ultérieure ; aucune information future ne doit entrer dans TRAIN.</a:t>
            </a:r>
          </a:p>
          <a:p>
            <a:r>
              <a:t>Split groupé : nécessaire lorsque plusieurs lignes appartiennent au même individu, patient, machine, magasin ou autre objet. Un groupe entier doit rester dans un seul ensemble.</a:t>
            </a:r>
          </a:p>
          <a:p>
            <a:r>
              <a:t>Exemple industriel : si M01 possède plusieurs mesures quotidiennes, M01 ne doit jamais apparaître à la fois dans TRAIN et TEST. Sinon, le modèle a déjà vu une partie de cette machine pendant l’apprentissage : c’est une fuite structurelle.</a:t>
            </a:r>
          </a:p>
          <a:p>
            <a:r>
              <a:t>Les proportions 70/15/15 ou 80/20 sont des choix possibles, mais la priorité est de reproduire correctement la situation réelle d’utilisation du modèle.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performance anormalement élevée peut être le signe d’une fuite de données : le modèle utilise une information qu’il n’aurait pas réellement au moment de la prédiction.</a:t>
            </a:r>
          </a:p>
          <a:p>
            <a:r>
              <a:t>Leakage cible : une variable révèle directement ou indirectement la cible. Exemple : un statut « intervention après panne » utilisé pour prédire la panne.</a:t>
            </a:r>
          </a:p>
          <a:p>
            <a:r>
              <a:t>Leakage de preprocessing : une transformation est ajustée sur l’ensemble des données avant le split. Le jeu TEST influence alors l’apprentissage. Les paramètres du scaler, de l’imputation ou de la sélection de variables doivent être appris sur TRAIN.</a:t>
            </a:r>
          </a:p>
          <a:p>
            <a:r>
              <a:t>Leakage temporel : une variable n’est disponible qu’après l’instant où la prédiction doit être produite. Elle ne peut donc pas être utilisée, même si elle est présente dans le dataset historique.</a:t>
            </a:r>
          </a:p>
          <a:p>
            <a:r>
              <a:t>Le test réflexe consiste à examiner chaque variable et à demander : « Aurais-je réellement cette information, sous cette forme, au moment exact où le modèle devra prendre sa décision ? »</a:t>
            </a:r>
          </a:p>
          <a:p>
            <a:r>
              <a:t>Dans l’exemple industriel, les capteurs observés avant t0 peuvent servir à la prédiction. Une intervention réalisée à t+1h ne peut pas servir à prédire la panne à t0.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reprend la base nettoyée du Jour 1. X contient les variables explicatives utilisées par le modèle. y est la cible à prédire. Si y est numérique, le problème est une régression ; si y est une catégorie, il s’agit d’une classification. Le découpage TRAIN / TEST permet d’apprendre sur une partie des données et d’évaluer le modèle sur des observations non utilisées pour l’apprentissage. Le split doit être reproductible pour comparer les modèles dans les mêmes conditions.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MAE est la moyenne des valeurs absolues des erreurs |y - ŷ|. Elle indique de combien le modèle se trompe en moyenne et s’exprime dans la même unité que la cible.</a:t>
            </a:r>
          </a:p>
          <a:p>
            <a:r>
              <a:t>La RMSE est la racine carrée de la moyenne des erreurs au carré. Le carré donne davantage de poids aux grosses erreurs ; elle est donc utile lorsque les grandes erreurs sont particulièrement coûteuses.</a:t>
            </a:r>
          </a:p>
          <a:p>
            <a:r>
              <a:t>Le R² compare le modèle à une baseline qui prédirait simplement la moyenne de y. R² = 1 correspond à un ajustement parfait ; R² = 0 signifie que le modèle ne fait pas mieux que cette baseline ; sur des données de test, R² peut être négatif.</a:t>
            </a:r>
          </a:p>
          <a:p>
            <a:r>
              <a:t>R² n’est pas une erreur exprimée dans l’unité métier. Il est préférable de le lire avec MAE ou RMSE.</a:t>
            </a:r>
          </a:p>
          <a:p>
            <a:r>
              <a:t>Exemple : si la durée restante réelle d’une machine est de 20 jours et que le modèle prédit 16 jours, l’erreur absolue vaut 4 jours.</a:t>
            </a:r>
          </a:p>
          <a:p>
            <a:r>
              <a:t>Le choix de la métrique dépend du contexte métier : si toutes les erreurs comptent de façon comparable, MAE est très lisible ; si une grosse erreur est particulièrement grave, RMSE est souvent plus informative.</a:t>
            </a:r>
          </a:p>
          <a:p>
            <a:r>
              <a:t>Il faut toujours comparer les métriques à une baseline et traduire les erreurs dans l’unité métier.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régularisation modifie l’objectif d’apprentissage : on ne minimise pas seulement l’erreur, on pénalise aussi la complexité.</a:t>
            </a:r>
          </a:p>
          <a:p>
            <a:r>
              <a:t>Elle sert surtout à limiter le surajustement et à obtenir un modèle plus stable sur de nouvelles données.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pénalité évite que les coefficients deviennent très grands.</a:t>
            </a:r>
          </a:p>
          <a:p>
            <a:r>
              <a:t>Un coefficient très grand peut indiquer que le modèle s’adapte trop à des particularités du jeu d’entraînement.</a:t>
            </a:r>
          </a:p>
          <a:p>
            <a:r>
              <a:t>Le bon modèle est celui qui généralise, pas seulement celui qui colle parfaitement au TRAIN.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formule originale de Lasso est conservée sur la diapositive.</a:t>
            </a:r>
          </a:p>
          <a:p>
            <a:r>
              <a:t>Le premier terme mesure l’erreur de prédiction.</a:t>
            </a:r>
          </a:p>
          <a:p>
            <a:r>
              <a:t>Le second terme ajoute λ multiplié par la somme des valeurs absolues des coefficients.</a:t>
            </a:r>
          </a:p>
          <a:p>
            <a:r>
              <a:t>Cette géométrie favorise des coefficients exactement nuls, ce qui permet une sélection automatique de variables.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formule originale de Ridge est conservée.</a:t>
            </a:r>
          </a:p>
          <a:p>
            <a:r>
              <a:t>Le terme de régularisation porte sur les carrés des coefficients.</a:t>
            </a:r>
          </a:p>
          <a:p>
            <a:r>
              <a:t>Ridge est souvent utile lorsque plusieurs variables sont corrélées ou portent une information proche.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formule originale d’Elastic Net est conservée.</a:t>
            </a:r>
          </a:p>
          <a:p>
            <a:r>
              <a:t>Elastic Net combine un terme L1 et un terme L2.</a:t>
            </a:r>
          </a:p>
          <a:p>
            <a:r>
              <a:t>Il peut résoudre certaines limites de Lasso lorsque les variables explicatives sont corrélées.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λ contrôle la force de la régularisation.</a:t>
            </a:r>
          </a:p>
          <a:p>
            <a:r>
              <a:t>Si λ = 0, on revient à une régression non régularisée.</a:t>
            </a:r>
          </a:p>
          <a:p>
            <a:r>
              <a:t>La validation croisée permet de comparer plusieurs valeurs de λ.</a:t>
            </a:r>
          </a:p>
          <a:p>
            <a:r>
              <a:t>Le jeu TEST reste réservé à l’évaluation finale.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schéma d’origine est conservé une seule fois pour éviter les doublons.</a:t>
            </a:r>
          </a:p>
          <a:p>
            <a:r>
              <a:t>Les ellipses représentent les courbes de niveau de la fonction d’erreur.</a:t>
            </a:r>
          </a:p>
          <a:p>
            <a:r>
              <a:t>Lasso favorise les solutions sur les axes, donc des coefficients nuls.</a:t>
            </a:r>
          </a:p>
          <a:p>
            <a:r>
              <a:t>Ridge réduit les coefficients sans les annuler aussi facilement.</a:t>
            </a:r>
          </a:p>
          <a:p>
            <a:r>
              <a:t>Elastic Net réalise un compromis entre les deux contraintes.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support est volontairement sans doublons : chaque notion apparaît une seule fois.</a:t>
            </a:r>
          </a:p>
          <a:p>
            <a:r>
              <a:t>Les équations importantes sont conservées : Lasso, Ridge et Elastic Net.</a:t>
            </a:r>
          </a:p>
          <a:p>
            <a:r>
              <a:t>Les schémas d’origine sont conservés dans une seule diapositive de synthèse visuelle.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L’objectif</a:t>
            </a:r>
            <a:r>
              <a:rPr dirty="0"/>
              <a:t> est de comparer </a:t>
            </a:r>
            <a:r>
              <a:rPr dirty="0" err="1"/>
              <a:t>plusieurs</a:t>
            </a:r>
            <a:r>
              <a:rPr dirty="0"/>
              <a:t> </a:t>
            </a:r>
            <a:r>
              <a:rPr dirty="0" err="1"/>
              <a:t>approches</a:t>
            </a:r>
            <a:r>
              <a:rPr dirty="0"/>
              <a:t> de </a:t>
            </a:r>
            <a:r>
              <a:rPr dirty="0" err="1"/>
              <a:t>régression</a:t>
            </a:r>
            <a:r>
              <a:rPr dirty="0"/>
              <a:t> dans un cadre </a:t>
            </a:r>
            <a:r>
              <a:rPr dirty="0" err="1"/>
              <a:t>identique</a:t>
            </a:r>
            <a:r>
              <a:rPr dirty="0"/>
              <a:t>. </a:t>
            </a:r>
            <a:r>
              <a:rPr dirty="0" err="1"/>
              <a:t>LinearRegression</a:t>
            </a:r>
            <a:r>
              <a:rPr dirty="0"/>
              <a:t> </a:t>
            </a:r>
            <a:r>
              <a:rPr dirty="0" err="1"/>
              <a:t>sert</a:t>
            </a:r>
            <a:r>
              <a:rPr dirty="0"/>
              <a:t> de </a:t>
            </a:r>
            <a:r>
              <a:rPr dirty="0" err="1"/>
              <a:t>référence</a:t>
            </a:r>
            <a:r>
              <a:rPr dirty="0"/>
              <a:t>. </a:t>
            </a:r>
            <a:r>
              <a:rPr dirty="0" err="1"/>
              <a:t>PolynomialFeatures</a:t>
            </a:r>
            <a:r>
              <a:rPr dirty="0"/>
              <a:t> </a:t>
            </a:r>
            <a:r>
              <a:rPr dirty="0" err="1"/>
              <a:t>permet</a:t>
            </a:r>
            <a:r>
              <a:rPr dirty="0"/>
              <a:t> de </a:t>
            </a:r>
            <a:r>
              <a:rPr dirty="0" err="1"/>
              <a:t>représenter</a:t>
            </a:r>
            <a:r>
              <a:rPr dirty="0"/>
              <a:t> </a:t>
            </a:r>
            <a:r>
              <a:rPr dirty="0" err="1"/>
              <a:t>une</a:t>
            </a:r>
            <a:r>
              <a:rPr dirty="0"/>
              <a:t> relation </a:t>
            </a:r>
            <a:r>
              <a:rPr dirty="0" err="1"/>
              <a:t>courbe</a:t>
            </a:r>
            <a:r>
              <a:rPr dirty="0"/>
              <a:t> </a:t>
            </a:r>
            <a:r>
              <a:rPr dirty="0" err="1"/>
              <a:t>en</a:t>
            </a:r>
            <a:r>
              <a:rPr dirty="0"/>
              <a:t> </a:t>
            </a:r>
            <a:r>
              <a:rPr dirty="0" err="1"/>
              <a:t>enrichissant</a:t>
            </a:r>
            <a:r>
              <a:rPr dirty="0"/>
              <a:t> X. Ridge et Lasso </a:t>
            </a:r>
            <a:r>
              <a:rPr dirty="0" err="1"/>
              <a:t>ajoutent</a:t>
            </a:r>
            <a:r>
              <a:rPr dirty="0"/>
              <a:t> </a:t>
            </a:r>
            <a:r>
              <a:rPr dirty="0" err="1"/>
              <a:t>une</a:t>
            </a:r>
            <a:r>
              <a:rPr dirty="0"/>
              <a:t> </a:t>
            </a:r>
            <a:r>
              <a:rPr dirty="0" err="1"/>
              <a:t>régularisation</a:t>
            </a:r>
            <a:r>
              <a:rPr dirty="0"/>
              <a:t> pour limiter la </a:t>
            </a:r>
            <a:r>
              <a:rPr dirty="0" err="1"/>
              <a:t>complexité</a:t>
            </a:r>
            <a:r>
              <a:rPr dirty="0"/>
              <a:t>. La </a:t>
            </a:r>
            <a:r>
              <a:rPr dirty="0" err="1"/>
              <a:t>comparaison</a:t>
            </a:r>
            <a:r>
              <a:rPr dirty="0"/>
              <a:t> ne repose pas sur </a:t>
            </a:r>
            <a:r>
              <a:rPr dirty="0" err="1"/>
              <a:t>une</a:t>
            </a:r>
            <a:r>
              <a:rPr dirty="0"/>
              <a:t> </a:t>
            </a:r>
            <a:r>
              <a:rPr dirty="0" err="1"/>
              <a:t>seule</a:t>
            </a:r>
            <a:r>
              <a:rPr dirty="0"/>
              <a:t> </a:t>
            </a:r>
            <a:r>
              <a:rPr dirty="0" err="1"/>
              <a:t>métrique</a:t>
            </a:r>
            <a:r>
              <a:rPr dirty="0"/>
              <a:t> : RMSE </a:t>
            </a:r>
            <a:r>
              <a:rPr dirty="0" err="1"/>
              <a:t>mesure</a:t>
            </a:r>
            <a:r>
              <a:rPr dirty="0"/>
              <a:t> </a:t>
            </a:r>
            <a:r>
              <a:rPr dirty="0" err="1"/>
              <a:t>l’erreur</a:t>
            </a:r>
            <a:r>
              <a:rPr dirty="0"/>
              <a:t> dans </a:t>
            </a:r>
            <a:r>
              <a:rPr dirty="0" err="1"/>
              <a:t>l’unité</a:t>
            </a:r>
            <a:r>
              <a:rPr dirty="0"/>
              <a:t> de la </a:t>
            </a:r>
            <a:r>
              <a:rPr dirty="0" err="1"/>
              <a:t>cible</a:t>
            </a:r>
            <a:r>
              <a:rPr dirty="0"/>
              <a:t> et R² </a:t>
            </a:r>
            <a:r>
              <a:rPr dirty="0" err="1"/>
              <a:t>mesure</a:t>
            </a:r>
            <a:r>
              <a:rPr dirty="0"/>
              <a:t> la part de </a:t>
            </a:r>
            <a:r>
              <a:rPr dirty="0" err="1"/>
              <a:t>variabilité</a:t>
            </a:r>
            <a:r>
              <a:rPr dirty="0"/>
              <a:t> </a:t>
            </a:r>
            <a:r>
              <a:rPr dirty="0" err="1"/>
              <a:t>expliquée</a:t>
            </a:r>
            <a:r>
              <a:rPr dirty="0"/>
              <a:t>. Le </a:t>
            </a:r>
            <a:r>
              <a:rPr dirty="0" err="1"/>
              <a:t>meilleur</a:t>
            </a:r>
            <a:r>
              <a:rPr dirty="0"/>
              <a:t> </a:t>
            </a:r>
            <a:r>
              <a:rPr dirty="0" err="1"/>
              <a:t>modèle</a:t>
            </a:r>
            <a:r>
              <a:rPr dirty="0"/>
              <a:t> est </a:t>
            </a:r>
            <a:r>
              <a:rPr dirty="0" err="1"/>
              <a:t>celui</a:t>
            </a:r>
            <a:r>
              <a:rPr dirty="0"/>
              <a:t> qui </a:t>
            </a:r>
            <a:r>
              <a:rPr dirty="0" err="1"/>
              <a:t>généralise</a:t>
            </a:r>
            <a:r>
              <a:rPr dirty="0"/>
              <a:t> </a:t>
            </a:r>
            <a:r>
              <a:rPr dirty="0" err="1"/>
              <a:t>correctement</a:t>
            </a:r>
            <a:r>
              <a:rPr dirty="0"/>
              <a:t> sur les données non </a:t>
            </a:r>
            <a:r>
              <a:rPr dirty="0" err="1"/>
              <a:t>vues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matrice de confusion compare la classe réelle à la classe prédite. Pour une classification binaire, elle contient quatre situations.</a:t>
            </a:r>
          </a:p>
          <a:p>
            <a:r>
              <a:t>TP, vrai positif : la machine est réellement en panne et le modèle détecte la panne.</a:t>
            </a:r>
          </a:p>
          <a:p>
            <a:r>
              <a:t>TN, vrai négatif : la machine est réellement dans une situation normale et le modèle la classe correctement comme normale.</a:t>
            </a:r>
          </a:p>
          <a:p>
            <a:r>
              <a:t>FP, faux positif : le modèle déclenche une alerte alors qu’il n’y a pas de panne. Dans un contexte de maintenance, cela peut provoquer une intervention inutile.</a:t>
            </a:r>
          </a:p>
          <a:p>
            <a:r>
              <a:t>FN, faux négatif : la machine est réellement en panne mais le modèle ne la détecte pas. Cela peut conduire à une panne non anticipée.</a:t>
            </a:r>
          </a:p>
          <a:p>
            <a:r>
              <a:t>Les erreurs n’ont pas nécessairement le même coût métier. Dans certains contextes, manquer une panne est beaucoup plus grave que déclencher une fausse alerte.</a:t>
            </a:r>
          </a:p>
          <a:p>
            <a:r>
              <a:t>Precision, recall et F1 sont calculés à partir de ces quatre quantités. Il faut donc comprendre la matrice avant d’interpréter ces métriques.</a:t>
            </a:r>
          </a:p>
          <a:p>
            <a:r>
              <a:t>Pour lire la matrice, commencez toujours par identifier ce que représente la classe positive. Ici, la classe positive correspond à la panne.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L’accuracy est la proportion totale de prédictions correctes. Elle est intuitive, mais peut être trompeuse lorsque les classes sont très déséquilibrées.</a:t>
            </a:r>
          </a:p>
          <a:p>
            <a:r>
              <a:t>La precision répond à la question : parmi toutes les observations que le modèle a prédites positives, quelle proportion est réellement positive ? Elle devient importante lorsque les faux positifs sont coûteux.</a:t>
            </a:r>
          </a:p>
          <a:p>
            <a:r>
              <a:t>Le recall répond à la question : parmi tous les cas réellement positifs, quelle proportion le modèle a-t-il détectée ? Il devient prioritaire lorsque manquer un cas positif est grave.</a:t>
            </a:r>
          </a:p>
          <a:p>
            <a:r>
              <a:t>Le score F1 est une moyenne harmonique de la precision et du recall. Il est utile lorsque l’on souhaite équilibrer ces deux dimensions.</a:t>
            </a:r>
          </a:p>
          <a:p>
            <a:r>
              <a:t>Dans l’exemple de maintenance, si une panne manquée coûte beaucoup plus cher qu’une intervention inutile, on privilégiera généralement le recall, puis on ajustera le seuil selon la capacité opérationnelle.</a:t>
            </a:r>
          </a:p>
          <a:p>
            <a:r>
              <a:t>Le choix de la métrique principale doit être fait en fonction du problème métier, idéalement avant de comparer les modèles, afin de ne pas sélectionner après coup la métrique qui favorise le modèle préféré.</a:t>
            </a:r>
          </a:p>
          <a:p>
            <a:r>
              <a:t>Ces métriques se comprennent à partir de la matrice de confusion : TP, TN, FP et FN.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régression logistique, k-NN, l’arbre de décision et le SVM peuvent être utilisés comme classifieurs lorsque la cible y représente une classe. Ils apprennent différemment, mais leur sortie finale sert à attribuer une classe. La matrice de confusion permet de voir les types d’erreurs. Precision, recall et F1 répondent à des priorités différentes. ROC-AUC évalue la capacité du modèle à séparer les classes sur plusieurs seuils. Le choix final doit être justifié par le besoin métier, pas seulement par le score le plus élevé.</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1 000 machines, 50 seulement sont en panne.</a:t>
            </a:r>
          </a:p>
          <a:p>
            <a:r>
              <a:t>Un modèle qui répond toujours « pas de panne » obtient 95 % d’accuracy.</a:t>
            </a:r>
          </a:p>
          <a:p>
            <a:r>
              <a:t>Mais il ne détecte aucune panne : Recall panne = 0 %.</a:t>
            </a:r>
          </a:p>
          <a:p>
            <a:r>
              <a:t>Avec des classes déséquilibrées, regarder aussi Recall, Precision, F1 et la matrice de confusion.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modèle produit un score avant de produire une classe.</a:t>
            </a:r>
          </a:p>
          <a:p>
            <a:r>
              <a:t>Le seuil transforme le score en décision.</a:t>
            </a:r>
          </a:p>
          <a:p>
            <a:r>
              <a:t>Baisser le seuil augmente généralement le Recall mais aussi les faux positifs.</a:t>
            </a:r>
          </a:p>
          <a:p>
            <a:r>
              <a:t>Augmenter le seuil réduit les faux positifs mais peut augmenter les faux négatifs.</a:t>
            </a:r>
          </a:p>
          <a:p>
            <a:r>
              <a:t>Le choix du seuil dépend du coût métier des erreurs.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courbe ROC représente le Recall (TPR) en fonction du taux de faux positifs (FPR) pour différents seuils.</a:t>
            </a:r>
          </a:p>
          <a:p>
            <a:r>
              <a:t>L’AUC résume le pouvoir de classement global du modèle.</a:t>
            </a:r>
          </a:p>
          <a:p>
            <a:r>
              <a:t>AUC proche de 1 : bon pouvoir discriminant ; AUC proche de 0,5 : proche du hasard.</a:t>
            </a:r>
          </a:p>
          <a:p>
            <a:r>
              <a:t>Une bonne AUC ne fixe pas le seuil métier.</a:t>
            </a:r>
          </a:p>
          <a:p>
            <a:r>
              <a:t>Pour une classe positive très rare, regarder également la courbe Precision–Recall.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choix d’un modèle ne doit pas reposer uniquement sur la meilleure métrique statistique.</a:t>
            </a:r>
          </a:p>
          <a:p>
            <a:r>
              <a:t>Performance : vérifier la métrique principale définie par le besoin métier, la stabilité sur des données non vues et surtout le type d’erreurs critiques.</a:t>
            </a:r>
          </a:p>
          <a:p>
            <a:r>
              <a:t>Contraintes : un modèle peut être performant mais trop lent, trop coûteux, difficile à mettre à l’échelle ou complexe à maintenir en production.</a:t>
            </a:r>
          </a:p>
          <a:p>
            <a:r>
              <a:t>Gouvernance : selon le contexte, il peut être nécessaire d’expliquer les décisions, de reproduire les résultats, de tracer les versions et d’obtenir l’acceptation des équipes métier.</a:t>
            </a:r>
          </a:p>
          <a:p>
            <a:r>
              <a:t>Exemple : un Random Forest peut gagner légèrement en AUC par rapport à une régression logistique, mais si sa latence, son coût ou son manque d’explicabilité posent problème, la régression logistique peut rester le meilleur choix opérationnel.</a:t>
            </a:r>
          </a:p>
          <a:p>
            <a:r>
              <a:t>Un faible gain statistique peut donc être refusé s’il entraîne une forte augmentation du coût, de la latence, de l’opacité ou de la maintenance.</a:t>
            </a:r>
          </a:p>
          <a:p>
            <a:r>
              <a:t>La décision finale est un arbitrage : le modèle retenu est celui qui atteint une performance suffisante tout en respectant les contraintes réelles du projet.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502920"/>
            <a:ext cx="10972800" cy="228600"/>
          </a:xfrm>
          <a:prstGeom prst="rect">
            <a:avLst/>
          </a:prstGeom>
          <a:noFill/>
        </p:spPr>
        <p:txBody>
          <a:bodyPr wrap="square">
            <a:spAutoFit/>
          </a:bodyPr>
          <a:lstStyle/>
          <a:p>
            <a:pPr algn="l"/>
            <a:r>
              <a:rPr sz="1000" b="1">
                <a:solidFill>
                  <a:srgbClr val="2563EB"/>
                </a:solidFill>
                <a:latin typeface="Aptos"/>
              </a:rPr>
              <a:t>ESI — 4ᵉ ANNÉE, OPTION DÉVELOPPEUR</a:t>
            </a:r>
          </a:p>
        </p:txBody>
      </p:sp>
      <p:sp>
        <p:nvSpPr>
          <p:cNvPr id="3" name="TextBox 2"/>
          <p:cNvSpPr txBox="1"/>
          <p:nvPr/>
        </p:nvSpPr>
        <p:spPr>
          <a:xfrm>
            <a:off x="685800" y="960120"/>
            <a:ext cx="10972800" cy="530352"/>
          </a:xfrm>
          <a:prstGeom prst="rect">
            <a:avLst/>
          </a:prstGeom>
          <a:noFill/>
        </p:spPr>
        <p:txBody>
          <a:bodyPr wrap="square">
            <a:spAutoFit/>
          </a:bodyPr>
          <a:lstStyle/>
          <a:p>
            <a:pPr algn="l"/>
            <a:r>
              <a:rPr sz="3000" b="1">
                <a:solidFill>
                  <a:srgbClr val="123153"/>
                </a:solidFill>
                <a:latin typeface="Aptos"/>
              </a:rPr>
              <a:t>Intelligence Artificielle</a:t>
            </a:r>
          </a:p>
        </p:txBody>
      </p:sp>
      <p:sp>
        <p:nvSpPr>
          <p:cNvPr id="4" name="TextBox 3"/>
          <p:cNvSpPr txBox="1"/>
          <p:nvPr/>
        </p:nvSpPr>
        <p:spPr>
          <a:xfrm>
            <a:off x="685800" y="1664208"/>
            <a:ext cx="10972800" cy="457200"/>
          </a:xfrm>
          <a:prstGeom prst="rect">
            <a:avLst/>
          </a:prstGeom>
          <a:noFill/>
        </p:spPr>
        <p:txBody>
          <a:bodyPr wrap="square">
            <a:spAutoFit/>
          </a:bodyPr>
          <a:lstStyle/>
          <a:p>
            <a:pPr algn="l"/>
            <a:r>
              <a:rPr sz="2200" b="1">
                <a:solidFill>
                  <a:srgbClr val="232D3A"/>
                </a:solidFill>
                <a:latin typeface="Aptos"/>
              </a:rPr>
              <a:t>JOUR 2 — Apprentissage supervisé : régression &amp; classification</a:t>
            </a:r>
          </a:p>
        </p:txBody>
      </p:sp>
      <p:sp>
        <p:nvSpPr>
          <p:cNvPr id="5" name="TextBox 4"/>
          <p:cNvSpPr txBox="1"/>
          <p:nvPr/>
        </p:nvSpPr>
        <p:spPr>
          <a:xfrm>
            <a:off x="685800" y="2240280"/>
            <a:ext cx="10972800" cy="274320"/>
          </a:xfrm>
          <a:prstGeom prst="rect">
            <a:avLst/>
          </a:prstGeom>
          <a:noFill/>
        </p:spPr>
        <p:txBody>
          <a:bodyPr wrap="square">
            <a:spAutoFit/>
          </a:bodyPr>
          <a:lstStyle/>
          <a:p>
            <a:pPr algn="l"/>
            <a:r>
              <a:rPr sz="1150" b="0">
                <a:solidFill>
                  <a:srgbClr val="64748B"/>
                </a:solidFill>
                <a:latin typeface="Aptos"/>
              </a:rPr>
              <a:t>Régression linéaire/polynomiale, Ridge/Lasso, k-NN, arbres, SVM, régression logistique, métriques et scikit-learn</a:t>
            </a:r>
          </a:p>
        </p:txBody>
      </p:sp>
      <p:sp>
        <p:nvSpPr>
          <p:cNvPr id="6" name="Rounded Rectangle 5"/>
          <p:cNvSpPr/>
          <p:nvPr/>
        </p:nvSpPr>
        <p:spPr>
          <a:xfrm>
            <a:off x="502920" y="306324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306324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3227832"/>
            <a:ext cx="3291840" cy="256032"/>
          </a:xfrm>
          <a:prstGeom prst="rect">
            <a:avLst/>
          </a:prstGeom>
          <a:noFill/>
        </p:spPr>
        <p:txBody>
          <a:bodyPr wrap="square">
            <a:spAutoFit/>
          </a:bodyPr>
          <a:lstStyle/>
          <a:p>
            <a:pPr algn="l"/>
            <a:r>
              <a:rPr sz="1150" b="1">
                <a:solidFill>
                  <a:srgbClr val="123153"/>
                </a:solidFill>
                <a:latin typeface="Aptos"/>
              </a:rPr>
              <a:t>Matin — Régression</a:t>
            </a:r>
          </a:p>
        </p:txBody>
      </p:sp>
      <p:sp>
        <p:nvSpPr>
          <p:cNvPr id="9" name="TextBox 8"/>
          <p:cNvSpPr txBox="1"/>
          <p:nvPr/>
        </p:nvSpPr>
        <p:spPr>
          <a:xfrm>
            <a:off x="685800" y="3666744"/>
            <a:ext cx="3227832" cy="256032"/>
          </a:xfrm>
          <a:prstGeom prst="rect">
            <a:avLst/>
          </a:prstGeom>
          <a:noFill/>
        </p:spPr>
        <p:txBody>
          <a:bodyPr wrap="square">
            <a:spAutoFit/>
          </a:bodyPr>
          <a:lstStyle/>
          <a:p>
            <a:pPr algn="l"/>
            <a:r>
              <a:rPr sz="950" b="0">
                <a:solidFill>
                  <a:srgbClr val="232D3A"/>
                </a:solidFill>
                <a:latin typeface="Aptos"/>
              </a:rPr>
              <a:t>• régression linéaire et polynomiale</a:t>
            </a:r>
          </a:p>
        </p:txBody>
      </p:sp>
      <p:sp>
        <p:nvSpPr>
          <p:cNvPr id="10" name="TextBox 9"/>
          <p:cNvSpPr txBox="1"/>
          <p:nvPr/>
        </p:nvSpPr>
        <p:spPr>
          <a:xfrm>
            <a:off x="685800" y="3977639"/>
            <a:ext cx="3227832" cy="256032"/>
          </a:xfrm>
          <a:prstGeom prst="rect">
            <a:avLst/>
          </a:prstGeom>
          <a:noFill/>
        </p:spPr>
        <p:txBody>
          <a:bodyPr wrap="square">
            <a:spAutoFit/>
          </a:bodyPr>
          <a:lstStyle/>
          <a:p>
            <a:pPr algn="l"/>
            <a:r>
              <a:rPr sz="950" b="0">
                <a:solidFill>
                  <a:srgbClr val="232D3A"/>
                </a:solidFill>
                <a:latin typeface="Aptos"/>
              </a:rPr>
              <a:t>• régularisation Ridge / Lasso</a:t>
            </a:r>
          </a:p>
        </p:txBody>
      </p:sp>
      <p:sp>
        <p:nvSpPr>
          <p:cNvPr id="11" name="TextBox 10"/>
          <p:cNvSpPr txBox="1"/>
          <p:nvPr/>
        </p:nvSpPr>
        <p:spPr>
          <a:xfrm>
            <a:off x="685800" y="4288536"/>
            <a:ext cx="3227832" cy="256032"/>
          </a:xfrm>
          <a:prstGeom prst="rect">
            <a:avLst/>
          </a:prstGeom>
          <a:noFill/>
        </p:spPr>
        <p:txBody>
          <a:bodyPr wrap="square">
            <a:spAutoFit/>
          </a:bodyPr>
          <a:lstStyle/>
          <a:p>
            <a:pPr algn="l"/>
            <a:r>
              <a:rPr sz="950" b="0">
                <a:solidFill>
                  <a:srgbClr val="232D3A"/>
                </a:solidFill>
                <a:latin typeface="Aptos"/>
              </a:rPr>
              <a:t>• MSE / RMSE / R²</a:t>
            </a:r>
          </a:p>
        </p:txBody>
      </p:sp>
      <p:sp>
        <p:nvSpPr>
          <p:cNvPr id="12" name="Rounded Rectangle 11"/>
          <p:cNvSpPr/>
          <p:nvPr/>
        </p:nvSpPr>
        <p:spPr>
          <a:xfrm>
            <a:off x="4389120" y="306324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306324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3227832"/>
            <a:ext cx="3291840" cy="256032"/>
          </a:xfrm>
          <a:prstGeom prst="rect">
            <a:avLst/>
          </a:prstGeom>
          <a:noFill/>
        </p:spPr>
        <p:txBody>
          <a:bodyPr wrap="square">
            <a:spAutoFit/>
          </a:bodyPr>
          <a:lstStyle/>
          <a:p>
            <a:pPr algn="l"/>
            <a:r>
              <a:rPr sz="1150" b="1">
                <a:solidFill>
                  <a:srgbClr val="123153"/>
                </a:solidFill>
                <a:latin typeface="Aptos"/>
              </a:rPr>
              <a:t>Après-midi — Classification</a:t>
            </a:r>
          </a:p>
        </p:txBody>
      </p:sp>
      <p:sp>
        <p:nvSpPr>
          <p:cNvPr id="15" name="TextBox 14"/>
          <p:cNvSpPr txBox="1"/>
          <p:nvPr/>
        </p:nvSpPr>
        <p:spPr>
          <a:xfrm>
            <a:off x="4572000" y="3666744"/>
            <a:ext cx="3227832" cy="256032"/>
          </a:xfrm>
          <a:prstGeom prst="rect">
            <a:avLst/>
          </a:prstGeom>
          <a:noFill/>
        </p:spPr>
        <p:txBody>
          <a:bodyPr wrap="square">
            <a:spAutoFit/>
          </a:bodyPr>
          <a:lstStyle/>
          <a:p>
            <a:pPr algn="l"/>
            <a:r>
              <a:rPr sz="950" b="0">
                <a:solidFill>
                  <a:srgbClr val="232D3A"/>
                </a:solidFill>
                <a:latin typeface="Aptos"/>
              </a:rPr>
              <a:t>• k-NN, arbre, SVM</a:t>
            </a:r>
          </a:p>
        </p:txBody>
      </p:sp>
      <p:sp>
        <p:nvSpPr>
          <p:cNvPr id="16" name="TextBox 15"/>
          <p:cNvSpPr txBox="1"/>
          <p:nvPr/>
        </p:nvSpPr>
        <p:spPr>
          <a:xfrm>
            <a:off x="4572000" y="3977639"/>
            <a:ext cx="3227832" cy="256032"/>
          </a:xfrm>
          <a:prstGeom prst="rect">
            <a:avLst/>
          </a:prstGeom>
          <a:noFill/>
        </p:spPr>
        <p:txBody>
          <a:bodyPr wrap="square">
            <a:spAutoFit/>
          </a:bodyPr>
          <a:lstStyle/>
          <a:p>
            <a:pPr algn="l"/>
            <a:r>
              <a:rPr sz="950" b="0">
                <a:solidFill>
                  <a:srgbClr val="232D3A"/>
                </a:solidFill>
                <a:latin typeface="Aptos"/>
              </a:rPr>
              <a:t>• régression logistique</a:t>
            </a:r>
          </a:p>
        </p:txBody>
      </p:sp>
      <p:sp>
        <p:nvSpPr>
          <p:cNvPr id="17" name="TextBox 16"/>
          <p:cNvSpPr txBox="1"/>
          <p:nvPr/>
        </p:nvSpPr>
        <p:spPr>
          <a:xfrm>
            <a:off x="4572000" y="4288536"/>
            <a:ext cx="3227832" cy="256032"/>
          </a:xfrm>
          <a:prstGeom prst="rect">
            <a:avLst/>
          </a:prstGeom>
          <a:noFill/>
        </p:spPr>
        <p:txBody>
          <a:bodyPr wrap="square">
            <a:spAutoFit/>
          </a:bodyPr>
          <a:lstStyle/>
          <a:p>
            <a:pPr algn="l"/>
            <a:r>
              <a:rPr sz="950" b="0">
                <a:solidFill>
                  <a:srgbClr val="232D3A"/>
                </a:solidFill>
                <a:latin typeface="Aptos"/>
              </a:rPr>
              <a:t>• matrice de confusion</a:t>
            </a:r>
          </a:p>
        </p:txBody>
      </p:sp>
      <p:sp>
        <p:nvSpPr>
          <p:cNvPr id="18" name="Rounded Rectangle 17"/>
          <p:cNvSpPr/>
          <p:nvPr/>
        </p:nvSpPr>
        <p:spPr>
          <a:xfrm>
            <a:off x="8275320" y="306324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75320" y="306324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39912" y="3227832"/>
            <a:ext cx="3291840" cy="256032"/>
          </a:xfrm>
          <a:prstGeom prst="rect">
            <a:avLst/>
          </a:prstGeom>
          <a:noFill/>
        </p:spPr>
        <p:txBody>
          <a:bodyPr wrap="square">
            <a:spAutoFit/>
          </a:bodyPr>
          <a:lstStyle/>
          <a:p>
            <a:pPr algn="l"/>
            <a:r>
              <a:rPr sz="1150" b="1">
                <a:solidFill>
                  <a:srgbClr val="123153"/>
                </a:solidFill>
                <a:latin typeface="Aptos"/>
              </a:rPr>
              <a:t>Pratique</a:t>
            </a:r>
          </a:p>
        </p:txBody>
      </p:sp>
      <p:sp>
        <p:nvSpPr>
          <p:cNvPr id="21" name="TextBox 20"/>
          <p:cNvSpPr txBox="1"/>
          <p:nvPr/>
        </p:nvSpPr>
        <p:spPr>
          <a:xfrm>
            <a:off x="8458200" y="3666744"/>
            <a:ext cx="3227832" cy="256032"/>
          </a:xfrm>
          <a:prstGeom prst="rect">
            <a:avLst/>
          </a:prstGeom>
          <a:noFill/>
        </p:spPr>
        <p:txBody>
          <a:bodyPr wrap="square">
            <a:spAutoFit/>
          </a:bodyPr>
          <a:lstStyle/>
          <a:p>
            <a:pPr algn="l"/>
            <a:r>
              <a:rPr sz="950" b="0">
                <a:solidFill>
                  <a:srgbClr val="232D3A"/>
                </a:solidFill>
                <a:latin typeface="Aptos"/>
              </a:rPr>
              <a:t>• scikit-learn</a:t>
            </a:r>
          </a:p>
        </p:txBody>
      </p:sp>
      <p:sp>
        <p:nvSpPr>
          <p:cNvPr id="22" name="TextBox 21"/>
          <p:cNvSpPr txBox="1"/>
          <p:nvPr/>
        </p:nvSpPr>
        <p:spPr>
          <a:xfrm>
            <a:off x="8458200" y="3977639"/>
            <a:ext cx="3227832" cy="256032"/>
          </a:xfrm>
          <a:prstGeom prst="rect">
            <a:avLst/>
          </a:prstGeom>
          <a:noFill/>
        </p:spPr>
        <p:txBody>
          <a:bodyPr wrap="square">
            <a:spAutoFit/>
          </a:bodyPr>
          <a:lstStyle/>
          <a:p>
            <a:pPr algn="l"/>
            <a:r>
              <a:rPr sz="950" b="0">
                <a:solidFill>
                  <a:srgbClr val="232D3A"/>
                </a:solidFill>
                <a:latin typeface="Aptos"/>
              </a:rPr>
              <a:t>• base préparée au Jour 1</a:t>
            </a:r>
          </a:p>
        </p:txBody>
      </p:sp>
      <p:sp>
        <p:nvSpPr>
          <p:cNvPr id="23" name="TextBox 22"/>
          <p:cNvSpPr txBox="1"/>
          <p:nvPr/>
        </p:nvSpPr>
        <p:spPr>
          <a:xfrm>
            <a:off x="8458200" y="4288536"/>
            <a:ext cx="3227832" cy="256032"/>
          </a:xfrm>
          <a:prstGeom prst="rect">
            <a:avLst/>
          </a:prstGeom>
          <a:noFill/>
        </p:spPr>
        <p:txBody>
          <a:bodyPr wrap="square">
            <a:spAutoFit/>
          </a:bodyPr>
          <a:lstStyle/>
          <a:p>
            <a:pPr algn="l"/>
            <a:r>
              <a:rPr sz="950" b="0">
                <a:solidFill>
                  <a:srgbClr val="232D3A"/>
                </a:solidFill>
                <a:latin typeface="Aptos"/>
              </a:rPr>
              <a:t>• TP + challenge</a:t>
            </a:r>
          </a:p>
        </p:txBody>
      </p:sp>
      <p:sp>
        <p:nvSpPr>
          <p:cNvPr id="24" name="Rectangle 23"/>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CADRAGE</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Objectifs du Jour 2</a:t>
            </a:r>
          </a:p>
        </p:txBody>
      </p:sp>
      <p:sp>
        <p:nvSpPr>
          <p:cNvPr id="4" name="TextBox 3"/>
          <p:cNvSpPr txBox="1"/>
          <p:nvPr/>
        </p:nvSpPr>
        <p:spPr>
          <a:xfrm>
            <a:off x="594360" y="1172828"/>
            <a:ext cx="10972800" cy="307777"/>
          </a:xfrm>
          <a:prstGeom prst="rect">
            <a:avLst/>
          </a:prstGeom>
          <a:noFill/>
        </p:spPr>
        <p:txBody>
          <a:bodyPr wrap="square">
            <a:spAutoFit/>
          </a:bodyPr>
          <a:lstStyle/>
          <a:p>
            <a:pPr algn="l"/>
            <a:r>
              <a:rPr sz="1400" b="0" dirty="0" err="1">
                <a:solidFill>
                  <a:srgbClr val="64748B"/>
                </a:solidFill>
                <a:latin typeface="Aptos"/>
              </a:rPr>
              <a:t>Conformes</a:t>
            </a:r>
            <a:r>
              <a:rPr sz="1400" b="0" dirty="0">
                <a:solidFill>
                  <a:srgbClr val="64748B"/>
                </a:solidFill>
                <a:latin typeface="Aptos"/>
              </a:rPr>
              <a:t> aux </a:t>
            </a:r>
            <a:r>
              <a:rPr sz="1400" b="0" dirty="0" err="1">
                <a:solidFill>
                  <a:srgbClr val="64748B"/>
                </a:solidFill>
                <a:latin typeface="Aptos"/>
              </a:rPr>
              <a:t>lignes</a:t>
            </a:r>
            <a:r>
              <a:rPr sz="1400" b="0" dirty="0">
                <a:solidFill>
                  <a:srgbClr val="64748B"/>
                </a:solidFill>
                <a:latin typeface="Aptos"/>
              </a:rPr>
              <a:t> 3 et 4 du syllabus : </a:t>
            </a:r>
            <a:r>
              <a:rPr sz="1400" b="0" dirty="0" err="1">
                <a:solidFill>
                  <a:srgbClr val="64748B"/>
                </a:solidFill>
                <a:latin typeface="Aptos"/>
              </a:rPr>
              <a:t>apprentissage</a:t>
            </a:r>
            <a:r>
              <a:rPr sz="1400" b="0" dirty="0">
                <a:solidFill>
                  <a:srgbClr val="64748B"/>
                </a:solidFill>
                <a:latin typeface="Aptos"/>
              </a:rPr>
              <a:t> </a:t>
            </a:r>
            <a:r>
              <a:rPr sz="1400" b="0" dirty="0" err="1">
                <a:solidFill>
                  <a:srgbClr val="64748B"/>
                </a:solidFill>
                <a:latin typeface="Aptos"/>
              </a:rPr>
              <a:t>supervisé</a:t>
            </a:r>
            <a:r>
              <a:rPr sz="1400" b="0" dirty="0">
                <a:solidFill>
                  <a:srgbClr val="64748B"/>
                </a:solidFill>
                <a:latin typeface="Aptos"/>
              </a:rPr>
              <a:t> — </a:t>
            </a:r>
            <a:r>
              <a:rPr sz="1400" b="0" dirty="0" err="1">
                <a:solidFill>
                  <a:srgbClr val="64748B"/>
                </a:solidFill>
                <a:latin typeface="Aptos"/>
              </a:rPr>
              <a:t>régression</a:t>
            </a:r>
            <a:r>
              <a:rPr sz="1400" b="0" dirty="0">
                <a:solidFill>
                  <a:srgbClr val="64748B"/>
                </a:solidFill>
                <a:latin typeface="Aptos"/>
              </a:rPr>
              <a:t> </a:t>
            </a:r>
            <a:r>
              <a:rPr sz="1400" b="0" dirty="0" err="1">
                <a:solidFill>
                  <a:srgbClr val="64748B"/>
                </a:solidFill>
                <a:latin typeface="Aptos"/>
              </a:rPr>
              <a:t>puis</a:t>
            </a:r>
            <a:r>
              <a:rPr sz="1400" b="0" dirty="0">
                <a:solidFill>
                  <a:srgbClr val="64748B"/>
                </a:solidFill>
                <a:latin typeface="Aptos"/>
              </a:rPr>
              <a:t> classification.</a:t>
            </a:r>
          </a:p>
        </p:txBody>
      </p:sp>
      <p:sp>
        <p:nvSpPr>
          <p:cNvPr id="5" name="Rounded Rectangle 4"/>
          <p:cNvSpPr/>
          <p:nvPr/>
        </p:nvSpPr>
        <p:spPr>
          <a:xfrm>
            <a:off x="5029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67512" y="1719072"/>
            <a:ext cx="3291840" cy="307777"/>
          </a:xfrm>
          <a:prstGeom prst="rect">
            <a:avLst/>
          </a:prstGeom>
          <a:noFill/>
        </p:spPr>
        <p:txBody>
          <a:bodyPr wrap="square">
            <a:spAutoFit/>
          </a:bodyPr>
          <a:lstStyle/>
          <a:p>
            <a:pPr algn="l"/>
            <a:r>
              <a:rPr sz="1400" b="1">
                <a:solidFill>
                  <a:srgbClr val="123153"/>
                </a:solidFill>
                <a:latin typeface="Aptos"/>
              </a:rPr>
              <a:t>Comprendre</a:t>
            </a:r>
          </a:p>
        </p:txBody>
      </p:sp>
      <p:sp>
        <p:nvSpPr>
          <p:cNvPr id="8" name="TextBox 7"/>
          <p:cNvSpPr txBox="1"/>
          <p:nvPr/>
        </p:nvSpPr>
        <p:spPr>
          <a:xfrm>
            <a:off x="685800" y="2157984"/>
            <a:ext cx="3227832" cy="256032"/>
          </a:xfrm>
          <a:prstGeom prst="rect">
            <a:avLst/>
          </a:prstGeom>
          <a:noFill/>
        </p:spPr>
        <p:txBody>
          <a:bodyPr wrap="square">
            <a:spAutoFit/>
          </a:bodyPr>
          <a:lstStyle/>
          <a:p>
            <a:pPr algn="l"/>
            <a:r>
              <a:rPr sz="1050" b="0">
                <a:solidFill>
                  <a:srgbClr val="232D3A"/>
                </a:solidFill>
                <a:latin typeface="Aptos"/>
              </a:rPr>
              <a:t>• formuler X et y</a:t>
            </a:r>
          </a:p>
        </p:txBody>
      </p:sp>
      <p:sp>
        <p:nvSpPr>
          <p:cNvPr id="9" name="TextBox 8"/>
          <p:cNvSpPr txBox="1"/>
          <p:nvPr/>
        </p:nvSpPr>
        <p:spPr>
          <a:xfrm>
            <a:off x="685800" y="2468879"/>
            <a:ext cx="3227832" cy="256032"/>
          </a:xfrm>
          <a:prstGeom prst="rect">
            <a:avLst/>
          </a:prstGeom>
          <a:noFill/>
        </p:spPr>
        <p:txBody>
          <a:bodyPr wrap="square">
            <a:spAutoFit/>
          </a:bodyPr>
          <a:lstStyle/>
          <a:p>
            <a:pPr algn="l"/>
            <a:r>
              <a:rPr sz="1050" b="0">
                <a:solidFill>
                  <a:srgbClr val="232D3A"/>
                </a:solidFill>
                <a:latin typeface="Aptos"/>
              </a:rPr>
              <a:t>• distinguer régression / classification</a:t>
            </a:r>
          </a:p>
        </p:txBody>
      </p:sp>
      <p:sp>
        <p:nvSpPr>
          <p:cNvPr id="10" name="TextBox 9"/>
          <p:cNvSpPr txBox="1"/>
          <p:nvPr/>
        </p:nvSpPr>
        <p:spPr>
          <a:xfrm>
            <a:off x="685800" y="2779775"/>
            <a:ext cx="3227832" cy="256032"/>
          </a:xfrm>
          <a:prstGeom prst="rect">
            <a:avLst/>
          </a:prstGeom>
          <a:noFill/>
        </p:spPr>
        <p:txBody>
          <a:bodyPr wrap="square">
            <a:spAutoFit/>
          </a:bodyPr>
          <a:lstStyle/>
          <a:p>
            <a:pPr algn="l"/>
            <a:r>
              <a:rPr sz="1050" b="0">
                <a:solidFill>
                  <a:srgbClr val="232D3A"/>
                </a:solidFill>
                <a:latin typeface="Aptos"/>
              </a:rPr>
              <a:t>• lier modèle, sortie et décision</a:t>
            </a:r>
          </a:p>
        </p:txBody>
      </p:sp>
      <p:sp>
        <p:nvSpPr>
          <p:cNvPr id="11" name="Rounded Rectangle 10"/>
          <p:cNvSpPr/>
          <p:nvPr/>
        </p:nvSpPr>
        <p:spPr>
          <a:xfrm>
            <a:off x="43891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5544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4553712" y="1719072"/>
            <a:ext cx="3291840" cy="307777"/>
          </a:xfrm>
          <a:prstGeom prst="rect">
            <a:avLst/>
          </a:prstGeom>
          <a:noFill/>
        </p:spPr>
        <p:txBody>
          <a:bodyPr wrap="square">
            <a:spAutoFit/>
          </a:bodyPr>
          <a:lstStyle/>
          <a:p>
            <a:pPr algn="l"/>
            <a:r>
              <a:rPr sz="1400" b="1">
                <a:solidFill>
                  <a:srgbClr val="123153"/>
                </a:solidFill>
                <a:latin typeface="Aptos"/>
              </a:rPr>
              <a:t>Mettre en œuvre</a:t>
            </a:r>
          </a:p>
        </p:txBody>
      </p:sp>
      <p:sp>
        <p:nvSpPr>
          <p:cNvPr id="14" name="TextBox 13"/>
          <p:cNvSpPr txBox="1"/>
          <p:nvPr/>
        </p:nvSpPr>
        <p:spPr>
          <a:xfrm>
            <a:off x="4572000" y="2157984"/>
            <a:ext cx="3227832" cy="256032"/>
          </a:xfrm>
          <a:prstGeom prst="rect">
            <a:avLst/>
          </a:prstGeom>
          <a:noFill/>
        </p:spPr>
        <p:txBody>
          <a:bodyPr wrap="square">
            <a:spAutoFit/>
          </a:bodyPr>
          <a:lstStyle/>
          <a:p>
            <a:pPr algn="l"/>
            <a:r>
              <a:rPr sz="1050" b="0">
                <a:solidFill>
                  <a:srgbClr val="232D3A"/>
                </a:solidFill>
                <a:latin typeface="Aptos"/>
              </a:rPr>
              <a:t>• LinearRegression, PolynomialFeatures</a:t>
            </a:r>
          </a:p>
        </p:txBody>
      </p:sp>
      <p:sp>
        <p:nvSpPr>
          <p:cNvPr id="15" name="TextBox 14"/>
          <p:cNvSpPr txBox="1"/>
          <p:nvPr/>
        </p:nvSpPr>
        <p:spPr>
          <a:xfrm>
            <a:off x="4572000" y="2468879"/>
            <a:ext cx="3227832" cy="256032"/>
          </a:xfrm>
          <a:prstGeom prst="rect">
            <a:avLst/>
          </a:prstGeom>
          <a:noFill/>
        </p:spPr>
        <p:txBody>
          <a:bodyPr wrap="square">
            <a:spAutoFit/>
          </a:bodyPr>
          <a:lstStyle/>
          <a:p>
            <a:pPr algn="l"/>
            <a:r>
              <a:rPr sz="1050" b="0">
                <a:solidFill>
                  <a:srgbClr val="232D3A"/>
                </a:solidFill>
                <a:latin typeface="Aptos"/>
              </a:rPr>
              <a:t>• Ridge / Lasso</a:t>
            </a:r>
          </a:p>
        </p:txBody>
      </p:sp>
      <p:sp>
        <p:nvSpPr>
          <p:cNvPr id="16" name="TextBox 15"/>
          <p:cNvSpPr txBox="1"/>
          <p:nvPr/>
        </p:nvSpPr>
        <p:spPr>
          <a:xfrm>
            <a:off x="4572000" y="2779775"/>
            <a:ext cx="3227832" cy="256032"/>
          </a:xfrm>
          <a:prstGeom prst="rect">
            <a:avLst/>
          </a:prstGeom>
          <a:noFill/>
        </p:spPr>
        <p:txBody>
          <a:bodyPr wrap="square">
            <a:spAutoFit/>
          </a:bodyPr>
          <a:lstStyle/>
          <a:p>
            <a:pPr algn="l"/>
            <a:r>
              <a:rPr sz="1050" b="0">
                <a:solidFill>
                  <a:srgbClr val="232D3A"/>
                </a:solidFill>
                <a:latin typeface="Aptos"/>
              </a:rPr>
              <a:t>• LogisticRegression, k-NN, arbre, SVM</a:t>
            </a:r>
          </a:p>
        </p:txBody>
      </p:sp>
      <p:sp>
        <p:nvSpPr>
          <p:cNvPr id="17" name="Rounded Rectangle 16"/>
          <p:cNvSpPr/>
          <p:nvPr/>
        </p:nvSpPr>
        <p:spPr>
          <a:xfrm>
            <a:off x="82753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15544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TextBox 18"/>
          <p:cNvSpPr txBox="1"/>
          <p:nvPr/>
        </p:nvSpPr>
        <p:spPr>
          <a:xfrm>
            <a:off x="8439912" y="1719072"/>
            <a:ext cx="3291840" cy="307777"/>
          </a:xfrm>
          <a:prstGeom prst="rect">
            <a:avLst/>
          </a:prstGeom>
          <a:noFill/>
        </p:spPr>
        <p:txBody>
          <a:bodyPr wrap="square">
            <a:spAutoFit/>
          </a:bodyPr>
          <a:lstStyle/>
          <a:p>
            <a:pPr algn="l"/>
            <a:r>
              <a:rPr sz="1400" b="1">
                <a:solidFill>
                  <a:srgbClr val="123153"/>
                </a:solidFill>
                <a:latin typeface="Aptos"/>
              </a:rPr>
              <a:t>Évaluer</a:t>
            </a:r>
          </a:p>
        </p:txBody>
      </p:sp>
      <p:sp>
        <p:nvSpPr>
          <p:cNvPr id="20" name="TextBox 19"/>
          <p:cNvSpPr txBox="1"/>
          <p:nvPr/>
        </p:nvSpPr>
        <p:spPr>
          <a:xfrm>
            <a:off x="8458200" y="2157984"/>
            <a:ext cx="3227832" cy="256032"/>
          </a:xfrm>
          <a:prstGeom prst="rect">
            <a:avLst/>
          </a:prstGeom>
          <a:noFill/>
        </p:spPr>
        <p:txBody>
          <a:bodyPr wrap="square">
            <a:spAutoFit/>
          </a:bodyPr>
          <a:lstStyle/>
          <a:p>
            <a:pPr algn="l"/>
            <a:r>
              <a:rPr sz="1050" b="0">
                <a:solidFill>
                  <a:srgbClr val="232D3A"/>
                </a:solidFill>
                <a:latin typeface="Aptos"/>
              </a:rPr>
              <a:t>• MSE / RMSE / R²</a:t>
            </a:r>
          </a:p>
        </p:txBody>
      </p:sp>
      <p:sp>
        <p:nvSpPr>
          <p:cNvPr id="21" name="TextBox 20"/>
          <p:cNvSpPr txBox="1"/>
          <p:nvPr/>
        </p:nvSpPr>
        <p:spPr>
          <a:xfrm>
            <a:off x="8458200" y="2468879"/>
            <a:ext cx="3227832" cy="256032"/>
          </a:xfrm>
          <a:prstGeom prst="rect">
            <a:avLst/>
          </a:prstGeom>
          <a:noFill/>
        </p:spPr>
        <p:txBody>
          <a:bodyPr wrap="square">
            <a:spAutoFit/>
          </a:bodyPr>
          <a:lstStyle/>
          <a:p>
            <a:pPr algn="l"/>
            <a:r>
              <a:rPr sz="1050" b="0">
                <a:solidFill>
                  <a:srgbClr val="232D3A"/>
                </a:solidFill>
                <a:latin typeface="Aptos"/>
              </a:rPr>
              <a:t>• confusion matrix</a:t>
            </a:r>
          </a:p>
        </p:txBody>
      </p:sp>
      <p:sp>
        <p:nvSpPr>
          <p:cNvPr id="22" name="TextBox 21"/>
          <p:cNvSpPr txBox="1"/>
          <p:nvPr/>
        </p:nvSpPr>
        <p:spPr>
          <a:xfrm>
            <a:off x="8458200" y="2779775"/>
            <a:ext cx="3227832" cy="256032"/>
          </a:xfrm>
          <a:prstGeom prst="rect">
            <a:avLst/>
          </a:prstGeom>
          <a:noFill/>
        </p:spPr>
        <p:txBody>
          <a:bodyPr wrap="square">
            <a:spAutoFit/>
          </a:bodyPr>
          <a:lstStyle/>
          <a:p>
            <a:pPr algn="l"/>
            <a:r>
              <a:rPr sz="1050" b="0">
                <a:solidFill>
                  <a:srgbClr val="232D3A"/>
                </a:solidFill>
                <a:latin typeface="Aptos"/>
              </a:rPr>
              <a:t>• precision / recall / F1 / ROC-AUC</a:t>
            </a:r>
          </a:p>
        </p:txBody>
      </p:sp>
      <p:sp>
        <p:nvSpPr>
          <p:cNvPr id="23" name="Rectangle 2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DÉROULÉ</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Jour 2 — déroulement complet des 6 heures</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Les deux blocs du syllabus sont consommés progressivement avec démonstrations, pratiques et TP.</a:t>
            </a:r>
          </a:p>
        </p:txBody>
      </p:sp>
      <p:sp>
        <p:nvSpPr>
          <p:cNvPr id="5" name="TextBox 4"/>
          <p:cNvSpPr txBox="1"/>
          <p:nvPr/>
        </p:nvSpPr>
        <p:spPr>
          <a:xfrm>
            <a:off x="914400" y="1600200"/>
            <a:ext cx="914400" cy="228600"/>
          </a:xfrm>
          <a:prstGeom prst="rect">
            <a:avLst/>
          </a:prstGeom>
          <a:noFill/>
        </p:spPr>
        <p:txBody>
          <a:bodyPr wrap="square">
            <a:spAutoFit/>
          </a:bodyPr>
          <a:lstStyle/>
          <a:p>
            <a:pPr algn="l"/>
            <a:r>
              <a:rPr sz="1100" b="1">
                <a:solidFill>
                  <a:srgbClr val="2563EB"/>
                </a:solidFill>
                <a:latin typeface="Aptos"/>
              </a:rPr>
              <a:t>09:00</a:t>
            </a:r>
          </a:p>
        </p:txBody>
      </p:sp>
      <p:sp>
        <p:nvSpPr>
          <p:cNvPr id="6" name="TextBox 5"/>
          <p:cNvSpPr txBox="1"/>
          <p:nvPr/>
        </p:nvSpPr>
        <p:spPr>
          <a:xfrm>
            <a:off x="1828800" y="1600200"/>
            <a:ext cx="9144000" cy="228600"/>
          </a:xfrm>
          <a:prstGeom prst="rect">
            <a:avLst/>
          </a:prstGeom>
          <a:noFill/>
        </p:spPr>
        <p:txBody>
          <a:bodyPr wrap="square">
            <a:spAutoFit/>
          </a:bodyPr>
          <a:lstStyle/>
          <a:p>
            <a:pPr algn="l"/>
            <a:r>
              <a:rPr sz="1080" b="0">
                <a:solidFill>
                  <a:srgbClr val="232D3A"/>
                </a:solidFill>
                <a:latin typeface="Aptos"/>
              </a:rPr>
              <a:t>Rappel J1 : base propre + X/y + split</a:t>
            </a:r>
          </a:p>
        </p:txBody>
      </p:sp>
      <p:sp>
        <p:nvSpPr>
          <p:cNvPr id="7" name="TextBox 6"/>
          <p:cNvSpPr txBox="1"/>
          <p:nvPr/>
        </p:nvSpPr>
        <p:spPr>
          <a:xfrm>
            <a:off x="914400" y="2039112"/>
            <a:ext cx="914400" cy="228600"/>
          </a:xfrm>
          <a:prstGeom prst="rect">
            <a:avLst/>
          </a:prstGeom>
          <a:noFill/>
        </p:spPr>
        <p:txBody>
          <a:bodyPr wrap="square">
            <a:spAutoFit/>
          </a:bodyPr>
          <a:lstStyle/>
          <a:p>
            <a:pPr algn="l"/>
            <a:r>
              <a:rPr sz="1100" b="1">
                <a:solidFill>
                  <a:srgbClr val="2563EB"/>
                </a:solidFill>
                <a:latin typeface="Aptos"/>
              </a:rPr>
              <a:t>09:30</a:t>
            </a:r>
          </a:p>
        </p:txBody>
      </p:sp>
      <p:sp>
        <p:nvSpPr>
          <p:cNvPr id="8" name="TextBox 7"/>
          <p:cNvSpPr txBox="1"/>
          <p:nvPr/>
        </p:nvSpPr>
        <p:spPr>
          <a:xfrm>
            <a:off x="1828800" y="2039112"/>
            <a:ext cx="9144000" cy="228600"/>
          </a:xfrm>
          <a:prstGeom prst="rect">
            <a:avLst/>
          </a:prstGeom>
          <a:noFill/>
        </p:spPr>
        <p:txBody>
          <a:bodyPr wrap="square">
            <a:spAutoFit/>
          </a:bodyPr>
          <a:lstStyle/>
          <a:p>
            <a:pPr algn="l"/>
            <a:r>
              <a:rPr sz="1080" b="0">
                <a:solidFill>
                  <a:srgbClr val="232D3A"/>
                </a:solidFill>
                <a:latin typeface="Aptos"/>
              </a:rPr>
              <a:t>Régression linéaire : équation, coefficients, prédiction</a:t>
            </a:r>
          </a:p>
        </p:txBody>
      </p:sp>
      <p:sp>
        <p:nvSpPr>
          <p:cNvPr id="9" name="TextBox 8"/>
          <p:cNvSpPr txBox="1"/>
          <p:nvPr/>
        </p:nvSpPr>
        <p:spPr>
          <a:xfrm>
            <a:off x="914400" y="2478024"/>
            <a:ext cx="914400" cy="228600"/>
          </a:xfrm>
          <a:prstGeom prst="rect">
            <a:avLst/>
          </a:prstGeom>
          <a:noFill/>
        </p:spPr>
        <p:txBody>
          <a:bodyPr wrap="square">
            <a:spAutoFit/>
          </a:bodyPr>
          <a:lstStyle/>
          <a:p>
            <a:pPr algn="l"/>
            <a:r>
              <a:rPr sz="1100" b="1">
                <a:solidFill>
                  <a:srgbClr val="2563EB"/>
                </a:solidFill>
                <a:latin typeface="Aptos"/>
              </a:rPr>
              <a:t>10:15</a:t>
            </a:r>
          </a:p>
        </p:txBody>
      </p:sp>
      <p:sp>
        <p:nvSpPr>
          <p:cNvPr id="10" name="TextBox 9"/>
          <p:cNvSpPr txBox="1"/>
          <p:nvPr/>
        </p:nvSpPr>
        <p:spPr>
          <a:xfrm>
            <a:off x="1828800" y="2478024"/>
            <a:ext cx="9144000" cy="228600"/>
          </a:xfrm>
          <a:prstGeom prst="rect">
            <a:avLst/>
          </a:prstGeom>
          <a:noFill/>
        </p:spPr>
        <p:txBody>
          <a:bodyPr wrap="square">
            <a:spAutoFit/>
          </a:bodyPr>
          <a:lstStyle/>
          <a:p>
            <a:pPr algn="l"/>
            <a:r>
              <a:rPr sz="1080" b="0">
                <a:solidFill>
                  <a:srgbClr val="232D3A"/>
                </a:solidFill>
                <a:latin typeface="Aptos"/>
              </a:rPr>
              <a:t>Régression polynomiale + Ridge/Lasso</a:t>
            </a:r>
          </a:p>
        </p:txBody>
      </p:sp>
      <p:sp>
        <p:nvSpPr>
          <p:cNvPr id="11" name="TextBox 10"/>
          <p:cNvSpPr txBox="1"/>
          <p:nvPr/>
        </p:nvSpPr>
        <p:spPr>
          <a:xfrm>
            <a:off x="914400" y="2916936"/>
            <a:ext cx="914400" cy="228600"/>
          </a:xfrm>
          <a:prstGeom prst="rect">
            <a:avLst/>
          </a:prstGeom>
          <a:noFill/>
        </p:spPr>
        <p:txBody>
          <a:bodyPr wrap="square">
            <a:spAutoFit/>
          </a:bodyPr>
          <a:lstStyle/>
          <a:p>
            <a:pPr algn="l"/>
            <a:r>
              <a:rPr sz="1100" b="1">
                <a:solidFill>
                  <a:srgbClr val="2563EB"/>
                </a:solidFill>
                <a:latin typeface="Aptos"/>
              </a:rPr>
              <a:t>11:00</a:t>
            </a:r>
          </a:p>
        </p:txBody>
      </p:sp>
      <p:sp>
        <p:nvSpPr>
          <p:cNvPr id="12" name="TextBox 11"/>
          <p:cNvSpPr txBox="1"/>
          <p:nvPr/>
        </p:nvSpPr>
        <p:spPr>
          <a:xfrm>
            <a:off x="1828800" y="2916936"/>
            <a:ext cx="9144000" cy="228600"/>
          </a:xfrm>
          <a:prstGeom prst="rect">
            <a:avLst/>
          </a:prstGeom>
          <a:noFill/>
        </p:spPr>
        <p:txBody>
          <a:bodyPr wrap="square">
            <a:spAutoFit/>
          </a:bodyPr>
          <a:lstStyle/>
          <a:p>
            <a:pPr algn="l"/>
            <a:r>
              <a:rPr sz="1080" b="0">
                <a:solidFill>
                  <a:srgbClr val="232D3A"/>
                </a:solidFill>
                <a:latin typeface="Aptos"/>
              </a:rPr>
              <a:t>MSE / RMSE / R² + démo scikit-learn</a:t>
            </a:r>
          </a:p>
        </p:txBody>
      </p:sp>
      <p:sp>
        <p:nvSpPr>
          <p:cNvPr id="13" name="TextBox 12"/>
          <p:cNvSpPr txBox="1"/>
          <p:nvPr/>
        </p:nvSpPr>
        <p:spPr>
          <a:xfrm>
            <a:off x="914400" y="3355848"/>
            <a:ext cx="914400" cy="228600"/>
          </a:xfrm>
          <a:prstGeom prst="rect">
            <a:avLst/>
          </a:prstGeom>
          <a:noFill/>
        </p:spPr>
        <p:txBody>
          <a:bodyPr wrap="square">
            <a:spAutoFit/>
          </a:bodyPr>
          <a:lstStyle/>
          <a:p>
            <a:pPr algn="l"/>
            <a:r>
              <a:rPr sz="1100" b="1">
                <a:solidFill>
                  <a:srgbClr val="2563EB"/>
                </a:solidFill>
                <a:latin typeface="Aptos"/>
              </a:rPr>
              <a:t>13:30</a:t>
            </a:r>
          </a:p>
        </p:txBody>
      </p:sp>
      <p:sp>
        <p:nvSpPr>
          <p:cNvPr id="14" name="TextBox 13"/>
          <p:cNvSpPr txBox="1"/>
          <p:nvPr/>
        </p:nvSpPr>
        <p:spPr>
          <a:xfrm>
            <a:off x="1828800" y="3355848"/>
            <a:ext cx="9144000" cy="228600"/>
          </a:xfrm>
          <a:prstGeom prst="rect">
            <a:avLst/>
          </a:prstGeom>
          <a:noFill/>
        </p:spPr>
        <p:txBody>
          <a:bodyPr wrap="square">
            <a:spAutoFit/>
          </a:bodyPr>
          <a:lstStyle/>
          <a:p>
            <a:pPr algn="l"/>
            <a:r>
              <a:rPr sz="1080" b="0">
                <a:solidFill>
                  <a:srgbClr val="232D3A"/>
                </a:solidFill>
                <a:latin typeface="Aptos"/>
              </a:rPr>
              <a:t>Classification : classes, probabilité, seuil</a:t>
            </a:r>
          </a:p>
        </p:txBody>
      </p:sp>
      <p:sp>
        <p:nvSpPr>
          <p:cNvPr id="15" name="TextBox 14"/>
          <p:cNvSpPr txBox="1"/>
          <p:nvPr/>
        </p:nvSpPr>
        <p:spPr>
          <a:xfrm>
            <a:off x="914400" y="3794760"/>
            <a:ext cx="914400" cy="228600"/>
          </a:xfrm>
          <a:prstGeom prst="rect">
            <a:avLst/>
          </a:prstGeom>
          <a:noFill/>
        </p:spPr>
        <p:txBody>
          <a:bodyPr wrap="square">
            <a:spAutoFit/>
          </a:bodyPr>
          <a:lstStyle/>
          <a:p>
            <a:pPr algn="l"/>
            <a:r>
              <a:rPr sz="1100" b="1">
                <a:solidFill>
                  <a:srgbClr val="2563EB"/>
                </a:solidFill>
                <a:latin typeface="Aptos"/>
              </a:rPr>
              <a:t>14:00</a:t>
            </a:r>
          </a:p>
        </p:txBody>
      </p:sp>
      <p:sp>
        <p:nvSpPr>
          <p:cNvPr id="16" name="TextBox 15"/>
          <p:cNvSpPr txBox="1"/>
          <p:nvPr/>
        </p:nvSpPr>
        <p:spPr>
          <a:xfrm>
            <a:off x="1828800" y="3794760"/>
            <a:ext cx="9144000" cy="228600"/>
          </a:xfrm>
          <a:prstGeom prst="rect">
            <a:avLst/>
          </a:prstGeom>
          <a:noFill/>
        </p:spPr>
        <p:txBody>
          <a:bodyPr wrap="square">
            <a:spAutoFit/>
          </a:bodyPr>
          <a:lstStyle/>
          <a:p>
            <a:pPr algn="l"/>
            <a:r>
              <a:rPr sz="1080" b="0">
                <a:solidFill>
                  <a:srgbClr val="232D3A"/>
                </a:solidFill>
                <a:latin typeface="Aptos"/>
              </a:rPr>
              <a:t>Régression logistique, k-NN, arbre, SVM</a:t>
            </a:r>
          </a:p>
        </p:txBody>
      </p:sp>
      <p:sp>
        <p:nvSpPr>
          <p:cNvPr id="17" name="TextBox 16"/>
          <p:cNvSpPr txBox="1"/>
          <p:nvPr/>
        </p:nvSpPr>
        <p:spPr>
          <a:xfrm>
            <a:off x="914400" y="4233672"/>
            <a:ext cx="914400" cy="228600"/>
          </a:xfrm>
          <a:prstGeom prst="rect">
            <a:avLst/>
          </a:prstGeom>
          <a:noFill/>
        </p:spPr>
        <p:txBody>
          <a:bodyPr wrap="square">
            <a:spAutoFit/>
          </a:bodyPr>
          <a:lstStyle/>
          <a:p>
            <a:pPr algn="l"/>
            <a:r>
              <a:rPr sz="1100" b="1">
                <a:solidFill>
                  <a:srgbClr val="2563EB"/>
                </a:solidFill>
                <a:latin typeface="Aptos"/>
              </a:rPr>
              <a:t>15:00</a:t>
            </a:r>
          </a:p>
        </p:txBody>
      </p:sp>
      <p:sp>
        <p:nvSpPr>
          <p:cNvPr id="18" name="TextBox 17"/>
          <p:cNvSpPr txBox="1"/>
          <p:nvPr/>
        </p:nvSpPr>
        <p:spPr>
          <a:xfrm>
            <a:off x="1828800" y="4233672"/>
            <a:ext cx="9144000" cy="228600"/>
          </a:xfrm>
          <a:prstGeom prst="rect">
            <a:avLst/>
          </a:prstGeom>
          <a:noFill/>
        </p:spPr>
        <p:txBody>
          <a:bodyPr wrap="square">
            <a:spAutoFit/>
          </a:bodyPr>
          <a:lstStyle/>
          <a:p>
            <a:pPr algn="l"/>
            <a:r>
              <a:rPr sz="1080" b="0">
                <a:solidFill>
                  <a:srgbClr val="232D3A"/>
                </a:solidFill>
                <a:latin typeface="Aptos"/>
              </a:rPr>
              <a:t>Matrice de confusion, precision/recall/F1, ROC-AUC</a:t>
            </a:r>
          </a:p>
        </p:txBody>
      </p:sp>
      <p:sp>
        <p:nvSpPr>
          <p:cNvPr id="19" name="TextBox 18"/>
          <p:cNvSpPr txBox="1"/>
          <p:nvPr/>
        </p:nvSpPr>
        <p:spPr>
          <a:xfrm>
            <a:off x="914400" y="4672584"/>
            <a:ext cx="914400" cy="228600"/>
          </a:xfrm>
          <a:prstGeom prst="rect">
            <a:avLst/>
          </a:prstGeom>
          <a:noFill/>
        </p:spPr>
        <p:txBody>
          <a:bodyPr wrap="square">
            <a:spAutoFit/>
          </a:bodyPr>
          <a:lstStyle/>
          <a:p>
            <a:pPr algn="l"/>
            <a:r>
              <a:rPr sz="1100" b="1">
                <a:solidFill>
                  <a:srgbClr val="2563EB"/>
                </a:solidFill>
                <a:latin typeface="Aptos"/>
              </a:rPr>
              <a:t>16:00</a:t>
            </a:r>
          </a:p>
        </p:txBody>
      </p:sp>
      <p:sp>
        <p:nvSpPr>
          <p:cNvPr id="20" name="TextBox 19"/>
          <p:cNvSpPr txBox="1"/>
          <p:nvPr/>
        </p:nvSpPr>
        <p:spPr>
          <a:xfrm>
            <a:off x="1828800" y="4672584"/>
            <a:ext cx="9144000" cy="228600"/>
          </a:xfrm>
          <a:prstGeom prst="rect">
            <a:avLst/>
          </a:prstGeom>
          <a:noFill/>
        </p:spPr>
        <p:txBody>
          <a:bodyPr wrap="square">
            <a:spAutoFit/>
          </a:bodyPr>
          <a:lstStyle/>
          <a:p>
            <a:pPr algn="l"/>
            <a:r>
              <a:rPr sz="1080" b="0">
                <a:solidFill>
                  <a:srgbClr val="232D3A"/>
                </a:solidFill>
                <a:latin typeface="Aptos"/>
              </a:rPr>
              <a:t>TP comparatif : régression + classification</a:t>
            </a:r>
          </a:p>
        </p:txBody>
      </p:sp>
      <p:sp>
        <p:nvSpPr>
          <p:cNvPr id="21" name="TextBox 20"/>
          <p:cNvSpPr txBox="1"/>
          <p:nvPr/>
        </p:nvSpPr>
        <p:spPr>
          <a:xfrm>
            <a:off x="914400" y="5111496"/>
            <a:ext cx="914400" cy="228600"/>
          </a:xfrm>
          <a:prstGeom prst="rect">
            <a:avLst/>
          </a:prstGeom>
          <a:noFill/>
        </p:spPr>
        <p:txBody>
          <a:bodyPr wrap="square">
            <a:spAutoFit/>
          </a:bodyPr>
          <a:lstStyle/>
          <a:p>
            <a:pPr algn="l"/>
            <a:r>
              <a:rPr sz="1100" b="1">
                <a:solidFill>
                  <a:srgbClr val="2563EB"/>
                </a:solidFill>
                <a:latin typeface="Aptos"/>
              </a:rPr>
              <a:t>16:50</a:t>
            </a:r>
          </a:p>
        </p:txBody>
      </p:sp>
      <p:sp>
        <p:nvSpPr>
          <p:cNvPr id="22" name="TextBox 21"/>
          <p:cNvSpPr txBox="1"/>
          <p:nvPr/>
        </p:nvSpPr>
        <p:spPr>
          <a:xfrm>
            <a:off x="1828800" y="5111496"/>
            <a:ext cx="9144000" cy="228600"/>
          </a:xfrm>
          <a:prstGeom prst="rect">
            <a:avLst/>
          </a:prstGeom>
          <a:noFill/>
        </p:spPr>
        <p:txBody>
          <a:bodyPr wrap="square">
            <a:spAutoFit/>
          </a:bodyPr>
          <a:lstStyle/>
          <a:p>
            <a:pPr algn="l"/>
            <a:r>
              <a:rPr sz="1080" b="0">
                <a:solidFill>
                  <a:srgbClr val="232D3A"/>
                </a:solidFill>
                <a:latin typeface="Aptos"/>
              </a:rPr>
              <a:t>Restitution, correction rapide et QCM</a:t>
            </a:r>
          </a:p>
        </p:txBody>
      </p:sp>
      <p:sp>
        <p:nvSpPr>
          <p:cNvPr id="23" name="Rounded Rectangle 22"/>
          <p:cNvSpPr/>
          <p:nvPr/>
        </p:nvSpPr>
        <p:spPr>
          <a:xfrm>
            <a:off x="804672" y="5623560"/>
            <a:ext cx="10789920" cy="502920"/>
          </a:xfrm>
          <a:prstGeom prst="roundRect">
            <a:avLst/>
          </a:prstGeom>
          <a:solidFill>
            <a:srgbClr val="FFF6CC"/>
          </a:solidFill>
          <a:ln>
            <a:solidFill>
              <a:srgbClr val="FFF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 y="5769864"/>
            <a:ext cx="10424160" cy="201168"/>
          </a:xfrm>
          <a:prstGeom prst="rect">
            <a:avLst/>
          </a:prstGeom>
          <a:noFill/>
        </p:spPr>
        <p:txBody>
          <a:bodyPr wrap="square">
            <a:spAutoFit/>
          </a:bodyPr>
          <a:lstStyle/>
          <a:p>
            <a:pPr algn="ctr"/>
            <a:r>
              <a:rPr sz="1000" b="1">
                <a:solidFill>
                  <a:srgbClr val="232D3A"/>
                </a:solidFill>
                <a:latin typeface="Aptos"/>
              </a:rPr>
              <a:t>Principe : chaque modèle est introduit par une intuition, puis relié au code et aux métriques.</a:t>
            </a: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21.png"/>
          <p:cNvPicPr>
            <a:picLocks noChangeAspect="1"/>
          </p:cNvPicPr>
          <p:nvPr/>
        </p:nvPicPr>
        <p:blipFill>
          <a:blip r:embed="rId2"/>
          <a:stretch>
            <a:fillRect/>
          </a:stretch>
        </p:blipFill>
        <p:spPr>
          <a:xfrm>
            <a:off x="0" y="9832"/>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92608"/>
            <a:ext cx="2743200" cy="228600"/>
          </a:xfrm>
          <a:prstGeom prst="rect">
            <a:avLst/>
          </a:prstGeom>
          <a:noFill/>
        </p:spPr>
        <p:txBody>
          <a:bodyPr wrap="square" anchor="ctr">
            <a:spAutoFit/>
          </a:bodyPr>
          <a:lstStyle/>
          <a:p>
            <a:pPr algn="l">
              <a:defRPr sz="1000" b="1">
                <a:solidFill>
                  <a:srgbClr val="2D69E1"/>
                </a:solidFill>
              </a:defRPr>
            </a:pPr>
            <a:r>
              <a:t>RÉ-ÉCHANTILLONNAGE</a:t>
            </a:r>
          </a:p>
        </p:txBody>
      </p:sp>
      <p:sp>
        <p:nvSpPr>
          <p:cNvPr id="3" name="TextBox 2"/>
          <p:cNvSpPr txBox="1"/>
          <p:nvPr/>
        </p:nvSpPr>
        <p:spPr>
          <a:xfrm>
            <a:off x="685800" y="612648"/>
            <a:ext cx="10789920" cy="502920"/>
          </a:xfrm>
          <a:prstGeom prst="rect">
            <a:avLst/>
          </a:prstGeom>
          <a:noFill/>
        </p:spPr>
        <p:txBody>
          <a:bodyPr wrap="square" anchor="ctr">
            <a:spAutoFit/>
          </a:bodyPr>
          <a:lstStyle/>
          <a:p>
            <a:pPr algn="l">
              <a:defRPr sz="2300" b="1">
                <a:solidFill>
                  <a:srgbClr val="193A5E"/>
                </a:solidFill>
              </a:defRPr>
            </a:pPr>
            <a:r>
              <a:t>Train / Validation / Test : trois rôles différents</a:t>
            </a:r>
          </a:p>
        </p:txBody>
      </p:sp>
      <p:sp>
        <p:nvSpPr>
          <p:cNvPr id="4" name="Rounded Rectangle 3"/>
          <p:cNvSpPr/>
          <p:nvPr/>
        </p:nvSpPr>
        <p:spPr>
          <a:xfrm>
            <a:off x="896005" y="1600200"/>
            <a:ext cx="3154680" cy="25146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96005" y="1600200"/>
            <a:ext cx="54864" cy="251460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613" y="1847088"/>
            <a:ext cx="2606040" cy="347472"/>
          </a:xfrm>
          <a:prstGeom prst="rect">
            <a:avLst/>
          </a:prstGeom>
          <a:noFill/>
        </p:spPr>
        <p:txBody>
          <a:bodyPr wrap="square" anchor="ctr">
            <a:spAutoFit/>
          </a:bodyPr>
          <a:lstStyle/>
          <a:p>
            <a:pPr algn="l">
              <a:defRPr sz="1500" b="1">
                <a:solidFill>
                  <a:srgbClr val="193A5E"/>
                </a:solidFill>
              </a:defRPr>
            </a:pPr>
            <a:r>
              <a:t>1 — TRAIN</a:t>
            </a:r>
          </a:p>
        </p:txBody>
      </p:sp>
      <p:sp>
        <p:nvSpPr>
          <p:cNvPr id="7" name="TextBox 6"/>
          <p:cNvSpPr txBox="1"/>
          <p:nvPr/>
        </p:nvSpPr>
        <p:spPr>
          <a:xfrm>
            <a:off x="1188613" y="2542032"/>
            <a:ext cx="2606040" cy="384048"/>
          </a:xfrm>
          <a:prstGeom prst="rect">
            <a:avLst/>
          </a:prstGeom>
          <a:noFill/>
        </p:spPr>
        <p:txBody>
          <a:bodyPr wrap="square" anchor="ctr">
            <a:spAutoFit/>
          </a:bodyPr>
          <a:lstStyle/>
          <a:p>
            <a:pPr algn="ctr">
              <a:defRPr sz="1700" b="1">
                <a:solidFill>
                  <a:srgbClr val="2D69E1"/>
                </a:solidFill>
              </a:defRPr>
            </a:pPr>
            <a:r>
              <a:t>Apprendre</a:t>
            </a:r>
          </a:p>
        </p:txBody>
      </p:sp>
      <p:sp>
        <p:nvSpPr>
          <p:cNvPr id="8" name="TextBox 7"/>
          <p:cNvSpPr txBox="1"/>
          <p:nvPr/>
        </p:nvSpPr>
        <p:spPr>
          <a:xfrm>
            <a:off x="1188613" y="3182112"/>
            <a:ext cx="2606040" cy="502920"/>
          </a:xfrm>
          <a:prstGeom prst="rect">
            <a:avLst/>
          </a:prstGeom>
          <a:noFill/>
        </p:spPr>
        <p:txBody>
          <a:bodyPr wrap="square" anchor="ctr">
            <a:spAutoFit/>
          </a:bodyPr>
          <a:lstStyle/>
          <a:p>
            <a:pPr algn="ctr">
              <a:defRPr sz="1180" b="0">
                <a:solidFill>
                  <a:srgbClr val="374150"/>
                </a:solidFill>
              </a:defRPr>
            </a:pPr>
            <a:r>
              <a:t>Ajuster le modèle et le preprocessing</a:t>
            </a:r>
          </a:p>
        </p:txBody>
      </p:sp>
      <p:sp>
        <p:nvSpPr>
          <p:cNvPr id="9" name="Rounded Rectangle 8"/>
          <p:cNvSpPr/>
          <p:nvPr/>
        </p:nvSpPr>
        <p:spPr>
          <a:xfrm>
            <a:off x="4370725" y="1600200"/>
            <a:ext cx="3154680" cy="25146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70725" y="1600200"/>
            <a:ext cx="54864" cy="251460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333" y="1847088"/>
            <a:ext cx="2606040" cy="347472"/>
          </a:xfrm>
          <a:prstGeom prst="rect">
            <a:avLst/>
          </a:prstGeom>
          <a:noFill/>
        </p:spPr>
        <p:txBody>
          <a:bodyPr wrap="square" anchor="ctr">
            <a:spAutoFit/>
          </a:bodyPr>
          <a:lstStyle/>
          <a:p>
            <a:pPr algn="l">
              <a:defRPr sz="1500" b="1">
                <a:solidFill>
                  <a:srgbClr val="193A5E"/>
                </a:solidFill>
              </a:defRPr>
            </a:pPr>
            <a:r>
              <a:t>2 — VALIDATION / CV</a:t>
            </a:r>
          </a:p>
        </p:txBody>
      </p:sp>
      <p:sp>
        <p:nvSpPr>
          <p:cNvPr id="12" name="TextBox 11"/>
          <p:cNvSpPr txBox="1"/>
          <p:nvPr/>
        </p:nvSpPr>
        <p:spPr>
          <a:xfrm>
            <a:off x="4663333" y="2542032"/>
            <a:ext cx="2606040" cy="384048"/>
          </a:xfrm>
          <a:prstGeom prst="rect">
            <a:avLst/>
          </a:prstGeom>
          <a:noFill/>
        </p:spPr>
        <p:txBody>
          <a:bodyPr wrap="square" anchor="ctr">
            <a:spAutoFit/>
          </a:bodyPr>
          <a:lstStyle/>
          <a:p>
            <a:pPr algn="ctr">
              <a:defRPr sz="1700" b="1">
                <a:solidFill>
                  <a:srgbClr val="F57018"/>
                </a:solidFill>
              </a:defRPr>
            </a:pPr>
            <a:r>
              <a:t>Choisir</a:t>
            </a:r>
          </a:p>
        </p:txBody>
      </p:sp>
      <p:sp>
        <p:nvSpPr>
          <p:cNvPr id="13" name="TextBox 12"/>
          <p:cNvSpPr txBox="1"/>
          <p:nvPr/>
        </p:nvSpPr>
        <p:spPr>
          <a:xfrm>
            <a:off x="4663333" y="3182112"/>
            <a:ext cx="2606040" cy="502920"/>
          </a:xfrm>
          <a:prstGeom prst="rect">
            <a:avLst/>
          </a:prstGeom>
          <a:noFill/>
        </p:spPr>
        <p:txBody>
          <a:bodyPr wrap="square" anchor="ctr">
            <a:spAutoFit/>
          </a:bodyPr>
          <a:lstStyle/>
          <a:p>
            <a:pPr algn="ctr">
              <a:defRPr sz="1180" b="0">
                <a:solidFill>
                  <a:srgbClr val="374150"/>
                </a:solidFill>
              </a:defRPr>
            </a:pPr>
            <a:r>
              <a:t>Comparer modèles et hyperparamètres</a:t>
            </a:r>
          </a:p>
        </p:txBody>
      </p:sp>
      <p:sp>
        <p:nvSpPr>
          <p:cNvPr id="14" name="Rounded Rectangle 13"/>
          <p:cNvSpPr/>
          <p:nvPr/>
        </p:nvSpPr>
        <p:spPr>
          <a:xfrm>
            <a:off x="7845445" y="1600200"/>
            <a:ext cx="3154680" cy="25146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45445" y="1600200"/>
            <a:ext cx="54864" cy="251460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053" y="1847088"/>
            <a:ext cx="2606040" cy="347472"/>
          </a:xfrm>
          <a:prstGeom prst="rect">
            <a:avLst/>
          </a:prstGeom>
          <a:noFill/>
        </p:spPr>
        <p:txBody>
          <a:bodyPr wrap="square" anchor="ctr">
            <a:spAutoFit/>
          </a:bodyPr>
          <a:lstStyle/>
          <a:p>
            <a:pPr algn="l">
              <a:defRPr sz="1500" b="1">
                <a:solidFill>
                  <a:srgbClr val="193A5E"/>
                </a:solidFill>
              </a:defRPr>
            </a:pPr>
            <a:r>
              <a:t>3 — TEST</a:t>
            </a:r>
          </a:p>
        </p:txBody>
      </p:sp>
      <p:sp>
        <p:nvSpPr>
          <p:cNvPr id="17" name="TextBox 16"/>
          <p:cNvSpPr txBox="1"/>
          <p:nvPr/>
        </p:nvSpPr>
        <p:spPr>
          <a:xfrm>
            <a:off x="8138053" y="2542032"/>
            <a:ext cx="2606040" cy="384048"/>
          </a:xfrm>
          <a:prstGeom prst="rect">
            <a:avLst/>
          </a:prstGeom>
          <a:noFill/>
        </p:spPr>
        <p:txBody>
          <a:bodyPr wrap="square" anchor="ctr">
            <a:spAutoFit/>
          </a:bodyPr>
          <a:lstStyle/>
          <a:p>
            <a:pPr algn="ctr">
              <a:defRPr sz="1700" b="1">
                <a:solidFill>
                  <a:srgbClr val="5DB541"/>
                </a:solidFill>
              </a:defRPr>
            </a:pPr>
            <a:r>
              <a:t>Évaluer</a:t>
            </a:r>
          </a:p>
        </p:txBody>
      </p:sp>
      <p:sp>
        <p:nvSpPr>
          <p:cNvPr id="18" name="TextBox 17"/>
          <p:cNvSpPr txBox="1"/>
          <p:nvPr/>
        </p:nvSpPr>
        <p:spPr>
          <a:xfrm>
            <a:off x="8138053" y="3182112"/>
            <a:ext cx="2606040" cy="502920"/>
          </a:xfrm>
          <a:prstGeom prst="rect">
            <a:avLst/>
          </a:prstGeom>
          <a:noFill/>
        </p:spPr>
        <p:txBody>
          <a:bodyPr wrap="square" anchor="ctr">
            <a:spAutoFit/>
          </a:bodyPr>
          <a:lstStyle/>
          <a:p>
            <a:pPr algn="ctr">
              <a:defRPr sz="1180" b="0">
                <a:solidFill>
                  <a:srgbClr val="374150"/>
                </a:solidFill>
              </a:defRPr>
            </a:pPr>
            <a:r>
              <a:t>Mesurer la généralisation à la fin</a:t>
            </a:r>
          </a:p>
        </p:txBody>
      </p:sp>
      <p:sp>
        <p:nvSpPr>
          <p:cNvPr id="19" name="Rectangle 18"/>
          <p:cNvSpPr/>
          <p:nvPr/>
        </p:nvSpPr>
        <p:spPr>
          <a:xfrm>
            <a:off x="914400" y="4498848"/>
            <a:ext cx="7264907" cy="438912"/>
          </a:xfrm>
          <a:prstGeom prst="rect">
            <a:avLst/>
          </a:prstGeom>
          <a:solidFill>
            <a:srgbClr val="2D69E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498848"/>
            <a:ext cx="7264907" cy="438912"/>
          </a:xfrm>
          <a:prstGeom prst="rect">
            <a:avLst/>
          </a:prstGeom>
          <a:noFill/>
        </p:spPr>
        <p:txBody>
          <a:bodyPr wrap="square" anchor="ctr">
            <a:spAutoFit/>
          </a:bodyPr>
          <a:lstStyle/>
          <a:p>
            <a:pPr algn="ctr">
              <a:defRPr sz="1050" b="1">
                <a:solidFill>
                  <a:srgbClr val="FFFFFF"/>
                </a:solidFill>
              </a:defRPr>
            </a:pPr>
            <a:r>
              <a:t>TRAIN 70 %</a:t>
            </a:r>
          </a:p>
        </p:txBody>
      </p:sp>
      <p:sp>
        <p:nvSpPr>
          <p:cNvPr id="21" name="Rectangle 20"/>
          <p:cNvSpPr/>
          <p:nvPr/>
        </p:nvSpPr>
        <p:spPr>
          <a:xfrm>
            <a:off x="8179308" y="4498848"/>
            <a:ext cx="1556766" cy="438912"/>
          </a:xfrm>
          <a:prstGeom prst="rect">
            <a:avLst/>
          </a:prstGeom>
          <a:solidFill>
            <a:srgbClr val="F570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79308" y="4498848"/>
            <a:ext cx="1556766" cy="438912"/>
          </a:xfrm>
          <a:prstGeom prst="rect">
            <a:avLst/>
          </a:prstGeom>
          <a:noFill/>
        </p:spPr>
        <p:txBody>
          <a:bodyPr wrap="square" anchor="ctr">
            <a:spAutoFit/>
          </a:bodyPr>
          <a:lstStyle/>
          <a:p>
            <a:pPr algn="ctr">
              <a:defRPr sz="1050" b="1">
                <a:solidFill>
                  <a:srgbClr val="FFFFFF"/>
                </a:solidFill>
              </a:defRPr>
            </a:pPr>
            <a:r>
              <a:t>VALID. 15 %</a:t>
            </a:r>
          </a:p>
        </p:txBody>
      </p:sp>
      <p:sp>
        <p:nvSpPr>
          <p:cNvPr id="23" name="Rectangle 22"/>
          <p:cNvSpPr/>
          <p:nvPr/>
        </p:nvSpPr>
        <p:spPr>
          <a:xfrm>
            <a:off x="9736074" y="4498848"/>
            <a:ext cx="1556766" cy="438912"/>
          </a:xfrm>
          <a:prstGeom prst="rect">
            <a:avLst/>
          </a:prstGeom>
          <a:solidFill>
            <a:srgbClr val="5DB54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36074" y="4498848"/>
            <a:ext cx="1556766" cy="438912"/>
          </a:xfrm>
          <a:prstGeom prst="rect">
            <a:avLst/>
          </a:prstGeom>
          <a:noFill/>
        </p:spPr>
        <p:txBody>
          <a:bodyPr wrap="square" anchor="ctr">
            <a:spAutoFit/>
          </a:bodyPr>
          <a:lstStyle/>
          <a:p>
            <a:pPr algn="ctr">
              <a:defRPr sz="1050" b="1">
                <a:solidFill>
                  <a:srgbClr val="FFFFFF"/>
                </a:solidFill>
              </a:defRPr>
            </a:pPr>
            <a:r>
              <a:t>TEST 15 %</a:t>
            </a:r>
          </a:p>
        </p:txBody>
      </p:sp>
      <p:sp>
        <p:nvSpPr>
          <p:cNvPr id="25" name="Rounded Rectangle 24"/>
          <p:cNvSpPr/>
          <p:nvPr/>
        </p:nvSpPr>
        <p:spPr>
          <a:xfrm>
            <a:off x="1143000" y="5257800"/>
            <a:ext cx="9921240" cy="749808"/>
          </a:xfrm>
          <a:prstGeom prst="roundRect">
            <a:avLst/>
          </a:prstGeom>
          <a:solidFill>
            <a:srgbClr val="FFF7F7"/>
          </a:solidFill>
          <a:ln>
            <a:solidFill>
              <a:srgbClr val="D7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417320" y="5358384"/>
            <a:ext cx="9372600" cy="530352"/>
          </a:xfrm>
          <a:prstGeom prst="rect">
            <a:avLst/>
          </a:prstGeom>
          <a:noFill/>
        </p:spPr>
        <p:txBody>
          <a:bodyPr wrap="square" anchor="ctr">
            <a:spAutoFit/>
          </a:bodyPr>
          <a:lstStyle/>
          <a:p>
            <a:pPr algn="ctr">
              <a:defRPr sz="1350" b="1">
                <a:solidFill>
                  <a:srgbClr val="D73737"/>
                </a:solidFill>
              </a:defRPr>
            </a:pPr>
            <a:r>
              <a:t>À RETENIR : le TEST reste fermé jusqu’à l’évaluation finale.</a:t>
            </a:r>
          </a:p>
        </p:txBody>
      </p:sp>
      <p:sp>
        <p:nvSpPr>
          <p:cNvPr id="27" name="TextBox 26"/>
          <p:cNvSpPr txBox="1"/>
          <p:nvPr/>
        </p:nvSpPr>
        <p:spPr>
          <a:xfrm>
            <a:off x="685800" y="6492240"/>
            <a:ext cx="4572000" cy="164592"/>
          </a:xfrm>
          <a:prstGeom prst="rect">
            <a:avLst/>
          </a:prstGeom>
          <a:noFill/>
        </p:spPr>
        <p:txBody>
          <a:bodyPr wrap="square" anchor="ctr">
            <a:spAutoFit/>
          </a:bodyPr>
          <a:lstStyle/>
          <a:p>
            <a:pPr algn="l">
              <a:defRPr sz="750" b="0">
                <a:solidFill>
                  <a:srgbClr val="69788C"/>
                </a:solidFill>
              </a:defRPr>
            </a:pPr>
            <a:r>
              <a:t>Intelligence Artificielle — Jour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28600"/>
          </a:xfrm>
          <a:prstGeom prst="rect">
            <a:avLst/>
          </a:prstGeom>
          <a:noFill/>
        </p:spPr>
        <p:txBody>
          <a:bodyPr wrap="square" anchor="ctr">
            <a:spAutoFit/>
          </a:bodyPr>
          <a:lstStyle/>
          <a:p>
            <a:pPr algn="l">
              <a:defRPr sz="1000" b="1">
                <a:solidFill>
                  <a:srgbClr val="2D69EB"/>
                </a:solidFill>
              </a:defRPr>
            </a:pPr>
            <a:r>
              <a:t>RÉ-ÉCHANTILLONNAGE</a:t>
            </a:r>
          </a:p>
        </p:txBody>
      </p:sp>
      <p:sp>
        <p:nvSpPr>
          <p:cNvPr id="3" name="TextBox 2"/>
          <p:cNvSpPr txBox="1"/>
          <p:nvPr/>
        </p:nvSpPr>
        <p:spPr>
          <a:xfrm>
            <a:off x="685800" y="594360"/>
            <a:ext cx="10789920" cy="502920"/>
          </a:xfrm>
          <a:prstGeom prst="rect">
            <a:avLst/>
          </a:prstGeom>
          <a:noFill/>
        </p:spPr>
        <p:txBody>
          <a:bodyPr wrap="square" anchor="ctr">
            <a:spAutoFit/>
          </a:bodyPr>
          <a:lstStyle/>
          <a:p>
            <a:pPr algn="l">
              <a:defRPr sz="2400" b="1">
                <a:solidFill>
                  <a:srgbClr val="1B3A5E"/>
                </a:solidFill>
              </a:defRPr>
            </a:pPr>
            <a:r>
              <a:t>Choisir le split qui reproduit la réalité métier</a:t>
            </a:r>
          </a:p>
        </p:txBody>
      </p:sp>
      <p:sp>
        <p:nvSpPr>
          <p:cNvPr id="4" name="Rounded Rectangle 3"/>
          <p:cNvSpPr/>
          <p:nvPr/>
        </p:nvSpPr>
        <p:spPr>
          <a:xfrm>
            <a:off x="685800" y="1554480"/>
            <a:ext cx="3154680" cy="30632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554480"/>
            <a:ext cx="54864" cy="3063240"/>
          </a:xfrm>
          <a:prstGeom prst="rect">
            <a:avLst/>
          </a:prstGeom>
          <a:solidFill>
            <a:srgbClr val="2D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83080"/>
            <a:ext cx="2606040" cy="347472"/>
          </a:xfrm>
          <a:prstGeom prst="rect">
            <a:avLst/>
          </a:prstGeom>
          <a:noFill/>
        </p:spPr>
        <p:txBody>
          <a:bodyPr wrap="square" anchor="ctr">
            <a:spAutoFit/>
          </a:bodyPr>
          <a:lstStyle/>
          <a:p>
            <a:pPr algn="l">
              <a:defRPr sz="1600" b="1">
                <a:solidFill>
                  <a:srgbClr val="1B3A5E"/>
                </a:solidFill>
              </a:defRPr>
            </a:pPr>
            <a:r>
              <a:t>1 — ALÉATOIRE</a:t>
            </a:r>
          </a:p>
        </p:txBody>
      </p:sp>
      <p:sp>
        <p:nvSpPr>
          <p:cNvPr id="7" name="TextBox 6"/>
          <p:cNvSpPr txBox="1"/>
          <p:nvPr/>
        </p:nvSpPr>
        <p:spPr>
          <a:xfrm>
            <a:off x="960120" y="2331720"/>
            <a:ext cx="2606040" cy="502920"/>
          </a:xfrm>
          <a:prstGeom prst="rect">
            <a:avLst/>
          </a:prstGeom>
          <a:noFill/>
        </p:spPr>
        <p:txBody>
          <a:bodyPr wrap="square" anchor="ctr">
            <a:spAutoFit/>
          </a:bodyPr>
          <a:lstStyle/>
          <a:p>
            <a:pPr algn="l">
              <a:defRPr sz="1000" b="1">
                <a:solidFill>
                  <a:srgbClr val="2D69EB"/>
                </a:solidFill>
              </a:defRPr>
            </a:pPr>
            <a:r>
              <a:t>Question clé</a:t>
            </a:r>
          </a:p>
        </p:txBody>
      </p:sp>
      <p:sp>
        <p:nvSpPr>
          <p:cNvPr id="8" name="TextBox 7"/>
          <p:cNvSpPr txBox="1"/>
          <p:nvPr/>
        </p:nvSpPr>
        <p:spPr>
          <a:xfrm>
            <a:off x="960120" y="2633472"/>
            <a:ext cx="2606040" cy="548640"/>
          </a:xfrm>
          <a:prstGeom prst="rect">
            <a:avLst/>
          </a:prstGeom>
          <a:noFill/>
        </p:spPr>
        <p:txBody>
          <a:bodyPr wrap="square" anchor="ctr">
            <a:spAutoFit/>
          </a:bodyPr>
          <a:lstStyle/>
          <a:p>
            <a:pPr algn="l">
              <a:defRPr sz="1300" b="1">
                <a:solidFill>
                  <a:srgbClr val="2D69EB"/>
                </a:solidFill>
              </a:defRPr>
            </a:pPr>
            <a:r>
              <a:t>Observations indépendantes ?</a:t>
            </a:r>
          </a:p>
        </p:txBody>
      </p:sp>
      <p:sp>
        <p:nvSpPr>
          <p:cNvPr id="9" name="TextBox 8"/>
          <p:cNvSpPr txBox="1"/>
          <p:nvPr/>
        </p:nvSpPr>
        <p:spPr>
          <a:xfrm>
            <a:off x="960120" y="3337560"/>
            <a:ext cx="2606040" cy="384048"/>
          </a:xfrm>
          <a:prstGeom prst="rect">
            <a:avLst/>
          </a:prstGeom>
          <a:noFill/>
        </p:spPr>
        <p:txBody>
          <a:bodyPr wrap="square" anchor="ctr">
            <a:spAutoFit/>
          </a:bodyPr>
          <a:lstStyle/>
          <a:p>
            <a:pPr algn="l">
              <a:defRPr sz="1250" b="1">
                <a:solidFill>
                  <a:srgbClr val="364150"/>
                </a:solidFill>
              </a:defRPr>
            </a:pPr>
            <a:r>
              <a:t>Mélanger puis séparer</a:t>
            </a:r>
          </a:p>
        </p:txBody>
      </p:sp>
      <p:sp>
        <p:nvSpPr>
          <p:cNvPr id="10" name="TextBox 9"/>
          <p:cNvSpPr txBox="1"/>
          <p:nvPr/>
        </p:nvSpPr>
        <p:spPr>
          <a:xfrm>
            <a:off x="960120" y="3913632"/>
            <a:ext cx="2606040" cy="365760"/>
          </a:xfrm>
          <a:prstGeom prst="rect">
            <a:avLst/>
          </a:prstGeom>
          <a:noFill/>
        </p:spPr>
        <p:txBody>
          <a:bodyPr wrap="square" anchor="ctr">
            <a:spAutoFit/>
          </a:bodyPr>
          <a:lstStyle/>
          <a:p>
            <a:pPr algn="l">
              <a:defRPr sz="1100" b="0">
                <a:solidFill>
                  <a:srgbClr val="647891"/>
                </a:solidFill>
              </a:defRPr>
            </a:pPr>
            <a:r>
              <a:t>Ex. 1 ligne par client</a:t>
            </a:r>
          </a:p>
        </p:txBody>
      </p:sp>
      <p:sp>
        <p:nvSpPr>
          <p:cNvPr id="11" name="Rounded Rectangle 10"/>
          <p:cNvSpPr/>
          <p:nvPr/>
        </p:nvSpPr>
        <p:spPr>
          <a:xfrm>
            <a:off x="4160520" y="1554480"/>
            <a:ext cx="3154680" cy="30632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160520" y="1554480"/>
            <a:ext cx="54864" cy="3063240"/>
          </a:xfrm>
          <a:prstGeom prst="rect">
            <a:avLst/>
          </a:prstGeom>
          <a:solidFill>
            <a:srgbClr val="F471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783080"/>
            <a:ext cx="2606040" cy="347472"/>
          </a:xfrm>
          <a:prstGeom prst="rect">
            <a:avLst/>
          </a:prstGeom>
          <a:noFill/>
        </p:spPr>
        <p:txBody>
          <a:bodyPr wrap="square" anchor="ctr">
            <a:spAutoFit/>
          </a:bodyPr>
          <a:lstStyle/>
          <a:p>
            <a:pPr algn="l">
              <a:defRPr sz="1600" b="1">
                <a:solidFill>
                  <a:srgbClr val="1B3A5E"/>
                </a:solidFill>
              </a:defRPr>
            </a:pPr>
            <a:r>
              <a:t>2 — TEMPOREL</a:t>
            </a:r>
          </a:p>
        </p:txBody>
      </p:sp>
      <p:sp>
        <p:nvSpPr>
          <p:cNvPr id="14" name="TextBox 13"/>
          <p:cNvSpPr txBox="1"/>
          <p:nvPr/>
        </p:nvSpPr>
        <p:spPr>
          <a:xfrm>
            <a:off x="4434840" y="2331720"/>
            <a:ext cx="2606040" cy="502920"/>
          </a:xfrm>
          <a:prstGeom prst="rect">
            <a:avLst/>
          </a:prstGeom>
          <a:noFill/>
        </p:spPr>
        <p:txBody>
          <a:bodyPr wrap="square" anchor="ctr">
            <a:spAutoFit/>
          </a:bodyPr>
          <a:lstStyle/>
          <a:p>
            <a:pPr algn="l">
              <a:defRPr sz="1000" b="1">
                <a:solidFill>
                  <a:srgbClr val="F4711C"/>
                </a:solidFill>
              </a:defRPr>
            </a:pPr>
            <a:r>
              <a:t>Question clé</a:t>
            </a:r>
          </a:p>
        </p:txBody>
      </p:sp>
      <p:sp>
        <p:nvSpPr>
          <p:cNvPr id="15" name="TextBox 14"/>
          <p:cNvSpPr txBox="1"/>
          <p:nvPr/>
        </p:nvSpPr>
        <p:spPr>
          <a:xfrm>
            <a:off x="4434840" y="2633472"/>
            <a:ext cx="2606040" cy="548640"/>
          </a:xfrm>
          <a:prstGeom prst="rect">
            <a:avLst/>
          </a:prstGeom>
          <a:noFill/>
        </p:spPr>
        <p:txBody>
          <a:bodyPr wrap="square" anchor="ctr">
            <a:spAutoFit/>
          </a:bodyPr>
          <a:lstStyle/>
          <a:p>
            <a:pPr algn="l">
              <a:defRPr sz="1300" b="1">
                <a:solidFill>
                  <a:srgbClr val="F4711C"/>
                </a:solidFill>
              </a:defRPr>
            </a:pPr>
            <a:r>
              <a:t>Prédire le futur ?</a:t>
            </a:r>
          </a:p>
        </p:txBody>
      </p:sp>
      <p:sp>
        <p:nvSpPr>
          <p:cNvPr id="16" name="TextBox 15"/>
          <p:cNvSpPr txBox="1"/>
          <p:nvPr/>
        </p:nvSpPr>
        <p:spPr>
          <a:xfrm>
            <a:off x="4434840" y="3337560"/>
            <a:ext cx="2606040" cy="384048"/>
          </a:xfrm>
          <a:prstGeom prst="rect">
            <a:avLst/>
          </a:prstGeom>
          <a:noFill/>
        </p:spPr>
        <p:txBody>
          <a:bodyPr wrap="square" anchor="ctr">
            <a:spAutoFit/>
          </a:bodyPr>
          <a:lstStyle/>
          <a:p>
            <a:pPr algn="l">
              <a:defRPr sz="1250" b="1">
                <a:solidFill>
                  <a:srgbClr val="364150"/>
                </a:solidFill>
              </a:defRPr>
            </a:pPr>
            <a:r>
              <a:t>Respecter l’ordre du temps</a:t>
            </a:r>
          </a:p>
        </p:txBody>
      </p:sp>
      <p:sp>
        <p:nvSpPr>
          <p:cNvPr id="17" name="TextBox 16"/>
          <p:cNvSpPr txBox="1"/>
          <p:nvPr/>
        </p:nvSpPr>
        <p:spPr>
          <a:xfrm>
            <a:off x="4434840" y="3913632"/>
            <a:ext cx="2606040" cy="365760"/>
          </a:xfrm>
          <a:prstGeom prst="rect">
            <a:avLst/>
          </a:prstGeom>
          <a:noFill/>
        </p:spPr>
        <p:txBody>
          <a:bodyPr wrap="square" anchor="ctr">
            <a:spAutoFit/>
          </a:bodyPr>
          <a:lstStyle/>
          <a:p>
            <a:pPr algn="l">
              <a:defRPr sz="1100" b="0">
                <a:solidFill>
                  <a:srgbClr val="647891"/>
                </a:solidFill>
              </a:defRPr>
            </a:pPr>
            <a:r>
              <a:t>Ex. passé → TRAIN | futur → TEST</a:t>
            </a:r>
          </a:p>
        </p:txBody>
      </p:sp>
      <p:sp>
        <p:nvSpPr>
          <p:cNvPr id="18" name="Rounded Rectangle 17"/>
          <p:cNvSpPr/>
          <p:nvPr/>
        </p:nvSpPr>
        <p:spPr>
          <a:xfrm>
            <a:off x="7635240" y="1554480"/>
            <a:ext cx="3154680" cy="30632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635240" y="1554480"/>
            <a:ext cx="54864" cy="3063240"/>
          </a:xfrm>
          <a:prstGeom prst="rect">
            <a:avLst/>
          </a:prstGeom>
          <a:solidFill>
            <a:srgbClr val="59B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09560" y="1783080"/>
            <a:ext cx="2606040" cy="347472"/>
          </a:xfrm>
          <a:prstGeom prst="rect">
            <a:avLst/>
          </a:prstGeom>
          <a:noFill/>
        </p:spPr>
        <p:txBody>
          <a:bodyPr wrap="square" anchor="ctr">
            <a:spAutoFit/>
          </a:bodyPr>
          <a:lstStyle/>
          <a:p>
            <a:pPr algn="l">
              <a:defRPr sz="1600" b="1">
                <a:solidFill>
                  <a:srgbClr val="1B3A5E"/>
                </a:solidFill>
              </a:defRPr>
            </a:pPr>
            <a:r>
              <a:t>3 — GROUPÉ</a:t>
            </a:r>
          </a:p>
        </p:txBody>
      </p:sp>
      <p:sp>
        <p:nvSpPr>
          <p:cNvPr id="21" name="TextBox 20"/>
          <p:cNvSpPr txBox="1"/>
          <p:nvPr/>
        </p:nvSpPr>
        <p:spPr>
          <a:xfrm>
            <a:off x="7909560" y="2331720"/>
            <a:ext cx="2606040" cy="502920"/>
          </a:xfrm>
          <a:prstGeom prst="rect">
            <a:avLst/>
          </a:prstGeom>
          <a:noFill/>
        </p:spPr>
        <p:txBody>
          <a:bodyPr wrap="square" anchor="ctr">
            <a:spAutoFit/>
          </a:bodyPr>
          <a:lstStyle/>
          <a:p>
            <a:pPr algn="l">
              <a:defRPr sz="1000" b="1">
                <a:solidFill>
                  <a:srgbClr val="59B141"/>
                </a:solidFill>
              </a:defRPr>
            </a:pPr>
            <a:r>
              <a:t>Question clé</a:t>
            </a:r>
          </a:p>
        </p:txBody>
      </p:sp>
      <p:sp>
        <p:nvSpPr>
          <p:cNvPr id="22" name="TextBox 21"/>
          <p:cNvSpPr txBox="1"/>
          <p:nvPr/>
        </p:nvSpPr>
        <p:spPr>
          <a:xfrm>
            <a:off x="7909560" y="2633472"/>
            <a:ext cx="2606040" cy="548640"/>
          </a:xfrm>
          <a:prstGeom prst="rect">
            <a:avLst/>
          </a:prstGeom>
          <a:noFill/>
        </p:spPr>
        <p:txBody>
          <a:bodyPr wrap="square" anchor="ctr">
            <a:spAutoFit/>
          </a:bodyPr>
          <a:lstStyle/>
          <a:p>
            <a:pPr algn="l">
              <a:defRPr sz="1300" b="1">
                <a:solidFill>
                  <a:srgbClr val="59B141"/>
                </a:solidFill>
              </a:defRPr>
            </a:pPr>
            <a:r>
              <a:t>Plusieurs lignes par même objet ?</a:t>
            </a:r>
          </a:p>
        </p:txBody>
      </p:sp>
      <p:sp>
        <p:nvSpPr>
          <p:cNvPr id="23" name="TextBox 22"/>
          <p:cNvSpPr txBox="1"/>
          <p:nvPr/>
        </p:nvSpPr>
        <p:spPr>
          <a:xfrm>
            <a:off x="7909560" y="3337560"/>
            <a:ext cx="2606040" cy="384048"/>
          </a:xfrm>
          <a:prstGeom prst="rect">
            <a:avLst/>
          </a:prstGeom>
          <a:noFill/>
        </p:spPr>
        <p:txBody>
          <a:bodyPr wrap="square" anchor="ctr">
            <a:spAutoFit/>
          </a:bodyPr>
          <a:lstStyle/>
          <a:p>
            <a:pPr algn="l">
              <a:defRPr sz="1250" b="1">
                <a:solidFill>
                  <a:srgbClr val="364150"/>
                </a:solidFill>
              </a:defRPr>
            </a:pPr>
            <a:r>
              <a:t>Garder chaque groupe ensemble</a:t>
            </a:r>
          </a:p>
        </p:txBody>
      </p:sp>
      <p:sp>
        <p:nvSpPr>
          <p:cNvPr id="24" name="TextBox 23"/>
          <p:cNvSpPr txBox="1"/>
          <p:nvPr/>
        </p:nvSpPr>
        <p:spPr>
          <a:xfrm>
            <a:off x="7909560" y="3913632"/>
            <a:ext cx="2606040" cy="365760"/>
          </a:xfrm>
          <a:prstGeom prst="rect">
            <a:avLst/>
          </a:prstGeom>
          <a:noFill/>
        </p:spPr>
        <p:txBody>
          <a:bodyPr wrap="square" anchor="ctr">
            <a:spAutoFit/>
          </a:bodyPr>
          <a:lstStyle/>
          <a:p>
            <a:pPr algn="l">
              <a:defRPr sz="1100" b="0">
                <a:solidFill>
                  <a:srgbClr val="647891"/>
                </a:solidFill>
              </a:defRPr>
            </a:pPr>
            <a:r>
              <a:t>Ex. une machine dans un seul ensemble</a:t>
            </a:r>
          </a:p>
        </p:txBody>
      </p:sp>
      <p:sp>
        <p:nvSpPr>
          <p:cNvPr id="25" name="Rounded Rectangle 24"/>
          <p:cNvSpPr/>
          <p:nvPr/>
        </p:nvSpPr>
        <p:spPr>
          <a:xfrm>
            <a:off x="1188720" y="4956048"/>
            <a:ext cx="9784080" cy="658368"/>
          </a:xfrm>
          <a:prstGeom prst="roundRect">
            <a:avLst/>
          </a:prstGeom>
          <a:solidFill>
            <a:srgbClr val="EFF5FF"/>
          </a:solidFill>
          <a:ln>
            <a:solidFill>
              <a:srgbClr val="C6D7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417320" y="5047488"/>
            <a:ext cx="9326880" cy="438912"/>
          </a:xfrm>
          <a:prstGeom prst="rect">
            <a:avLst/>
          </a:prstGeom>
          <a:noFill/>
        </p:spPr>
        <p:txBody>
          <a:bodyPr wrap="square" anchor="ctr">
            <a:spAutoFit/>
          </a:bodyPr>
          <a:lstStyle/>
          <a:p>
            <a:pPr algn="ctr">
              <a:defRPr sz="1230" b="1">
                <a:solidFill>
                  <a:srgbClr val="1B3A5E"/>
                </a:solidFill>
              </a:defRPr>
            </a:pPr>
            <a:r>
              <a:t>Cas machines : plusieurs mesures d’une même machine → split GROUPÉ pour éviter qu’elle apparaisse à la fois dans TRAIN et TEST.</a:t>
            </a:r>
          </a:p>
        </p:txBody>
      </p:sp>
      <p:sp>
        <p:nvSpPr>
          <p:cNvPr id="27" name="TextBox 26"/>
          <p:cNvSpPr txBox="1"/>
          <p:nvPr/>
        </p:nvSpPr>
        <p:spPr>
          <a:xfrm>
            <a:off x="2011680" y="5870448"/>
            <a:ext cx="8138160" cy="320040"/>
          </a:xfrm>
          <a:prstGeom prst="rect">
            <a:avLst/>
          </a:prstGeom>
          <a:noFill/>
        </p:spPr>
        <p:txBody>
          <a:bodyPr wrap="square" anchor="ctr">
            <a:spAutoFit/>
          </a:bodyPr>
          <a:lstStyle/>
          <a:p>
            <a:pPr algn="ctr">
              <a:defRPr sz="1250" b="1">
                <a:solidFill>
                  <a:srgbClr val="2D69EB"/>
                </a:solidFill>
              </a:defRPr>
            </a:pPr>
            <a:r>
              <a:t>RÈGLE : le TEST doit ressembler aux données que le modèle rencontrera après son déploiement.</a:t>
            </a:r>
          </a:p>
        </p:txBody>
      </p:sp>
      <p:sp>
        <p:nvSpPr>
          <p:cNvPr id="28" name="TextBox 27"/>
          <p:cNvSpPr txBox="1"/>
          <p:nvPr/>
        </p:nvSpPr>
        <p:spPr>
          <a:xfrm>
            <a:off x="685800" y="6492240"/>
            <a:ext cx="4572000" cy="164592"/>
          </a:xfrm>
          <a:prstGeom prst="rect">
            <a:avLst/>
          </a:prstGeom>
          <a:noFill/>
        </p:spPr>
        <p:txBody>
          <a:bodyPr wrap="square" anchor="ctr">
            <a:spAutoFit/>
          </a:bodyPr>
          <a:lstStyle/>
          <a:p>
            <a:pPr algn="l">
              <a:defRPr sz="750" b="0">
                <a:solidFill>
                  <a:srgbClr val="647891"/>
                </a:solidFill>
              </a:defRPr>
            </a:pPr>
            <a:r>
              <a:t>Intelligence Artificielle — Jour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2743200" cy="228600"/>
          </a:xfrm>
          <a:prstGeom prst="rect">
            <a:avLst/>
          </a:prstGeom>
          <a:noFill/>
        </p:spPr>
        <p:txBody>
          <a:bodyPr wrap="square" anchor="ctr">
            <a:spAutoFit/>
          </a:bodyPr>
          <a:lstStyle/>
          <a:p>
            <a:pPr algn="l">
              <a:defRPr sz="1000" b="1">
                <a:solidFill>
                  <a:srgbClr val="2D69EB"/>
                </a:solidFill>
              </a:defRPr>
            </a:pPr>
            <a:r>
              <a:t>ÉVALUATION</a:t>
            </a:r>
          </a:p>
        </p:txBody>
      </p:sp>
      <p:sp>
        <p:nvSpPr>
          <p:cNvPr id="3" name="TextBox 2"/>
          <p:cNvSpPr txBox="1"/>
          <p:nvPr/>
        </p:nvSpPr>
        <p:spPr>
          <a:xfrm>
            <a:off x="685800" y="594360"/>
            <a:ext cx="10789920" cy="502920"/>
          </a:xfrm>
          <a:prstGeom prst="rect">
            <a:avLst/>
          </a:prstGeom>
          <a:noFill/>
        </p:spPr>
        <p:txBody>
          <a:bodyPr wrap="square" anchor="ctr">
            <a:spAutoFit/>
          </a:bodyPr>
          <a:lstStyle/>
          <a:p>
            <a:pPr algn="l">
              <a:defRPr sz="2300" b="1">
                <a:solidFill>
                  <a:srgbClr val="1B3A5E"/>
                </a:solidFill>
              </a:defRPr>
            </a:pPr>
            <a:r>
              <a:t>Data leakage : une excellente performance peut être fausse</a:t>
            </a:r>
          </a:p>
        </p:txBody>
      </p:sp>
      <p:sp>
        <p:nvSpPr>
          <p:cNvPr id="4" name="Rounded Rectangle 3"/>
          <p:cNvSpPr/>
          <p:nvPr/>
        </p:nvSpPr>
        <p:spPr>
          <a:xfrm>
            <a:off x="685800" y="1554480"/>
            <a:ext cx="3154680" cy="25146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554480"/>
            <a:ext cx="54864" cy="2514600"/>
          </a:xfrm>
          <a:prstGeom prst="rect">
            <a:avLst/>
          </a:prstGeom>
          <a:solidFill>
            <a:srgbClr val="DC3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1810512"/>
            <a:ext cx="2606040" cy="365760"/>
          </a:xfrm>
          <a:prstGeom prst="rect">
            <a:avLst/>
          </a:prstGeom>
          <a:noFill/>
        </p:spPr>
        <p:txBody>
          <a:bodyPr wrap="square" anchor="ctr">
            <a:spAutoFit/>
          </a:bodyPr>
          <a:lstStyle/>
          <a:p>
            <a:pPr algn="l">
              <a:defRPr sz="1600" b="1">
                <a:solidFill>
                  <a:srgbClr val="1B3A5E"/>
                </a:solidFill>
              </a:defRPr>
            </a:pPr>
            <a:r>
              <a:t>1 — CIBLE</a:t>
            </a:r>
          </a:p>
        </p:txBody>
      </p:sp>
      <p:sp>
        <p:nvSpPr>
          <p:cNvPr id="7" name="TextBox 6"/>
          <p:cNvSpPr txBox="1"/>
          <p:nvPr/>
        </p:nvSpPr>
        <p:spPr>
          <a:xfrm>
            <a:off x="978408" y="2423160"/>
            <a:ext cx="2606040" cy="502920"/>
          </a:xfrm>
          <a:prstGeom prst="rect">
            <a:avLst/>
          </a:prstGeom>
          <a:noFill/>
        </p:spPr>
        <p:txBody>
          <a:bodyPr wrap="square" anchor="ctr">
            <a:spAutoFit/>
          </a:bodyPr>
          <a:lstStyle/>
          <a:p>
            <a:pPr algn="l">
              <a:defRPr sz="1320" b="1">
                <a:solidFill>
                  <a:srgbClr val="DC3732"/>
                </a:solidFill>
              </a:defRPr>
            </a:pPr>
            <a:r>
              <a:t>Une variable révèle y</a:t>
            </a:r>
          </a:p>
        </p:txBody>
      </p:sp>
      <p:sp>
        <p:nvSpPr>
          <p:cNvPr id="8" name="TextBox 7"/>
          <p:cNvSpPr txBox="1"/>
          <p:nvPr/>
        </p:nvSpPr>
        <p:spPr>
          <a:xfrm>
            <a:off x="978408" y="3127248"/>
            <a:ext cx="2606040" cy="502920"/>
          </a:xfrm>
          <a:prstGeom prst="rect">
            <a:avLst/>
          </a:prstGeom>
          <a:noFill/>
        </p:spPr>
        <p:txBody>
          <a:bodyPr wrap="square" anchor="ctr">
            <a:spAutoFit/>
          </a:bodyPr>
          <a:lstStyle/>
          <a:p>
            <a:pPr algn="l">
              <a:defRPr sz="1130" b="0">
                <a:solidFill>
                  <a:srgbClr val="647891"/>
                </a:solidFill>
              </a:defRPr>
            </a:pPr>
            <a:r>
              <a:t>Ex. information connue après la panne</a:t>
            </a:r>
          </a:p>
        </p:txBody>
      </p:sp>
      <p:sp>
        <p:nvSpPr>
          <p:cNvPr id="9" name="Rounded Rectangle 8"/>
          <p:cNvSpPr/>
          <p:nvPr/>
        </p:nvSpPr>
        <p:spPr>
          <a:xfrm>
            <a:off x="4160520" y="1554480"/>
            <a:ext cx="3154680" cy="25146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60520" y="1554480"/>
            <a:ext cx="54864" cy="2514600"/>
          </a:xfrm>
          <a:prstGeom prst="rect">
            <a:avLst/>
          </a:prstGeom>
          <a:solidFill>
            <a:srgbClr val="F471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53128" y="1810512"/>
            <a:ext cx="2606040" cy="365760"/>
          </a:xfrm>
          <a:prstGeom prst="rect">
            <a:avLst/>
          </a:prstGeom>
          <a:noFill/>
        </p:spPr>
        <p:txBody>
          <a:bodyPr wrap="square" anchor="ctr">
            <a:spAutoFit/>
          </a:bodyPr>
          <a:lstStyle/>
          <a:p>
            <a:pPr algn="l">
              <a:defRPr sz="1600" b="1">
                <a:solidFill>
                  <a:srgbClr val="1B3A5E"/>
                </a:solidFill>
              </a:defRPr>
            </a:pPr>
            <a:r>
              <a:t>2 — PREPROCESSING</a:t>
            </a:r>
          </a:p>
        </p:txBody>
      </p:sp>
      <p:sp>
        <p:nvSpPr>
          <p:cNvPr id="12" name="TextBox 11"/>
          <p:cNvSpPr txBox="1"/>
          <p:nvPr/>
        </p:nvSpPr>
        <p:spPr>
          <a:xfrm>
            <a:off x="4453128" y="2423160"/>
            <a:ext cx="2606040" cy="502920"/>
          </a:xfrm>
          <a:prstGeom prst="rect">
            <a:avLst/>
          </a:prstGeom>
          <a:noFill/>
        </p:spPr>
        <p:txBody>
          <a:bodyPr wrap="square" anchor="ctr">
            <a:spAutoFit/>
          </a:bodyPr>
          <a:lstStyle/>
          <a:p>
            <a:pPr algn="l">
              <a:defRPr sz="1320" b="1">
                <a:solidFill>
                  <a:srgbClr val="F4711C"/>
                </a:solidFill>
              </a:defRPr>
            </a:pPr>
            <a:r>
              <a:t>Le TEST influence la préparation</a:t>
            </a:r>
          </a:p>
        </p:txBody>
      </p:sp>
      <p:sp>
        <p:nvSpPr>
          <p:cNvPr id="13" name="TextBox 12"/>
          <p:cNvSpPr txBox="1"/>
          <p:nvPr/>
        </p:nvSpPr>
        <p:spPr>
          <a:xfrm>
            <a:off x="4453128" y="3127248"/>
            <a:ext cx="2606040" cy="502920"/>
          </a:xfrm>
          <a:prstGeom prst="rect">
            <a:avLst/>
          </a:prstGeom>
          <a:noFill/>
        </p:spPr>
        <p:txBody>
          <a:bodyPr wrap="square" anchor="ctr">
            <a:spAutoFit/>
          </a:bodyPr>
          <a:lstStyle/>
          <a:p>
            <a:pPr algn="l">
              <a:defRPr sz="1130" b="0">
                <a:solidFill>
                  <a:srgbClr val="647891"/>
                </a:solidFill>
              </a:defRPr>
            </a:pPr>
            <a:r>
              <a:t>Ex. scaler / imputer ajusté avant le split</a:t>
            </a:r>
          </a:p>
        </p:txBody>
      </p:sp>
      <p:sp>
        <p:nvSpPr>
          <p:cNvPr id="14" name="Rounded Rectangle 13"/>
          <p:cNvSpPr/>
          <p:nvPr/>
        </p:nvSpPr>
        <p:spPr>
          <a:xfrm>
            <a:off x="7635240" y="1554480"/>
            <a:ext cx="3154680" cy="25146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35240" y="1554480"/>
            <a:ext cx="54864" cy="2514600"/>
          </a:xfrm>
          <a:prstGeom prst="rect">
            <a:avLst/>
          </a:prstGeom>
          <a:solidFill>
            <a:srgbClr val="2D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27848" y="1810512"/>
            <a:ext cx="2606040" cy="365760"/>
          </a:xfrm>
          <a:prstGeom prst="rect">
            <a:avLst/>
          </a:prstGeom>
          <a:noFill/>
        </p:spPr>
        <p:txBody>
          <a:bodyPr wrap="square" anchor="ctr">
            <a:spAutoFit/>
          </a:bodyPr>
          <a:lstStyle/>
          <a:p>
            <a:pPr algn="l">
              <a:defRPr sz="1600" b="1">
                <a:solidFill>
                  <a:srgbClr val="1B3A5E"/>
                </a:solidFill>
              </a:defRPr>
            </a:pPr>
            <a:r>
              <a:t>3 — TEMPOREL</a:t>
            </a:r>
          </a:p>
        </p:txBody>
      </p:sp>
      <p:sp>
        <p:nvSpPr>
          <p:cNvPr id="17" name="TextBox 16"/>
          <p:cNvSpPr txBox="1"/>
          <p:nvPr/>
        </p:nvSpPr>
        <p:spPr>
          <a:xfrm>
            <a:off x="7927848" y="2423160"/>
            <a:ext cx="2606040" cy="502920"/>
          </a:xfrm>
          <a:prstGeom prst="rect">
            <a:avLst/>
          </a:prstGeom>
          <a:noFill/>
        </p:spPr>
        <p:txBody>
          <a:bodyPr wrap="square" anchor="ctr">
            <a:spAutoFit/>
          </a:bodyPr>
          <a:lstStyle/>
          <a:p>
            <a:pPr algn="l">
              <a:defRPr sz="1320" b="1">
                <a:solidFill>
                  <a:srgbClr val="2D69EB"/>
                </a:solidFill>
              </a:defRPr>
            </a:pPr>
            <a:r>
              <a:t>Une information vient du futur</a:t>
            </a:r>
          </a:p>
        </p:txBody>
      </p:sp>
      <p:sp>
        <p:nvSpPr>
          <p:cNvPr id="18" name="TextBox 17"/>
          <p:cNvSpPr txBox="1"/>
          <p:nvPr/>
        </p:nvSpPr>
        <p:spPr>
          <a:xfrm>
            <a:off x="7927848" y="3127248"/>
            <a:ext cx="2606040" cy="502920"/>
          </a:xfrm>
          <a:prstGeom prst="rect">
            <a:avLst/>
          </a:prstGeom>
          <a:noFill/>
        </p:spPr>
        <p:txBody>
          <a:bodyPr wrap="square" anchor="ctr">
            <a:spAutoFit/>
          </a:bodyPr>
          <a:lstStyle/>
          <a:p>
            <a:pPr algn="l">
              <a:defRPr sz="1130" b="0">
                <a:solidFill>
                  <a:srgbClr val="647891"/>
                </a:solidFill>
              </a:defRPr>
            </a:pPr>
            <a:r>
              <a:t>Ex. donnée disponible après la prédiction</a:t>
            </a:r>
          </a:p>
        </p:txBody>
      </p:sp>
      <p:sp>
        <p:nvSpPr>
          <p:cNvPr id="19" name="Rounded Rectangle 18"/>
          <p:cNvSpPr/>
          <p:nvPr/>
        </p:nvSpPr>
        <p:spPr>
          <a:xfrm>
            <a:off x="1143000" y="4434840"/>
            <a:ext cx="9921240" cy="749808"/>
          </a:xfrm>
          <a:prstGeom prst="roundRect">
            <a:avLst/>
          </a:prstGeom>
          <a:solidFill>
            <a:srgbClr val="F0F5FC"/>
          </a:solidFill>
          <a:ln>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17320" y="4535424"/>
            <a:ext cx="9372600" cy="530352"/>
          </a:xfrm>
          <a:prstGeom prst="rect">
            <a:avLst/>
          </a:prstGeom>
          <a:noFill/>
        </p:spPr>
        <p:txBody>
          <a:bodyPr wrap="square" anchor="ctr">
            <a:spAutoFit/>
          </a:bodyPr>
          <a:lstStyle/>
          <a:p>
            <a:pPr algn="ctr">
              <a:defRPr sz="1320" b="1">
                <a:solidFill>
                  <a:srgbClr val="1B3A5E"/>
                </a:solidFill>
              </a:defRPr>
            </a:pPr>
            <a:r>
              <a:t>QUESTION RÉFLEXE : « Aurais-je cette information exactement au moment de produire la prédiction ? »</a:t>
            </a:r>
          </a:p>
        </p:txBody>
      </p:sp>
      <p:sp>
        <p:nvSpPr>
          <p:cNvPr id="21" name="TextBox 20"/>
          <p:cNvSpPr txBox="1"/>
          <p:nvPr/>
        </p:nvSpPr>
        <p:spPr>
          <a:xfrm>
            <a:off x="1828800" y="5532120"/>
            <a:ext cx="2194560" cy="292608"/>
          </a:xfrm>
          <a:prstGeom prst="rect">
            <a:avLst/>
          </a:prstGeom>
          <a:noFill/>
        </p:spPr>
        <p:txBody>
          <a:bodyPr wrap="square" anchor="ctr">
            <a:spAutoFit/>
          </a:bodyPr>
          <a:lstStyle/>
          <a:p>
            <a:pPr algn="ctr">
              <a:defRPr sz="1150" b="1">
                <a:solidFill>
                  <a:srgbClr val="2D69EB"/>
                </a:solidFill>
              </a:defRPr>
            </a:pPr>
            <a:r>
              <a:t>t−2h  •  CAPTEURS</a:t>
            </a:r>
          </a:p>
        </p:txBody>
      </p:sp>
      <p:sp>
        <p:nvSpPr>
          <p:cNvPr id="22" name="TextBox 21"/>
          <p:cNvSpPr txBox="1"/>
          <p:nvPr/>
        </p:nvSpPr>
        <p:spPr>
          <a:xfrm>
            <a:off x="4983480" y="5532120"/>
            <a:ext cx="2194560" cy="292608"/>
          </a:xfrm>
          <a:prstGeom prst="rect">
            <a:avLst/>
          </a:prstGeom>
          <a:noFill/>
        </p:spPr>
        <p:txBody>
          <a:bodyPr wrap="square" anchor="ctr">
            <a:spAutoFit/>
          </a:bodyPr>
          <a:lstStyle/>
          <a:p>
            <a:pPr algn="ctr">
              <a:defRPr sz="1150" b="1">
                <a:solidFill>
                  <a:srgbClr val="F4711C"/>
                </a:solidFill>
              </a:defRPr>
            </a:pPr>
            <a:r>
              <a:t>t0  •  PRÉDICTION</a:t>
            </a:r>
          </a:p>
        </p:txBody>
      </p:sp>
      <p:sp>
        <p:nvSpPr>
          <p:cNvPr id="23" name="TextBox 22"/>
          <p:cNvSpPr txBox="1"/>
          <p:nvPr/>
        </p:nvSpPr>
        <p:spPr>
          <a:xfrm>
            <a:off x="8138160" y="5532120"/>
            <a:ext cx="2194560" cy="292608"/>
          </a:xfrm>
          <a:prstGeom prst="rect">
            <a:avLst/>
          </a:prstGeom>
          <a:noFill/>
        </p:spPr>
        <p:txBody>
          <a:bodyPr wrap="square" anchor="ctr">
            <a:spAutoFit/>
          </a:bodyPr>
          <a:lstStyle/>
          <a:p>
            <a:pPr algn="ctr">
              <a:defRPr sz="1150" b="1">
                <a:solidFill>
                  <a:srgbClr val="DC3732"/>
                </a:solidFill>
              </a:defRPr>
            </a:pPr>
            <a:r>
              <a:t>t+1h  •  INTERVENTION</a:t>
            </a:r>
          </a:p>
        </p:txBody>
      </p:sp>
      <p:sp>
        <p:nvSpPr>
          <p:cNvPr id="24" name="TextBox 23"/>
          <p:cNvSpPr txBox="1"/>
          <p:nvPr/>
        </p:nvSpPr>
        <p:spPr>
          <a:xfrm>
            <a:off x="3886200" y="5504688"/>
            <a:ext cx="548640" cy="292608"/>
          </a:xfrm>
          <a:prstGeom prst="rect">
            <a:avLst/>
          </a:prstGeom>
          <a:noFill/>
        </p:spPr>
        <p:txBody>
          <a:bodyPr wrap="square" anchor="ctr">
            <a:spAutoFit/>
          </a:bodyPr>
          <a:lstStyle/>
          <a:p>
            <a:pPr algn="ctr">
              <a:defRPr sz="1800" b="1">
                <a:solidFill>
                  <a:srgbClr val="647891"/>
                </a:solidFill>
              </a:defRPr>
            </a:pPr>
            <a:r>
              <a:t>→</a:t>
            </a:r>
          </a:p>
        </p:txBody>
      </p:sp>
      <p:sp>
        <p:nvSpPr>
          <p:cNvPr id="25" name="TextBox 24"/>
          <p:cNvSpPr txBox="1"/>
          <p:nvPr/>
        </p:nvSpPr>
        <p:spPr>
          <a:xfrm>
            <a:off x="7040880" y="5504688"/>
            <a:ext cx="548640" cy="292608"/>
          </a:xfrm>
          <a:prstGeom prst="rect">
            <a:avLst/>
          </a:prstGeom>
          <a:noFill/>
        </p:spPr>
        <p:txBody>
          <a:bodyPr wrap="square" anchor="ctr">
            <a:spAutoFit/>
          </a:bodyPr>
          <a:lstStyle/>
          <a:p>
            <a:pPr algn="ctr">
              <a:defRPr sz="1800" b="1">
                <a:solidFill>
                  <a:srgbClr val="647891"/>
                </a:solidFill>
              </a:defRPr>
            </a:pPr>
            <a:r>
              <a:t>→</a:t>
            </a:r>
          </a:p>
        </p:txBody>
      </p:sp>
      <p:sp>
        <p:nvSpPr>
          <p:cNvPr id="26" name="TextBox 25"/>
          <p:cNvSpPr txBox="1"/>
          <p:nvPr/>
        </p:nvSpPr>
        <p:spPr>
          <a:xfrm>
            <a:off x="2011680" y="6053328"/>
            <a:ext cx="8138160" cy="320040"/>
          </a:xfrm>
          <a:prstGeom prst="rect">
            <a:avLst/>
          </a:prstGeom>
          <a:noFill/>
        </p:spPr>
        <p:txBody>
          <a:bodyPr wrap="square" anchor="ctr">
            <a:spAutoFit/>
          </a:bodyPr>
          <a:lstStyle/>
          <a:p>
            <a:pPr algn="ctr">
              <a:defRPr sz="1220" b="1">
                <a:solidFill>
                  <a:srgbClr val="DC3732"/>
                </a:solidFill>
              </a:defRPr>
            </a:pPr>
            <a:r>
              <a:t>Si l’information n’existe qu’après t0, elle ne doit pas servir à prédire à t0.</a:t>
            </a:r>
          </a:p>
        </p:txBody>
      </p:sp>
      <p:sp>
        <p:nvSpPr>
          <p:cNvPr id="27" name="TextBox 26"/>
          <p:cNvSpPr txBox="1"/>
          <p:nvPr/>
        </p:nvSpPr>
        <p:spPr>
          <a:xfrm>
            <a:off x="685800" y="6492240"/>
            <a:ext cx="3657600" cy="164592"/>
          </a:xfrm>
          <a:prstGeom prst="rect">
            <a:avLst/>
          </a:prstGeom>
          <a:noFill/>
        </p:spPr>
        <p:txBody>
          <a:bodyPr wrap="square" anchor="ctr">
            <a:spAutoFit/>
          </a:bodyPr>
          <a:lstStyle/>
          <a:p>
            <a:pPr algn="l">
              <a:defRPr sz="750" b="0">
                <a:solidFill>
                  <a:srgbClr val="647891"/>
                </a:solidFill>
              </a:defRPr>
            </a:pPr>
            <a:r>
              <a:t>Intelligence Artificielle — Jour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822960"/>
          </a:xfrm>
          <a:prstGeom prst="roundRect">
            <a:avLst/>
          </a:prstGeom>
          <a:solidFill>
            <a:srgbClr val="7048E8"/>
          </a:solidFill>
          <a:ln>
            <a:solidFill>
              <a:srgbClr val="704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438912"/>
            <a:ext cx="10515600" cy="365760"/>
          </a:xfrm>
          <a:prstGeom prst="rect">
            <a:avLst/>
          </a:prstGeom>
          <a:noFill/>
        </p:spPr>
        <p:txBody>
          <a:bodyPr wrap="square">
            <a:spAutoFit/>
          </a:bodyPr>
          <a:lstStyle/>
          <a:p>
            <a:r>
              <a:rPr sz="1800" b="1">
                <a:solidFill>
                  <a:srgbClr val="FFFFFF"/>
                </a:solidFill>
                <a:latin typeface="Aptos"/>
              </a:rPr>
              <a:t>ARRÊT — DÉMONSTRATION + MANIPULATION</a:t>
            </a:r>
          </a:p>
        </p:txBody>
      </p:sp>
      <p:sp>
        <p:nvSpPr>
          <p:cNvPr id="4" name="TextBox 3"/>
          <p:cNvSpPr txBox="1"/>
          <p:nvPr/>
        </p:nvSpPr>
        <p:spPr>
          <a:xfrm>
            <a:off x="658368" y="1298448"/>
            <a:ext cx="10972800" cy="384048"/>
          </a:xfrm>
          <a:prstGeom prst="rect">
            <a:avLst/>
          </a:prstGeom>
          <a:noFill/>
        </p:spPr>
        <p:txBody>
          <a:bodyPr wrap="square">
            <a:spAutoFit/>
          </a:bodyPr>
          <a:lstStyle/>
          <a:p>
            <a:pPr algn="l"/>
            <a:r>
              <a:rPr sz="2000" b="1">
                <a:solidFill>
                  <a:srgbClr val="123153"/>
                </a:solidFill>
                <a:latin typeface="Aptos"/>
              </a:rPr>
              <a:t>Reprendre la base du Jour 1 et définir X / y</a:t>
            </a:r>
          </a:p>
        </p:txBody>
      </p:sp>
      <p:sp>
        <p:nvSpPr>
          <p:cNvPr id="5" name="Rounded Rectangle 4"/>
          <p:cNvSpPr/>
          <p:nvPr/>
        </p:nvSpPr>
        <p:spPr>
          <a:xfrm>
            <a:off x="59436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920240"/>
            <a:ext cx="356616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084832"/>
            <a:ext cx="3246120" cy="256032"/>
          </a:xfrm>
          <a:prstGeom prst="rect">
            <a:avLst/>
          </a:prstGeom>
          <a:noFill/>
        </p:spPr>
        <p:txBody>
          <a:bodyPr wrap="square">
            <a:spAutoFit/>
          </a:bodyPr>
          <a:lstStyle/>
          <a:p>
            <a:r>
              <a:rPr sz="1150" b="1">
                <a:solidFill>
                  <a:srgbClr val="123153"/>
                </a:solidFill>
                <a:latin typeface="Aptos"/>
              </a:rPr>
              <a:t>1 — REPRENONS LA BASE</a:t>
            </a:r>
          </a:p>
        </p:txBody>
      </p:sp>
      <p:sp>
        <p:nvSpPr>
          <p:cNvPr id="8" name="TextBox 7"/>
          <p:cNvSpPr txBox="1"/>
          <p:nvPr/>
        </p:nvSpPr>
        <p:spPr>
          <a:xfrm>
            <a:off x="777240" y="2523744"/>
            <a:ext cx="3182112" cy="256032"/>
          </a:xfrm>
          <a:prstGeom prst="rect">
            <a:avLst/>
          </a:prstGeom>
          <a:noFill/>
        </p:spPr>
        <p:txBody>
          <a:bodyPr wrap="square">
            <a:spAutoFit/>
          </a:bodyPr>
          <a:lstStyle/>
          <a:p>
            <a:r>
              <a:rPr sz="950" b="0">
                <a:solidFill>
                  <a:srgbClr val="232D3A"/>
                </a:solidFill>
                <a:latin typeface="Aptos"/>
              </a:rPr>
              <a:t>• charger data_J1_clean.csv</a:t>
            </a:r>
          </a:p>
        </p:txBody>
      </p:sp>
      <p:sp>
        <p:nvSpPr>
          <p:cNvPr id="9" name="TextBox 8"/>
          <p:cNvSpPr txBox="1"/>
          <p:nvPr/>
        </p:nvSpPr>
        <p:spPr>
          <a:xfrm>
            <a:off x="777240" y="2834640"/>
            <a:ext cx="3182112" cy="256032"/>
          </a:xfrm>
          <a:prstGeom prst="rect">
            <a:avLst/>
          </a:prstGeom>
          <a:noFill/>
        </p:spPr>
        <p:txBody>
          <a:bodyPr wrap="square">
            <a:spAutoFit/>
          </a:bodyPr>
          <a:lstStyle/>
          <a:p>
            <a:r>
              <a:rPr sz="950" b="0">
                <a:solidFill>
                  <a:srgbClr val="232D3A"/>
                </a:solidFill>
                <a:latin typeface="Aptos"/>
              </a:rPr>
              <a:t>• vérifier les colonnes disponibles</a:t>
            </a:r>
          </a:p>
        </p:txBody>
      </p:sp>
      <p:sp>
        <p:nvSpPr>
          <p:cNvPr id="10" name="TextBox 9"/>
          <p:cNvSpPr txBox="1"/>
          <p:nvPr/>
        </p:nvSpPr>
        <p:spPr>
          <a:xfrm>
            <a:off x="777240" y="3145536"/>
            <a:ext cx="3182112" cy="256032"/>
          </a:xfrm>
          <a:prstGeom prst="rect">
            <a:avLst/>
          </a:prstGeom>
          <a:noFill/>
        </p:spPr>
        <p:txBody>
          <a:bodyPr wrap="square">
            <a:spAutoFit/>
          </a:bodyPr>
          <a:lstStyle/>
          <a:p>
            <a:r>
              <a:rPr sz="950" b="0">
                <a:solidFill>
                  <a:srgbClr val="232D3A"/>
                </a:solidFill>
                <a:latin typeface="Aptos"/>
              </a:rPr>
              <a:t>• identifier les variables utilisables</a:t>
            </a:r>
          </a:p>
        </p:txBody>
      </p:sp>
      <p:sp>
        <p:nvSpPr>
          <p:cNvPr id="11" name="Rounded Rectangle 10"/>
          <p:cNvSpPr/>
          <p:nvPr/>
        </p:nvSpPr>
        <p:spPr>
          <a:xfrm>
            <a:off x="443484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20240"/>
            <a:ext cx="356616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9432" y="2084832"/>
            <a:ext cx="3246120" cy="256032"/>
          </a:xfrm>
          <a:prstGeom prst="rect">
            <a:avLst/>
          </a:prstGeom>
          <a:noFill/>
        </p:spPr>
        <p:txBody>
          <a:bodyPr wrap="square">
            <a:spAutoFit/>
          </a:bodyPr>
          <a:lstStyle/>
          <a:p>
            <a:r>
              <a:rPr sz="1150" b="1">
                <a:solidFill>
                  <a:srgbClr val="123153"/>
                </a:solidFill>
                <a:latin typeface="Aptos"/>
              </a:rPr>
              <a:t>2 — DÉFINISSONS X ET y</a:t>
            </a:r>
          </a:p>
        </p:txBody>
      </p:sp>
      <p:sp>
        <p:nvSpPr>
          <p:cNvPr id="14" name="TextBox 13"/>
          <p:cNvSpPr txBox="1"/>
          <p:nvPr/>
        </p:nvSpPr>
        <p:spPr>
          <a:xfrm>
            <a:off x="4617720" y="2523744"/>
            <a:ext cx="3182112" cy="256032"/>
          </a:xfrm>
          <a:prstGeom prst="rect">
            <a:avLst/>
          </a:prstGeom>
          <a:noFill/>
        </p:spPr>
        <p:txBody>
          <a:bodyPr wrap="square">
            <a:spAutoFit/>
          </a:bodyPr>
          <a:lstStyle/>
          <a:p>
            <a:r>
              <a:rPr sz="950" b="0">
                <a:solidFill>
                  <a:srgbClr val="232D3A"/>
                </a:solidFill>
                <a:latin typeface="Aptos"/>
              </a:rPr>
              <a:t>• X = variables explicatives</a:t>
            </a:r>
          </a:p>
        </p:txBody>
      </p:sp>
      <p:sp>
        <p:nvSpPr>
          <p:cNvPr id="15" name="TextBox 14"/>
          <p:cNvSpPr txBox="1"/>
          <p:nvPr/>
        </p:nvSpPr>
        <p:spPr>
          <a:xfrm>
            <a:off x="4617720" y="2834640"/>
            <a:ext cx="3182112" cy="256032"/>
          </a:xfrm>
          <a:prstGeom prst="rect">
            <a:avLst/>
          </a:prstGeom>
          <a:noFill/>
        </p:spPr>
        <p:txBody>
          <a:bodyPr wrap="square">
            <a:spAutoFit/>
          </a:bodyPr>
          <a:lstStyle/>
          <a:p>
            <a:r>
              <a:rPr sz="950" b="0">
                <a:solidFill>
                  <a:srgbClr val="232D3A"/>
                </a:solidFill>
                <a:latin typeface="Aptos"/>
              </a:rPr>
              <a:t>• y = variable cible</a:t>
            </a:r>
          </a:p>
        </p:txBody>
      </p:sp>
      <p:sp>
        <p:nvSpPr>
          <p:cNvPr id="16" name="TextBox 15"/>
          <p:cNvSpPr txBox="1"/>
          <p:nvPr/>
        </p:nvSpPr>
        <p:spPr>
          <a:xfrm>
            <a:off x="4617720" y="3145536"/>
            <a:ext cx="3182112" cy="256032"/>
          </a:xfrm>
          <a:prstGeom prst="rect">
            <a:avLst/>
          </a:prstGeom>
          <a:noFill/>
        </p:spPr>
        <p:txBody>
          <a:bodyPr wrap="square">
            <a:spAutoFit/>
          </a:bodyPr>
          <a:lstStyle/>
          <a:p>
            <a:r>
              <a:rPr sz="950" b="0">
                <a:solidFill>
                  <a:srgbClr val="232D3A"/>
                </a:solidFill>
                <a:latin typeface="Aptos"/>
              </a:rPr>
              <a:t>• y numérique → régression</a:t>
            </a:r>
          </a:p>
          <a:p>
            <a:r>
              <a:rPr sz="950" b="0">
                <a:solidFill>
                  <a:srgbClr val="232D3A"/>
                </a:solidFill>
                <a:latin typeface="Aptos"/>
              </a:rPr>
              <a:t>• y catégorielle → classification</a:t>
            </a:r>
          </a:p>
        </p:txBody>
      </p:sp>
      <p:sp>
        <p:nvSpPr>
          <p:cNvPr id="17" name="Rounded Rectangle 16"/>
          <p:cNvSpPr/>
          <p:nvPr/>
        </p:nvSpPr>
        <p:spPr>
          <a:xfrm>
            <a:off x="827532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1920240"/>
            <a:ext cx="356616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9912" y="2084832"/>
            <a:ext cx="3246120" cy="256032"/>
          </a:xfrm>
          <a:prstGeom prst="rect">
            <a:avLst/>
          </a:prstGeom>
          <a:noFill/>
        </p:spPr>
        <p:txBody>
          <a:bodyPr wrap="square">
            <a:spAutoFit/>
          </a:bodyPr>
          <a:lstStyle/>
          <a:p>
            <a:r>
              <a:rPr sz="1150" b="1">
                <a:solidFill>
                  <a:srgbClr val="123153"/>
                </a:solidFill>
                <a:latin typeface="Aptos"/>
              </a:rPr>
              <a:t>3 — PRÉPARONS L’APPRENTISSAGE</a:t>
            </a:r>
          </a:p>
        </p:txBody>
      </p:sp>
      <p:sp>
        <p:nvSpPr>
          <p:cNvPr id="20" name="TextBox 19"/>
          <p:cNvSpPr txBox="1"/>
          <p:nvPr/>
        </p:nvSpPr>
        <p:spPr>
          <a:xfrm>
            <a:off x="8458200" y="2523744"/>
            <a:ext cx="3182112" cy="256032"/>
          </a:xfrm>
          <a:prstGeom prst="rect">
            <a:avLst/>
          </a:prstGeom>
          <a:noFill/>
        </p:spPr>
        <p:txBody>
          <a:bodyPr wrap="square">
            <a:spAutoFit/>
          </a:bodyPr>
          <a:lstStyle/>
          <a:p>
            <a:r>
              <a:rPr sz="950" b="0">
                <a:solidFill>
                  <a:srgbClr val="232D3A"/>
                </a:solidFill>
                <a:latin typeface="Aptos"/>
              </a:rPr>
              <a:t>• séparer TRAIN et TEST</a:t>
            </a:r>
          </a:p>
        </p:txBody>
      </p:sp>
      <p:sp>
        <p:nvSpPr>
          <p:cNvPr id="21" name="TextBox 20"/>
          <p:cNvSpPr txBox="1"/>
          <p:nvPr/>
        </p:nvSpPr>
        <p:spPr>
          <a:xfrm>
            <a:off x="8458200" y="2834640"/>
            <a:ext cx="3182112" cy="256032"/>
          </a:xfrm>
          <a:prstGeom prst="rect">
            <a:avLst/>
          </a:prstGeom>
          <a:noFill/>
        </p:spPr>
        <p:txBody>
          <a:bodyPr wrap="square">
            <a:spAutoFit/>
          </a:bodyPr>
          <a:lstStyle/>
          <a:p>
            <a:r>
              <a:rPr sz="950" b="0">
                <a:solidFill>
                  <a:srgbClr val="232D3A"/>
                </a:solidFill>
                <a:latin typeface="Aptos"/>
              </a:rPr>
              <a:t>• utiliser un split reproductible</a:t>
            </a:r>
          </a:p>
        </p:txBody>
      </p:sp>
      <p:sp>
        <p:nvSpPr>
          <p:cNvPr id="22" name="TextBox 21"/>
          <p:cNvSpPr txBox="1"/>
          <p:nvPr/>
        </p:nvSpPr>
        <p:spPr>
          <a:xfrm>
            <a:off x="8458200" y="3145536"/>
            <a:ext cx="3182112" cy="256032"/>
          </a:xfrm>
          <a:prstGeom prst="rect">
            <a:avLst/>
          </a:prstGeom>
          <a:noFill/>
        </p:spPr>
        <p:txBody>
          <a:bodyPr wrap="square">
            <a:spAutoFit/>
          </a:bodyPr>
          <a:lstStyle/>
          <a:p>
            <a:r>
              <a:rPr sz="950" b="0">
                <a:solidFill>
                  <a:srgbClr val="232D3A"/>
                </a:solidFill>
                <a:latin typeface="Aptos"/>
              </a:rPr>
              <a:t>• vérifier les dimensions obtenues</a:t>
            </a:r>
          </a:p>
        </p:txBody>
      </p:sp>
      <p:sp>
        <p:nvSpPr>
          <p:cNvPr id="23" name="Rounded Rectangle 22"/>
          <p:cNvSpPr/>
          <p:nvPr/>
        </p:nvSpPr>
        <p:spPr>
          <a:xfrm>
            <a:off x="685800" y="5476568"/>
            <a:ext cx="10789920" cy="475488"/>
          </a:xfrm>
          <a:prstGeom prst="roundRect">
            <a:avLst/>
          </a:prstGeom>
          <a:solidFill>
            <a:srgbClr val="FFF6CC"/>
          </a:solidFill>
          <a:ln>
            <a:solidFill>
              <a:srgbClr val="FFF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605272"/>
            <a:ext cx="10424160" cy="228600"/>
          </a:xfrm>
          <a:prstGeom prst="rect">
            <a:avLst/>
          </a:prstGeom>
          <a:noFill/>
        </p:spPr>
        <p:txBody>
          <a:bodyPr wrap="square">
            <a:spAutoFit/>
          </a:bodyPr>
          <a:lstStyle/>
          <a:p>
            <a:r>
              <a:rPr sz="980" b="1">
                <a:solidFill>
                  <a:srgbClr val="232D3A"/>
                </a:solidFill>
                <a:latin typeface="Aptos"/>
              </a:rPr>
              <a:t>À la fin : une base prête • X et y clairement définis • un split TRAIN / TEST reproductible</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594360"/>
            <a:ext cx="11155680" cy="53492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1325880"/>
            <a:ext cx="10241280" cy="320040"/>
          </a:xfrm>
          <a:prstGeom prst="rect">
            <a:avLst/>
          </a:prstGeom>
          <a:noFill/>
        </p:spPr>
        <p:txBody>
          <a:bodyPr wrap="square">
            <a:spAutoFit/>
          </a:bodyPr>
          <a:lstStyle/>
          <a:p>
            <a:pPr algn="ctr"/>
            <a:r>
              <a:rPr sz="1300" b="1">
                <a:solidFill>
                  <a:srgbClr val="FFFFFF"/>
                </a:solidFill>
                <a:latin typeface="Aptos"/>
              </a:rPr>
              <a:t>JOUR 2</a:t>
            </a:r>
          </a:p>
        </p:txBody>
      </p:sp>
      <p:sp>
        <p:nvSpPr>
          <p:cNvPr id="4" name="TextBox 3"/>
          <p:cNvSpPr txBox="1"/>
          <p:nvPr/>
        </p:nvSpPr>
        <p:spPr>
          <a:xfrm>
            <a:off x="960120" y="2057400"/>
            <a:ext cx="10241280" cy="731520"/>
          </a:xfrm>
          <a:prstGeom prst="rect">
            <a:avLst/>
          </a:prstGeom>
          <a:noFill/>
        </p:spPr>
        <p:txBody>
          <a:bodyPr wrap="square">
            <a:spAutoFit/>
          </a:bodyPr>
          <a:lstStyle/>
          <a:p>
            <a:pPr algn="ctr"/>
            <a:r>
              <a:rPr sz="3200" b="1">
                <a:solidFill>
                  <a:srgbClr val="FFFFFF"/>
                </a:solidFill>
                <a:latin typeface="Aptos"/>
              </a:rPr>
              <a:t>BLOC 1 — APPRENTISSAGE SUPERVISÉ : RÉGRESSION</a:t>
            </a:r>
          </a:p>
        </p:txBody>
      </p:sp>
      <p:sp>
        <p:nvSpPr>
          <p:cNvPr id="5" name="TextBox 4"/>
          <p:cNvSpPr txBox="1"/>
          <p:nvPr/>
        </p:nvSpPr>
        <p:spPr>
          <a:xfrm>
            <a:off x="960120" y="3063240"/>
            <a:ext cx="10241280" cy="438912"/>
          </a:xfrm>
          <a:prstGeom prst="rect">
            <a:avLst/>
          </a:prstGeom>
          <a:noFill/>
        </p:spPr>
        <p:txBody>
          <a:bodyPr wrap="square">
            <a:spAutoFit/>
          </a:bodyPr>
          <a:lstStyle/>
          <a:p>
            <a:pPr algn="ctr"/>
            <a:r>
              <a:rPr sz="1600" b="0">
                <a:solidFill>
                  <a:srgbClr val="FFFFFF"/>
                </a:solidFill>
                <a:latin typeface="Aptos"/>
              </a:rPr>
              <a:t>Objectif : prédire une valeur numérique et évaluer l’erreur.</a:t>
            </a:r>
          </a:p>
        </p:txBody>
      </p:sp>
      <p:sp>
        <p:nvSpPr>
          <p:cNvPr id="6" name="TextBox 5"/>
          <p:cNvSpPr txBox="1"/>
          <p:nvPr/>
        </p:nvSpPr>
        <p:spPr>
          <a:xfrm>
            <a:off x="960120" y="4846320"/>
            <a:ext cx="10241280" cy="228600"/>
          </a:xfrm>
          <a:prstGeom prst="rect">
            <a:avLst/>
          </a:prstGeom>
          <a:noFill/>
        </p:spPr>
        <p:txBody>
          <a:bodyPr wrap="square">
            <a:spAutoFit/>
          </a:bodyPr>
          <a:lstStyle/>
          <a:p>
            <a:pPr algn="ctr"/>
            <a:r>
              <a:rPr sz="1200" b="1">
                <a:solidFill>
                  <a:srgbClr val="FFFFFF"/>
                </a:solidFill>
                <a:latin typeface="Aptos"/>
              </a:rPr>
              <a:t>6 h TP — mise en œuvre avec scikit-learn sur un jeu de données réel préparé au Jour 1</a:t>
            </a:r>
          </a:p>
        </p:txBody>
      </p:sp>
      <p:sp>
        <p:nvSpPr>
          <p:cNvPr id="7" name="Rectangle 6"/>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59.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MATHS</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Régression linéaire — forme matricielle</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Comprendre l’idée mathématique avant d’utiliser scikit-learn.</a:t>
            </a:r>
          </a:p>
        </p:txBody>
      </p:sp>
      <p:sp>
        <p:nvSpPr>
          <p:cNvPr id="5" name="Rounded Rectangle 4"/>
          <p:cNvSpPr/>
          <p:nvPr/>
        </p:nvSpPr>
        <p:spPr>
          <a:xfrm>
            <a:off x="777240" y="1783080"/>
            <a:ext cx="10652760" cy="960120"/>
          </a:xfrm>
          <a:prstGeom prst="roundRect">
            <a:avLst/>
          </a:prstGeom>
          <a:solidFill>
            <a:srgbClr val="123153"/>
          </a:solidFill>
          <a:ln>
            <a:solidFill>
              <a:srgbClr val="1231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057400"/>
            <a:ext cx="10287000" cy="365760"/>
          </a:xfrm>
          <a:prstGeom prst="rect">
            <a:avLst/>
          </a:prstGeom>
          <a:noFill/>
        </p:spPr>
        <p:txBody>
          <a:bodyPr wrap="square">
            <a:spAutoFit/>
          </a:bodyPr>
          <a:lstStyle/>
          <a:p>
            <a:pPr algn="ctr"/>
            <a:r>
              <a:rPr sz="2000" b="1">
                <a:solidFill>
                  <a:srgbClr val="FFFFFF"/>
                </a:solidFill>
                <a:latin typeface="Aptos"/>
              </a:rPr>
              <a:t>ŷ = Xβ      et      β̂ = (XᵀX)⁻¹Xᵀy</a:t>
            </a:r>
          </a:p>
        </p:txBody>
      </p:sp>
      <p:sp>
        <p:nvSpPr>
          <p:cNvPr id="7" name="Rounded Rectangle 6"/>
          <p:cNvSpPr/>
          <p:nvPr/>
        </p:nvSpPr>
        <p:spPr>
          <a:xfrm>
            <a:off x="5029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31546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3319272"/>
            <a:ext cx="3291840" cy="256032"/>
          </a:xfrm>
          <a:prstGeom prst="rect">
            <a:avLst/>
          </a:prstGeom>
          <a:noFill/>
        </p:spPr>
        <p:txBody>
          <a:bodyPr wrap="square">
            <a:spAutoFit/>
          </a:bodyPr>
          <a:lstStyle/>
          <a:p>
            <a:pPr algn="l"/>
            <a:r>
              <a:rPr sz="1150" b="1">
                <a:solidFill>
                  <a:srgbClr val="123153"/>
                </a:solidFill>
                <a:latin typeface="Aptos"/>
              </a:rPr>
              <a:t>X</a:t>
            </a:r>
          </a:p>
        </p:txBody>
      </p:sp>
      <p:sp>
        <p:nvSpPr>
          <p:cNvPr id="10" name="TextBox 9"/>
          <p:cNvSpPr txBox="1"/>
          <p:nvPr/>
        </p:nvSpPr>
        <p:spPr>
          <a:xfrm>
            <a:off x="685800" y="3758184"/>
            <a:ext cx="3227832" cy="256032"/>
          </a:xfrm>
          <a:prstGeom prst="rect">
            <a:avLst/>
          </a:prstGeom>
          <a:noFill/>
        </p:spPr>
        <p:txBody>
          <a:bodyPr wrap="square">
            <a:spAutoFit/>
          </a:bodyPr>
          <a:lstStyle/>
          <a:p>
            <a:pPr algn="l"/>
            <a:r>
              <a:rPr sz="950" b="0">
                <a:solidFill>
                  <a:srgbClr val="232D3A"/>
                </a:solidFill>
                <a:latin typeface="Aptos"/>
              </a:rPr>
              <a:t>• matrice des variables explicatives</a:t>
            </a:r>
          </a:p>
        </p:txBody>
      </p:sp>
      <p:sp>
        <p:nvSpPr>
          <p:cNvPr id="11" name="TextBox 10"/>
          <p:cNvSpPr txBox="1"/>
          <p:nvPr/>
        </p:nvSpPr>
        <p:spPr>
          <a:xfrm>
            <a:off x="685800" y="4069080"/>
            <a:ext cx="3227832" cy="256032"/>
          </a:xfrm>
          <a:prstGeom prst="rect">
            <a:avLst/>
          </a:prstGeom>
          <a:noFill/>
        </p:spPr>
        <p:txBody>
          <a:bodyPr wrap="square">
            <a:spAutoFit/>
          </a:bodyPr>
          <a:lstStyle/>
          <a:p>
            <a:pPr algn="l"/>
            <a:r>
              <a:rPr sz="950" b="0">
                <a:solidFill>
                  <a:srgbClr val="232D3A"/>
                </a:solidFill>
                <a:latin typeface="Aptos"/>
              </a:rPr>
              <a:t>• une colonne par feature</a:t>
            </a:r>
          </a:p>
        </p:txBody>
      </p:sp>
      <p:sp>
        <p:nvSpPr>
          <p:cNvPr id="12" name="TextBox 11"/>
          <p:cNvSpPr txBox="1"/>
          <p:nvPr/>
        </p:nvSpPr>
        <p:spPr>
          <a:xfrm>
            <a:off x="685800" y="4379976"/>
            <a:ext cx="3227832" cy="256032"/>
          </a:xfrm>
          <a:prstGeom prst="rect">
            <a:avLst/>
          </a:prstGeom>
          <a:noFill/>
        </p:spPr>
        <p:txBody>
          <a:bodyPr wrap="square">
            <a:spAutoFit/>
          </a:bodyPr>
          <a:lstStyle/>
          <a:p>
            <a:pPr algn="l"/>
            <a:r>
              <a:rPr sz="950" b="0">
                <a:solidFill>
                  <a:srgbClr val="232D3A"/>
                </a:solidFill>
                <a:latin typeface="Aptos"/>
              </a:rPr>
              <a:t>• une ligne par observation</a:t>
            </a:r>
          </a:p>
        </p:txBody>
      </p:sp>
      <p:sp>
        <p:nvSpPr>
          <p:cNvPr id="13" name="Rounded Rectangle 12"/>
          <p:cNvSpPr/>
          <p:nvPr/>
        </p:nvSpPr>
        <p:spPr>
          <a:xfrm>
            <a:off x="43891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31546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3712" y="3319272"/>
            <a:ext cx="3291840" cy="256032"/>
          </a:xfrm>
          <a:prstGeom prst="rect">
            <a:avLst/>
          </a:prstGeom>
          <a:noFill/>
        </p:spPr>
        <p:txBody>
          <a:bodyPr wrap="square">
            <a:spAutoFit/>
          </a:bodyPr>
          <a:lstStyle/>
          <a:p>
            <a:pPr algn="l"/>
            <a:r>
              <a:rPr sz="1150" b="1">
                <a:solidFill>
                  <a:srgbClr val="123153"/>
                </a:solidFill>
                <a:latin typeface="Aptos"/>
              </a:rPr>
              <a:t>β</a:t>
            </a:r>
          </a:p>
        </p:txBody>
      </p:sp>
      <p:sp>
        <p:nvSpPr>
          <p:cNvPr id="16" name="TextBox 15"/>
          <p:cNvSpPr txBox="1"/>
          <p:nvPr/>
        </p:nvSpPr>
        <p:spPr>
          <a:xfrm>
            <a:off x="4572000" y="3758184"/>
            <a:ext cx="3227832" cy="256032"/>
          </a:xfrm>
          <a:prstGeom prst="rect">
            <a:avLst/>
          </a:prstGeom>
          <a:noFill/>
        </p:spPr>
        <p:txBody>
          <a:bodyPr wrap="square">
            <a:spAutoFit/>
          </a:bodyPr>
          <a:lstStyle/>
          <a:p>
            <a:pPr algn="l"/>
            <a:r>
              <a:rPr sz="950" b="0">
                <a:solidFill>
                  <a:srgbClr val="232D3A"/>
                </a:solidFill>
                <a:latin typeface="Aptos"/>
              </a:rPr>
              <a:t>• coefficients appris</a:t>
            </a:r>
          </a:p>
        </p:txBody>
      </p:sp>
      <p:sp>
        <p:nvSpPr>
          <p:cNvPr id="17" name="TextBox 16"/>
          <p:cNvSpPr txBox="1"/>
          <p:nvPr/>
        </p:nvSpPr>
        <p:spPr>
          <a:xfrm>
            <a:off x="4572000" y="4069080"/>
            <a:ext cx="3227832" cy="256032"/>
          </a:xfrm>
          <a:prstGeom prst="rect">
            <a:avLst/>
          </a:prstGeom>
          <a:noFill/>
        </p:spPr>
        <p:txBody>
          <a:bodyPr wrap="square">
            <a:spAutoFit/>
          </a:bodyPr>
          <a:lstStyle/>
          <a:p>
            <a:pPr algn="l"/>
            <a:r>
              <a:rPr sz="950" b="0">
                <a:solidFill>
                  <a:srgbClr val="232D3A"/>
                </a:solidFill>
                <a:latin typeface="Aptos"/>
              </a:rPr>
              <a:t>• β₀ = intercept</a:t>
            </a:r>
          </a:p>
        </p:txBody>
      </p:sp>
      <p:sp>
        <p:nvSpPr>
          <p:cNvPr id="18" name="TextBox 17"/>
          <p:cNvSpPr txBox="1"/>
          <p:nvPr/>
        </p:nvSpPr>
        <p:spPr>
          <a:xfrm>
            <a:off x="4572000" y="4379976"/>
            <a:ext cx="3227832" cy="256032"/>
          </a:xfrm>
          <a:prstGeom prst="rect">
            <a:avLst/>
          </a:prstGeom>
          <a:noFill/>
        </p:spPr>
        <p:txBody>
          <a:bodyPr wrap="square">
            <a:spAutoFit/>
          </a:bodyPr>
          <a:lstStyle/>
          <a:p>
            <a:pPr algn="l"/>
            <a:r>
              <a:rPr sz="950" b="0">
                <a:solidFill>
                  <a:srgbClr val="232D3A"/>
                </a:solidFill>
                <a:latin typeface="Aptos"/>
              </a:rPr>
              <a:t>• poids associé à chaque variable</a:t>
            </a:r>
          </a:p>
        </p:txBody>
      </p:sp>
      <p:sp>
        <p:nvSpPr>
          <p:cNvPr id="19" name="Rounded Rectangle 18"/>
          <p:cNvSpPr/>
          <p:nvPr/>
        </p:nvSpPr>
        <p:spPr>
          <a:xfrm>
            <a:off x="82753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75320" y="31546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9912" y="3319272"/>
            <a:ext cx="3291840" cy="256032"/>
          </a:xfrm>
          <a:prstGeom prst="rect">
            <a:avLst/>
          </a:prstGeom>
          <a:noFill/>
        </p:spPr>
        <p:txBody>
          <a:bodyPr wrap="square">
            <a:spAutoFit/>
          </a:bodyPr>
          <a:lstStyle/>
          <a:p>
            <a:pPr algn="l"/>
            <a:r>
              <a:rPr sz="1150" b="1">
                <a:solidFill>
                  <a:srgbClr val="123153"/>
                </a:solidFill>
                <a:latin typeface="Aptos"/>
              </a:rPr>
              <a:t>Objectif</a:t>
            </a:r>
          </a:p>
        </p:txBody>
      </p:sp>
      <p:sp>
        <p:nvSpPr>
          <p:cNvPr id="22" name="TextBox 21"/>
          <p:cNvSpPr txBox="1"/>
          <p:nvPr/>
        </p:nvSpPr>
        <p:spPr>
          <a:xfrm>
            <a:off x="8458200" y="3758184"/>
            <a:ext cx="3227832" cy="256032"/>
          </a:xfrm>
          <a:prstGeom prst="rect">
            <a:avLst/>
          </a:prstGeom>
          <a:noFill/>
        </p:spPr>
        <p:txBody>
          <a:bodyPr wrap="square">
            <a:spAutoFit/>
          </a:bodyPr>
          <a:lstStyle/>
          <a:p>
            <a:pPr algn="l"/>
            <a:r>
              <a:rPr sz="950" b="0">
                <a:solidFill>
                  <a:srgbClr val="232D3A"/>
                </a:solidFill>
                <a:latin typeface="Aptos"/>
              </a:rPr>
              <a:t>• minimiser la somme des carrés</a:t>
            </a:r>
          </a:p>
        </p:txBody>
      </p:sp>
      <p:sp>
        <p:nvSpPr>
          <p:cNvPr id="23" name="TextBox 22"/>
          <p:cNvSpPr txBox="1"/>
          <p:nvPr/>
        </p:nvSpPr>
        <p:spPr>
          <a:xfrm>
            <a:off x="8458200" y="4069080"/>
            <a:ext cx="3227832" cy="256032"/>
          </a:xfrm>
          <a:prstGeom prst="rect">
            <a:avLst/>
          </a:prstGeom>
          <a:noFill/>
        </p:spPr>
        <p:txBody>
          <a:bodyPr wrap="square">
            <a:spAutoFit/>
          </a:bodyPr>
          <a:lstStyle/>
          <a:p>
            <a:pPr algn="l"/>
            <a:r>
              <a:rPr sz="950" b="0">
                <a:solidFill>
                  <a:srgbClr val="232D3A"/>
                </a:solidFill>
                <a:latin typeface="Aptos"/>
              </a:rPr>
              <a:t>• résidus : y − ŷ</a:t>
            </a:r>
          </a:p>
        </p:txBody>
      </p:sp>
      <p:sp>
        <p:nvSpPr>
          <p:cNvPr id="24" name="TextBox 23"/>
          <p:cNvSpPr txBox="1"/>
          <p:nvPr/>
        </p:nvSpPr>
        <p:spPr>
          <a:xfrm>
            <a:off x="8458200" y="4379976"/>
            <a:ext cx="3227832" cy="256032"/>
          </a:xfrm>
          <a:prstGeom prst="rect">
            <a:avLst/>
          </a:prstGeom>
          <a:noFill/>
        </p:spPr>
        <p:txBody>
          <a:bodyPr wrap="square">
            <a:spAutoFit/>
          </a:bodyPr>
          <a:lstStyle/>
          <a:p>
            <a:pPr algn="l"/>
            <a:r>
              <a:rPr sz="950" b="0">
                <a:solidFill>
                  <a:srgbClr val="232D3A"/>
                </a:solidFill>
                <a:latin typeface="Aptos"/>
              </a:rPr>
              <a:t>• attention à l’échelle</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10896"/>
            <a:ext cx="2743200" cy="201168"/>
          </a:xfrm>
          <a:prstGeom prst="rect">
            <a:avLst/>
          </a:prstGeom>
          <a:noFill/>
        </p:spPr>
        <p:txBody>
          <a:bodyPr wrap="square">
            <a:spAutoFit/>
          </a:bodyPr>
          <a:lstStyle/>
          <a:p>
            <a:pPr algn="l"/>
            <a:r>
              <a:rPr sz="950" b="1">
                <a:solidFill>
                  <a:srgbClr val="2D69E1"/>
                </a:solidFill>
                <a:latin typeface="Aptos"/>
              </a:rPr>
              <a:t>RÉGRESSION</a:t>
            </a:r>
          </a:p>
        </p:txBody>
      </p:sp>
      <p:sp>
        <p:nvSpPr>
          <p:cNvPr id="3" name="TextBox 2"/>
          <p:cNvSpPr txBox="1"/>
          <p:nvPr/>
        </p:nvSpPr>
        <p:spPr>
          <a:xfrm>
            <a:off x="685800" y="685800"/>
            <a:ext cx="10789920" cy="475488"/>
          </a:xfrm>
          <a:prstGeom prst="rect">
            <a:avLst/>
          </a:prstGeom>
          <a:noFill/>
        </p:spPr>
        <p:txBody>
          <a:bodyPr wrap="square">
            <a:spAutoFit/>
          </a:bodyPr>
          <a:lstStyle/>
          <a:p>
            <a:pPr algn="l"/>
            <a:r>
              <a:rPr sz="2400" b="1">
                <a:solidFill>
                  <a:srgbClr val="163658"/>
                </a:solidFill>
                <a:latin typeface="Aptos"/>
              </a:rPr>
              <a:t>Régression polynomiale — de la droite à la courbe</a:t>
            </a:r>
          </a:p>
        </p:txBody>
      </p:sp>
      <p:sp>
        <p:nvSpPr>
          <p:cNvPr id="4" name="TextBox 3"/>
          <p:cNvSpPr txBox="1"/>
          <p:nvPr/>
        </p:nvSpPr>
        <p:spPr>
          <a:xfrm>
            <a:off x="685800" y="1243584"/>
            <a:ext cx="10698480" cy="292608"/>
          </a:xfrm>
          <a:prstGeom prst="rect">
            <a:avLst/>
          </a:prstGeom>
          <a:noFill/>
        </p:spPr>
        <p:txBody>
          <a:bodyPr wrap="square">
            <a:spAutoFit/>
          </a:bodyPr>
          <a:lstStyle/>
          <a:p>
            <a:pPr algn="l"/>
            <a:r>
              <a:rPr sz="1080" b="0">
                <a:solidFill>
                  <a:srgbClr val="64748B"/>
                </a:solidFill>
                <a:latin typeface="Aptos"/>
              </a:rPr>
              <a:t>Une relation peut être non linéaire en x tout en restant linéaire dans les coefficients β.</a:t>
            </a:r>
          </a:p>
        </p:txBody>
      </p:sp>
      <p:sp>
        <p:nvSpPr>
          <p:cNvPr id="5" name="TextBox 4"/>
          <p:cNvSpPr txBox="1"/>
          <p:nvPr/>
        </p:nvSpPr>
        <p:spPr>
          <a:xfrm>
            <a:off x="594360" y="6446520"/>
            <a:ext cx="10698480" cy="155448"/>
          </a:xfrm>
          <a:prstGeom prst="rect">
            <a:avLst/>
          </a:prstGeom>
          <a:noFill/>
        </p:spPr>
        <p:txBody>
          <a:bodyPr wrap="square">
            <a:spAutoFit/>
          </a:bodyPr>
          <a:lstStyle/>
          <a:p>
            <a:pPr algn="l"/>
            <a:r>
              <a:rPr sz="650" b="0">
                <a:solidFill>
                  <a:srgbClr val="64748B"/>
                </a:solidFill>
                <a:latin typeface="Aptos"/>
              </a:rPr>
              <a:t>Samson AMOUSSOU — Intelligence Artificielle — ESI 4e année, option Développeur — Jour 2</a:t>
            </a:r>
          </a:p>
        </p:txBody>
      </p:sp>
      <p:sp>
        <p:nvSpPr>
          <p:cNvPr id="6" name="TextBox 5"/>
          <p:cNvSpPr txBox="1"/>
          <p:nvPr/>
        </p:nvSpPr>
        <p:spPr>
          <a:xfrm>
            <a:off x="11155680" y="6446520"/>
            <a:ext cx="365760" cy="155448"/>
          </a:xfrm>
          <a:prstGeom prst="rect">
            <a:avLst/>
          </a:prstGeom>
          <a:noFill/>
        </p:spPr>
        <p:txBody>
          <a:bodyPr wrap="square">
            <a:spAutoFit/>
          </a:bodyPr>
          <a:lstStyle/>
          <a:p>
            <a:pPr algn="r"/>
            <a:r>
              <a:rPr sz="650" b="0">
                <a:solidFill>
                  <a:srgbClr val="64748B"/>
                </a:solidFill>
                <a:latin typeface="Aptos"/>
              </a:rPr>
              <a:t>1</a:t>
            </a:r>
          </a:p>
        </p:txBody>
      </p:sp>
      <p:sp>
        <p:nvSpPr>
          <p:cNvPr id="7" name="Rounded Rectangle 6"/>
          <p:cNvSpPr/>
          <p:nvPr/>
        </p:nvSpPr>
        <p:spPr>
          <a:xfrm>
            <a:off x="640080" y="1783080"/>
            <a:ext cx="5166360" cy="3611880"/>
          </a:xfrm>
          <a:prstGeom prst="roundRect">
            <a:avLst/>
          </a:prstGeom>
          <a:solidFill>
            <a:srgbClr val="F6F9FC"/>
          </a:solidFill>
          <a:ln>
            <a:solidFill>
              <a:srgbClr val="2D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993392"/>
            <a:ext cx="4617720" cy="274320"/>
          </a:xfrm>
          <a:prstGeom prst="rect">
            <a:avLst/>
          </a:prstGeom>
          <a:noFill/>
        </p:spPr>
        <p:txBody>
          <a:bodyPr wrap="square">
            <a:spAutoFit/>
          </a:bodyPr>
          <a:lstStyle/>
          <a:p>
            <a:pPr algn="l"/>
            <a:r>
              <a:rPr sz="1300" b="1">
                <a:solidFill>
                  <a:srgbClr val="163658"/>
                </a:solidFill>
                <a:latin typeface="Aptos"/>
              </a:rPr>
              <a:t>1. Régression linéaire</a:t>
            </a:r>
          </a:p>
        </p:txBody>
      </p:sp>
      <p:sp>
        <p:nvSpPr>
          <p:cNvPr id="9" name="TextBox 8"/>
          <p:cNvSpPr txBox="1"/>
          <p:nvPr/>
        </p:nvSpPr>
        <p:spPr>
          <a:xfrm>
            <a:off x="914400" y="2404872"/>
            <a:ext cx="4617720" cy="347472"/>
          </a:xfrm>
          <a:prstGeom prst="rect">
            <a:avLst/>
          </a:prstGeom>
          <a:noFill/>
        </p:spPr>
        <p:txBody>
          <a:bodyPr wrap="square">
            <a:spAutoFit/>
          </a:bodyPr>
          <a:lstStyle/>
          <a:p>
            <a:pPr algn="ctr"/>
            <a:r>
              <a:rPr sz="1800" b="1">
                <a:solidFill>
                  <a:srgbClr val="2D69E1"/>
                </a:solidFill>
                <a:latin typeface="Aptos"/>
              </a:rPr>
              <a:t>ŷ = β₀ + β₁x</a:t>
            </a:r>
          </a:p>
        </p:txBody>
      </p:sp>
      <p:sp>
        <p:nvSpPr>
          <p:cNvPr id="10" name="TextBox 9"/>
          <p:cNvSpPr txBox="1"/>
          <p:nvPr/>
        </p:nvSpPr>
        <p:spPr>
          <a:xfrm>
            <a:off x="914400" y="2907792"/>
            <a:ext cx="4617720" cy="274320"/>
          </a:xfrm>
          <a:prstGeom prst="rect">
            <a:avLst/>
          </a:prstGeom>
          <a:noFill/>
        </p:spPr>
        <p:txBody>
          <a:bodyPr wrap="square">
            <a:spAutoFit/>
          </a:bodyPr>
          <a:lstStyle/>
          <a:p>
            <a:pPr algn="ctr"/>
            <a:r>
              <a:rPr sz="1100" b="1">
                <a:solidFill>
                  <a:srgbClr val="26303D"/>
                </a:solidFill>
                <a:latin typeface="Aptos"/>
              </a:rPr>
              <a:t>Si la tendance se courbe…</a:t>
            </a:r>
          </a:p>
        </p:txBody>
      </p:sp>
      <p:sp>
        <p:nvSpPr>
          <p:cNvPr id="11" name="TextBox 10"/>
          <p:cNvSpPr txBox="1"/>
          <p:nvPr/>
        </p:nvSpPr>
        <p:spPr>
          <a:xfrm>
            <a:off x="914400" y="3310128"/>
            <a:ext cx="4617720" cy="347472"/>
          </a:xfrm>
          <a:prstGeom prst="rect">
            <a:avLst/>
          </a:prstGeom>
          <a:noFill/>
        </p:spPr>
        <p:txBody>
          <a:bodyPr wrap="square">
            <a:spAutoFit/>
          </a:bodyPr>
          <a:lstStyle/>
          <a:p>
            <a:pPr algn="ctr"/>
            <a:r>
              <a:rPr sz="1100" b="0">
                <a:solidFill>
                  <a:srgbClr val="64748B"/>
                </a:solidFill>
                <a:latin typeface="Aptos"/>
              </a:rPr>
              <a:t>on enrichit les variables</a:t>
            </a:r>
          </a:p>
        </p:txBody>
      </p:sp>
      <p:sp>
        <p:nvSpPr>
          <p:cNvPr id="12" name="TextBox 11"/>
          <p:cNvSpPr txBox="1"/>
          <p:nvPr/>
        </p:nvSpPr>
        <p:spPr>
          <a:xfrm>
            <a:off x="914400" y="3767328"/>
            <a:ext cx="4617720" cy="457200"/>
          </a:xfrm>
          <a:prstGeom prst="rect">
            <a:avLst/>
          </a:prstGeom>
          <a:noFill/>
        </p:spPr>
        <p:txBody>
          <a:bodyPr wrap="square">
            <a:spAutoFit/>
          </a:bodyPr>
          <a:lstStyle/>
          <a:p>
            <a:pPr algn="ctr"/>
            <a:r>
              <a:rPr sz="1700" b="1">
                <a:solidFill>
                  <a:srgbClr val="6F4CD6"/>
                </a:solidFill>
                <a:latin typeface="Aptos"/>
              </a:rPr>
              <a:t>x  →  x, x², x³, …, xᵈ</a:t>
            </a:r>
          </a:p>
        </p:txBody>
      </p:sp>
      <p:sp>
        <p:nvSpPr>
          <p:cNvPr id="13" name="TextBox 12"/>
          <p:cNvSpPr txBox="1"/>
          <p:nvPr/>
        </p:nvSpPr>
        <p:spPr>
          <a:xfrm>
            <a:off x="914400" y="4407408"/>
            <a:ext cx="4617720" cy="502920"/>
          </a:xfrm>
          <a:prstGeom prst="rect">
            <a:avLst/>
          </a:prstGeom>
          <a:noFill/>
        </p:spPr>
        <p:txBody>
          <a:bodyPr wrap="square">
            <a:spAutoFit/>
          </a:bodyPr>
          <a:lstStyle/>
          <a:p>
            <a:pPr algn="ctr"/>
            <a:r>
              <a:rPr sz="1000" b="0">
                <a:solidFill>
                  <a:srgbClr val="26303D"/>
                </a:solidFill>
                <a:latin typeface="Aptos"/>
              </a:rPr>
              <a:t>Le modèle apprend alors une courbe sans changer de famille : il reste linéaire en β.</a:t>
            </a:r>
          </a:p>
        </p:txBody>
      </p:sp>
      <p:sp>
        <p:nvSpPr>
          <p:cNvPr id="14" name="Rounded Rectangle 13"/>
          <p:cNvSpPr/>
          <p:nvPr/>
        </p:nvSpPr>
        <p:spPr>
          <a:xfrm>
            <a:off x="6126480" y="1783080"/>
            <a:ext cx="5394960" cy="3611880"/>
          </a:xfrm>
          <a:prstGeom prst="roundRect">
            <a:avLst/>
          </a:prstGeom>
          <a:solidFill>
            <a:srgbClr val="F6F9FC"/>
          </a:solidFill>
          <a:ln>
            <a:solidFill>
              <a:srgbClr val="6F4C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993392"/>
            <a:ext cx="4846320" cy="274320"/>
          </a:xfrm>
          <a:prstGeom prst="rect">
            <a:avLst/>
          </a:prstGeom>
          <a:noFill/>
        </p:spPr>
        <p:txBody>
          <a:bodyPr wrap="square">
            <a:spAutoFit/>
          </a:bodyPr>
          <a:lstStyle/>
          <a:p>
            <a:pPr algn="l"/>
            <a:r>
              <a:rPr sz="1300" b="1">
                <a:solidFill>
                  <a:srgbClr val="163658"/>
                </a:solidFill>
                <a:latin typeface="Aptos"/>
              </a:rPr>
              <a:t>2. Modèle polynomial de degré d</a:t>
            </a:r>
          </a:p>
        </p:txBody>
      </p:sp>
      <p:sp>
        <p:nvSpPr>
          <p:cNvPr id="16" name="TextBox 15"/>
          <p:cNvSpPr txBox="1"/>
          <p:nvPr/>
        </p:nvSpPr>
        <p:spPr>
          <a:xfrm>
            <a:off x="6400800" y="2468880"/>
            <a:ext cx="4846320" cy="502920"/>
          </a:xfrm>
          <a:prstGeom prst="rect">
            <a:avLst/>
          </a:prstGeom>
          <a:noFill/>
        </p:spPr>
        <p:txBody>
          <a:bodyPr wrap="square">
            <a:spAutoFit/>
          </a:bodyPr>
          <a:lstStyle/>
          <a:p>
            <a:pPr algn="ctr"/>
            <a:r>
              <a:rPr sz="1800" b="1">
                <a:solidFill>
                  <a:srgbClr val="163658"/>
                </a:solidFill>
                <a:latin typeface="Aptos"/>
              </a:rPr>
              <a:t>ŷ = β₀ + β₁x + β₂x² + … + βd xᵈ</a:t>
            </a:r>
          </a:p>
        </p:txBody>
      </p:sp>
      <p:sp>
        <p:nvSpPr>
          <p:cNvPr id="17" name="TextBox 16"/>
          <p:cNvSpPr txBox="1"/>
          <p:nvPr/>
        </p:nvSpPr>
        <p:spPr>
          <a:xfrm>
            <a:off x="6400800" y="3182112"/>
            <a:ext cx="2240280" cy="320040"/>
          </a:xfrm>
          <a:prstGeom prst="rect">
            <a:avLst/>
          </a:prstGeom>
          <a:noFill/>
        </p:spPr>
        <p:txBody>
          <a:bodyPr wrap="square">
            <a:spAutoFit/>
          </a:bodyPr>
          <a:lstStyle/>
          <a:p>
            <a:pPr algn="l"/>
            <a:r>
              <a:rPr sz="1050" b="1">
                <a:solidFill>
                  <a:srgbClr val="2D69E1"/>
                </a:solidFill>
                <a:latin typeface="Aptos"/>
              </a:rPr>
              <a:t>Exemple degré 2</a:t>
            </a:r>
          </a:p>
        </p:txBody>
      </p:sp>
      <p:sp>
        <p:nvSpPr>
          <p:cNvPr id="18" name="TextBox 17"/>
          <p:cNvSpPr txBox="1"/>
          <p:nvPr/>
        </p:nvSpPr>
        <p:spPr>
          <a:xfrm>
            <a:off x="8732520" y="3182112"/>
            <a:ext cx="2240280" cy="320040"/>
          </a:xfrm>
          <a:prstGeom prst="rect">
            <a:avLst/>
          </a:prstGeom>
          <a:noFill/>
        </p:spPr>
        <p:txBody>
          <a:bodyPr wrap="square">
            <a:spAutoFit/>
          </a:bodyPr>
          <a:lstStyle/>
          <a:p>
            <a:pPr algn="l"/>
            <a:r>
              <a:rPr sz="1050" b="1">
                <a:solidFill>
                  <a:srgbClr val="48AB44"/>
                </a:solidFill>
                <a:latin typeface="Aptos"/>
              </a:rPr>
              <a:t>Exemple degré 3</a:t>
            </a:r>
          </a:p>
        </p:txBody>
      </p:sp>
      <p:sp>
        <p:nvSpPr>
          <p:cNvPr id="19" name="TextBox 18"/>
          <p:cNvSpPr txBox="1"/>
          <p:nvPr/>
        </p:nvSpPr>
        <p:spPr>
          <a:xfrm>
            <a:off x="6400800" y="3584448"/>
            <a:ext cx="2240280" cy="640080"/>
          </a:xfrm>
          <a:prstGeom prst="rect">
            <a:avLst/>
          </a:prstGeom>
          <a:noFill/>
        </p:spPr>
        <p:txBody>
          <a:bodyPr wrap="square">
            <a:spAutoFit/>
          </a:bodyPr>
          <a:lstStyle/>
          <a:p>
            <a:pPr algn="ctr"/>
            <a:r>
              <a:rPr sz="1200" b="1">
                <a:solidFill>
                  <a:srgbClr val="26303D"/>
                </a:solidFill>
                <a:latin typeface="Aptos"/>
              </a:rPr>
              <a:t>x = 4
→ [4 ; 16]</a:t>
            </a:r>
          </a:p>
        </p:txBody>
      </p:sp>
      <p:sp>
        <p:nvSpPr>
          <p:cNvPr id="20" name="TextBox 19"/>
          <p:cNvSpPr txBox="1"/>
          <p:nvPr/>
        </p:nvSpPr>
        <p:spPr>
          <a:xfrm>
            <a:off x="8732520" y="3584448"/>
            <a:ext cx="2240280" cy="640080"/>
          </a:xfrm>
          <a:prstGeom prst="rect">
            <a:avLst/>
          </a:prstGeom>
          <a:noFill/>
        </p:spPr>
        <p:txBody>
          <a:bodyPr wrap="square">
            <a:spAutoFit/>
          </a:bodyPr>
          <a:lstStyle/>
          <a:p>
            <a:pPr algn="ctr"/>
            <a:r>
              <a:rPr sz="1200" b="1">
                <a:solidFill>
                  <a:srgbClr val="26303D"/>
                </a:solidFill>
                <a:latin typeface="Aptos"/>
              </a:rPr>
              <a:t>x = 4
→ [4 ; 16 ; 64]</a:t>
            </a:r>
          </a:p>
        </p:txBody>
      </p:sp>
      <p:sp>
        <p:nvSpPr>
          <p:cNvPr id="21" name="TextBox 20"/>
          <p:cNvSpPr txBox="1"/>
          <p:nvPr/>
        </p:nvSpPr>
        <p:spPr>
          <a:xfrm>
            <a:off x="6400800" y="4462272"/>
            <a:ext cx="4800600" cy="411480"/>
          </a:xfrm>
          <a:prstGeom prst="rect">
            <a:avLst/>
          </a:prstGeom>
          <a:noFill/>
        </p:spPr>
        <p:txBody>
          <a:bodyPr wrap="square">
            <a:spAutoFit/>
          </a:bodyPr>
          <a:lstStyle/>
          <a:p>
            <a:pPr algn="ctr"/>
            <a:r>
              <a:rPr sz="1000" b="0">
                <a:solidFill>
                  <a:srgbClr val="26303D"/>
                </a:solidFill>
                <a:latin typeface="Aptos"/>
              </a:rPr>
              <a:t>La « non-linéarité » vient des nouvelles caractéristiques x², x³…</a:t>
            </a:r>
          </a:p>
        </p:txBody>
      </p:sp>
      <p:sp>
        <p:nvSpPr>
          <p:cNvPr id="22" name="Rounded Rectangle 21"/>
          <p:cNvSpPr/>
          <p:nvPr/>
        </p:nvSpPr>
        <p:spPr>
          <a:xfrm>
            <a:off x="868680" y="5605272"/>
            <a:ext cx="10424160" cy="502920"/>
          </a:xfrm>
          <a:prstGeom prst="roundRect">
            <a:avLst/>
          </a:prstGeom>
          <a:solidFill>
            <a:srgbClr val="163658"/>
          </a:solidFill>
          <a:ln>
            <a:solidFill>
              <a:srgbClr val="16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1560" y="5751576"/>
            <a:ext cx="10058400" cy="210312"/>
          </a:xfrm>
          <a:prstGeom prst="rect">
            <a:avLst/>
          </a:prstGeom>
          <a:noFill/>
        </p:spPr>
        <p:txBody>
          <a:bodyPr wrap="square">
            <a:spAutoFit/>
          </a:bodyPr>
          <a:lstStyle/>
          <a:p>
            <a:pPr algn="ctr"/>
            <a:r>
              <a:rPr sz="1050" b="1">
                <a:solidFill>
                  <a:srgbClr val="FFFFFF"/>
                </a:solidFill>
                <a:latin typeface="Aptos"/>
              </a:rPr>
              <a:t>À retenir → PolynomialFeatures transforme X ; LinearRegression estime ensuite les coefficients β.</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10896"/>
            <a:ext cx="2743200" cy="201168"/>
          </a:xfrm>
          <a:prstGeom prst="rect">
            <a:avLst/>
          </a:prstGeom>
          <a:noFill/>
        </p:spPr>
        <p:txBody>
          <a:bodyPr wrap="square">
            <a:spAutoFit/>
          </a:bodyPr>
          <a:lstStyle/>
          <a:p>
            <a:pPr algn="l"/>
            <a:r>
              <a:rPr sz="950" b="1">
                <a:solidFill>
                  <a:srgbClr val="2D69E1"/>
                </a:solidFill>
                <a:latin typeface="Aptos"/>
              </a:rPr>
              <a:t>RÉGRESSION</a:t>
            </a:r>
          </a:p>
        </p:txBody>
      </p:sp>
      <p:sp>
        <p:nvSpPr>
          <p:cNvPr id="3" name="TextBox 2"/>
          <p:cNvSpPr txBox="1"/>
          <p:nvPr/>
        </p:nvSpPr>
        <p:spPr>
          <a:xfrm>
            <a:off x="685800" y="685800"/>
            <a:ext cx="10789920" cy="475488"/>
          </a:xfrm>
          <a:prstGeom prst="rect">
            <a:avLst/>
          </a:prstGeom>
          <a:noFill/>
        </p:spPr>
        <p:txBody>
          <a:bodyPr wrap="square">
            <a:spAutoFit/>
          </a:bodyPr>
          <a:lstStyle/>
          <a:p>
            <a:pPr algn="l"/>
            <a:r>
              <a:rPr sz="2400" b="1">
                <a:solidFill>
                  <a:srgbClr val="163658"/>
                </a:solidFill>
                <a:latin typeface="Aptos"/>
              </a:rPr>
              <a:t>Choisir le degré — biais, variance et surapprentissage</a:t>
            </a:r>
          </a:p>
        </p:txBody>
      </p:sp>
      <p:sp>
        <p:nvSpPr>
          <p:cNvPr id="4" name="TextBox 3"/>
          <p:cNvSpPr txBox="1"/>
          <p:nvPr/>
        </p:nvSpPr>
        <p:spPr>
          <a:xfrm>
            <a:off x="685800" y="1243584"/>
            <a:ext cx="10698480" cy="292608"/>
          </a:xfrm>
          <a:prstGeom prst="rect">
            <a:avLst/>
          </a:prstGeom>
          <a:noFill/>
        </p:spPr>
        <p:txBody>
          <a:bodyPr wrap="square">
            <a:spAutoFit/>
          </a:bodyPr>
          <a:lstStyle/>
          <a:p>
            <a:pPr algn="l"/>
            <a:r>
              <a:rPr sz="1080" b="0">
                <a:solidFill>
                  <a:srgbClr val="64748B"/>
                </a:solidFill>
                <a:latin typeface="Aptos"/>
              </a:rPr>
              <a:t>Plus de flexibilité n’implique pas automatiquement une meilleure généralisation.</a:t>
            </a:r>
          </a:p>
        </p:txBody>
      </p:sp>
      <p:sp>
        <p:nvSpPr>
          <p:cNvPr id="5" name="TextBox 4"/>
          <p:cNvSpPr txBox="1"/>
          <p:nvPr/>
        </p:nvSpPr>
        <p:spPr>
          <a:xfrm>
            <a:off x="594360" y="6446520"/>
            <a:ext cx="10698480" cy="155448"/>
          </a:xfrm>
          <a:prstGeom prst="rect">
            <a:avLst/>
          </a:prstGeom>
          <a:noFill/>
        </p:spPr>
        <p:txBody>
          <a:bodyPr wrap="square">
            <a:spAutoFit/>
          </a:bodyPr>
          <a:lstStyle/>
          <a:p>
            <a:pPr algn="l"/>
            <a:r>
              <a:rPr sz="650" b="0">
                <a:solidFill>
                  <a:srgbClr val="64748B"/>
                </a:solidFill>
                <a:latin typeface="Aptos"/>
              </a:rPr>
              <a:t>Samson AMOUSSOU — Intelligence Artificielle — ESI 4e année, option Développeur — Jour 2</a:t>
            </a:r>
          </a:p>
        </p:txBody>
      </p:sp>
      <p:sp>
        <p:nvSpPr>
          <p:cNvPr id="6" name="TextBox 5"/>
          <p:cNvSpPr txBox="1"/>
          <p:nvPr/>
        </p:nvSpPr>
        <p:spPr>
          <a:xfrm>
            <a:off x="11155680" y="6446520"/>
            <a:ext cx="365760" cy="155448"/>
          </a:xfrm>
          <a:prstGeom prst="rect">
            <a:avLst/>
          </a:prstGeom>
          <a:noFill/>
        </p:spPr>
        <p:txBody>
          <a:bodyPr wrap="square">
            <a:spAutoFit/>
          </a:bodyPr>
          <a:lstStyle/>
          <a:p>
            <a:pPr algn="r"/>
            <a:r>
              <a:rPr sz="650" b="0">
                <a:solidFill>
                  <a:srgbClr val="64748B"/>
                </a:solidFill>
                <a:latin typeface="Aptos"/>
              </a:rPr>
              <a:t>2</a:t>
            </a:r>
          </a:p>
        </p:txBody>
      </p:sp>
      <p:sp>
        <p:nvSpPr>
          <p:cNvPr id="7" name="Rounded Rectangle 6"/>
          <p:cNvSpPr/>
          <p:nvPr/>
        </p:nvSpPr>
        <p:spPr>
          <a:xfrm>
            <a:off x="658368" y="1783080"/>
            <a:ext cx="3429000" cy="3566160"/>
          </a:xfrm>
          <a:prstGeom prst="roundRect">
            <a:avLst/>
          </a:prstGeom>
          <a:solidFill>
            <a:srgbClr val="F6F9FC"/>
          </a:solidFill>
          <a:ln>
            <a:solidFill>
              <a:srgbClr val="2D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965960"/>
            <a:ext cx="3099816" cy="228600"/>
          </a:xfrm>
          <a:prstGeom prst="rect">
            <a:avLst/>
          </a:prstGeom>
          <a:noFill/>
        </p:spPr>
        <p:txBody>
          <a:bodyPr wrap="square">
            <a:spAutoFit/>
          </a:bodyPr>
          <a:lstStyle/>
          <a:p>
            <a:pPr algn="ctr"/>
            <a:r>
              <a:rPr sz="1050" b="1">
                <a:solidFill>
                  <a:srgbClr val="2D69E1"/>
                </a:solidFill>
                <a:latin typeface="Aptos"/>
              </a:rPr>
              <a:t>DEGRÉ TROP FAIBLE</a:t>
            </a:r>
          </a:p>
        </p:txBody>
      </p:sp>
      <p:sp>
        <p:nvSpPr>
          <p:cNvPr id="9" name="TextBox 8"/>
          <p:cNvSpPr txBox="1"/>
          <p:nvPr/>
        </p:nvSpPr>
        <p:spPr>
          <a:xfrm>
            <a:off x="822959" y="2313432"/>
            <a:ext cx="3099816" cy="274320"/>
          </a:xfrm>
          <a:prstGeom prst="rect">
            <a:avLst/>
          </a:prstGeom>
          <a:noFill/>
        </p:spPr>
        <p:txBody>
          <a:bodyPr wrap="square">
            <a:spAutoFit/>
          </a:bodyPr>
          <a:lstStyle/>
          <a:p>
            <a:pPr algn="ctr"/>
            <a:r>
              <a:rPr sz="1300" b="1">
                <a:solidFill>
                  <a:srgbClr val="163658"/>
                </a:solidFill>
                <a:latin typeface="Aptos"/>
              </a:rPr>
              <a:t>Sous-apprentissage</a:t>
            </a:r>
          </a:p>
        </p:txBody>
      </p:sp>
      <p:sp>
        <p:nvSpPr>
          <p:cNvPr id="10" name="TextBox 9"/>
          <p:cNvSpPr txBox="1"/>
          <p:nvPr/>
        </p:nvSpPr>
        <p:spPr>
          <a:xfrm>
            <a:off x="822959" y="2743200"/>
            <a:ext cx="3099816" cy="228600"/>
          </a:xfrm>
          <a:prstGeom prst="rect">
            <a:avLst/>
          </a:prstGeom>
          <a:noFill/>
        </p:spPr>
        <p:txBody>
          <a:bodyPr wrap="square">
            <a:spAutoFit/>
          </a:bodyPr>
          <a:lstStyle/>
          <a:p>
            <a:pPr algn="ctr"/>
            <a:r>
              <a:rPr sz="950" b="1">
                <a:solidFill>
                  <a:srgbClr val="64748B"/>
                </a:solidFill>
                <a:latin typeface="Aptos"/>
              </a:rPr>
              <a:t>Ex. degré 1</a:t>
            </a:r>
          </a:p>
        </p:txBody>
      </p:sp>
      <p:sp>
        <p:nvSpPr>
          <p:cNvPr id="11" name="TextBox 10"/>
          <p:cNvSpPr txBox="1"/>
          <p:nvPr/>
        </p:nvSpPr>
        <p:spPr>
          <a:xfrm>
            <a:off x="886968" y="3200400"/>
            <a:ext cx="2971800" cy="320040"/>
          </a:xfrm>
          <a:prstGeom prst="rect">
            <a:avLst/>
          </a:prstGeom>
          <a:noFill/>
        </p:spPr>
        <p:txBody>
          <a:bodyPr wrap="square">
            <a:spAutoFit/>
          </a:bodyPr>
          <a:lstStyle/>
          <a:p>
            <a:pPr algn="l"/>
            <a:r>
              <a:rPr sz="950" b="0">
                <a:solidFill>
                  <a:srgbClr val="26303D"/>
                </a:solidFill>
                <a:latin typeface="Aptos"/>
              </a:rPr>
              <a:t>• courbe trop rigide</a:t>
            </a:r>
          </a:p>
        </p:txBody>
      </p:sp>
      <p:sp>
        <p:nvSpPr>
          <p:cNvPr id="12" name="TextBox 11"/>
          <p:cNvSpPr txBox="1"/>
          <p:nvPr/>
        </p:nvSpPr>
        <p:spPr>
          <a:xfrm>
            <a:off x="886968" y="3703320"/>
            <a:ext cx="2971800" cy="320040"/>
          </a:xfrm>
          <a:prstGeom prst="rect">
            <a:avLst/>
          </a:prstGeom>
          <a:noFill/>
        </p:spPr>
        <p:txBody>
          <a:bodyPr wrap="square">
            <a:spAutoFit/>
          </a:bodyPr>
          <a:lstStyle/>
          <a:p>
            <a:pPr algn="l"/>
            <a:r>
              <a:rPr sz="950" b="0">
                <a:solidFill>
                  <a:srgbClr val="26303D"/>
                </a:solidFill>
                <a:latin typeface="Aptos"/>
              </a:rPr>
              <a:t>• biais élevé</a:t>
            </a:r>
          </a:p>
        </p:txBody>
      </p:sp>
      <p:sp>
        <p:nvSpPr>
          <p:cNvPr id="13" name="TextBox 12"/>
          <p:cNvSpPr txBox="1"/>
          <p:nvPr/>
        </p:nvSpPr>
        <p:spPr>
          <a:xfrm>
            <a:off x="886968" y="4206240"/>
            <a:ext cx="2971800" cy="320040"/>
          </a:xfrm>
          <a:prstGeom prst="rect">
            <a:avLst/>
          </a:prstGeom>
          <a:noFill/>
        </p:spPr>
        <p:txBody>
          <a:bodyPr wrap="square">
            <a:spAutoFit/>
          </a:bodyPr>
          <a:lstStyle/>
          <a:p>
            <a:pPr algn="l"/>
            <a:r>
              <a:rPr sz="950" b="0">
                <a:solidFill>
                  <a:srgbClr val="26303D"/>
                </a:solidFill>
                <a:latin typeface="Aptos"/>
              </a:rPr>
              <a:t>• erreurs TRAIN et TEST élevées</a:t>
            </a:r>
          </a:p>
        </p:txBody>
      </p:sp>
      <p:sp>
        <p:nvSpPr>
          <p:cNvPr id="14" name="Rounded Rectangle 13"/>
          <p:cNvSpPr/>
          <p:nvPr/>
        </p:nvSpPr>
        <p:spPr>
          <a:xfrm>
            <a:off x="4370832" y="1783080"/>
            <a:ext cx="3429000" cy="3566160"/>
          </a:xfrm>
          <a:prstGeom prst="roundRect">
            <a:avLst/>
          </a:prstGeom>
          <a:solidFill>
            <a:srgbClr val="F6F9FC"/>
          </a:solidFill>
          <a:ln>
            <a:solidFill>
              <a:srgbClr val="48AB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35424" y="1965960"/>
            <a:ext cx="3099816" cy="228600"/>
          </a:xfrm>
          <a:prstGeom prst="rect">
            <a:avLst/>
          </a:prstGeom>
          <a:noFill/>
        </p:spPr>
        <p:txBody>
          <a:bodyPr wrap="square">
            <a:spAutoFit/>
          </a:bodyPr>
          <a:lstStyle/>
          <a:p>
            <a:pPr algn="ctr"/>
            <a:r>
              <a:rPr sz="1050" b="1">
                <a:solidFill>
                  <a:srgbClr val="48AB44"/>
                </a:solidFill>
                <a:latin typeface="Aptos"/>
              </a:rPr>
              <a:t>DEGRÉ ADAPTÉ</a:t>
            </a:r>
          </a:p>
        </p:txBody>
      </p:sp>
      <p:sp>
        <p:nvSpPr>
          <p:cNvPr id="16" name="TextBox 15"/>
          <p:cNvSpPr txBox="1"/>
          <p:nvPr/>
        </p:nvSpPr>
        <p:spPr>
          <a:xfrm>
            <a:off x="4535424" y="2313432"/>
            <a:ext cx="3099816" cy="274320"/>
          </a:xfrm>
          <a:prstGeom prst="rect">
            <a:avLst/>
          </a:prstGeom>
          <a:noFill/>
        </p:spPr>
        <p:txBody>
          <a:bodyPr wrap="square">
            <a:spAutoFit/>
          </a:bodyPr>
          <a:lstStyle/>
          <a:p>
            <a:pPr algn="ctr"/>
            <a:r>
              <a:rPr sz="1300" b="1">
                <a:solidFill>
                  <a:srgbClr val="163658"/>
                </a:solidFill>
                <a:latin typeface="Aptos"/>
              </a:rPr>
              <a:t>Bon compromis</a:t>
            </a:r>
          </a:p>
        </p:txBody>
      </p:sp>
      <p:sp>
        <p:nvSpPr>
          <p:cNvPr id="17" name="TextBox 16"/>
          <p:cNvSpPr txBox="1"/>
          <p:nvPr/>
        </p:nvSpPr>
        <p:spPr>
          <a:xfrm>
            <a:off x="4535424" y="2743200"/>
            <a:ext cx="3099816" cy="228600"/>
          </a:xfrm>
          <a:prstGeom prst="rect">
            <a:avLst/>
          </a:prstGeom>
          <a:noFill/>
        </p:spPr>
        <p:txBody>
          <a:bodyPr wrap="square">
            <a:spAutoFit/>
          </a:bodyPr>
          <a:lstStyle/>
          <a:p>
            <a:pPr algn="ctr"/>
            <a:r>
              <a:rPr sz="950" b="1">
                <a:solidFill>
                  <a:srgbClr val="64748B"/>
                </a:solidFill>
                <a:latin typeface="Aptos"/>
              </a:rPr>
              <a:t>Ex. degré 2</a:t>
            </a:r>
          </a:p>
        </p:txBody>
      </p:sp>
      <p:sp>
        <p:nvSpPr>
          <p:cNvPr id="18" name="TextBox 17"/>
          <p:cNvSpPr txBox="1"/>
          <p:nvPr/>
        </p:nvSpPr>
        <p:spPr>
          <a:xfrm>
            <a:off x="4599432" y="3200400"/>
            <a:ext cx="2971800" cy="320040"/>
          </a:xfrm>
          <a:prstGeom prst="rect">
            <a:avLst/>
          </a:prstGeom>
          <a:noFill/>
        </p:spPr>
        <p:txBody>
          <a:bodyPr wrap="square">
            <a:spAutoFit/>
          </a:bodyPr>
          <a:lstStyle/>
          <a:p>
            <a:pPr algn="l"/>
            <a:r>
              <a:rPr sz="950" b="0">
                <a:solidFill>
                  <a:srgbClr val="26303D"/>
                </a:solidFill>
                <a:latin typeface="Aptos"/>
              </a:rPr>
              <a:t>• structure utile capturée</a:t>
            </a:r>
          </a:p>
        </p:txBody>
      </p:sp>
      <p:sp>
        <p:nvSpPr>
          <p:cNvPr id="19" name="TextBox 18"/>
          <p:cNvSpPr txBox="1"/>
          <p:nvPr/>
        </p:nvSpPr>
        <p:spPr>
          <a:xfrm>
            <a:off x="4599432" y="3703320"/>
            <a:ext cx="2971800" cy="320040"/>
          </a:xfrm>
          <a:prstGeom prst="rect">
            <a:avLst/>
          </a:prstGeom>
          <a:noFill/>
        </p:spPr>
        <p:txBody>
          <a:bodyPr wrap="square">
            <a:spAutoFit/>
          </a:bodyPr>
          <a:lstStyle/>
          <a:p>
            <a:pPr algn="l"/>
            <a:r>
              <a:rPr sz="950" b="0">
                <a:solidFill>
                  <a:srgbClr val="26303D"/>
                </a:solidFill>
                <a:latin typeface="Aptos"/>
              </a:rPr>
              <a:t>• écart TRAIN/TEST maîtrisé</a:t>
            </a:r>
          </a:p>
        </p:txBody>
      </p:sp>
      <p:sp>
        <p:nvSpPr>
          <p:cNvPr id="20" name="TextBox 19"/>
          <p:cNvSpPr txBox="1"/>
          <p:nvPr/>
        </p:nvSpPr>
        <p:spPr>
          <a:xfrm>
            <a:off x="4599432" y="4206240"/>
            <a:ext cx="2971800" cy="320040"/>
          </a:xfrm>
          <a:prstGeom prst="rect">
            <a:avLst/>
          </a:prstGeom>
          <a:noFill/>
        </p:spPr>
        <p:txBody>
          <a:bodyPr wrap="square">
            <a:spAutoFit/>
          </a:bodyPr>
          <a:lstStyle/>
          <a:p>
            <a:pPr algn="l"/>
            <a:r>
              <a:rPr sz="950" b="0">
                <a:solidFill>
                  <a:srgbClr val="26303D"/>
                </a:solidFill>
                <a:latin typeface="Aptos"/>
              </a:rPr>
              <a:t>• meilleure généralisation</a:t>
            </a:r>
          </a:p>
        </p:txBody>
      </p:sp>
      <p:sp>
        <p:nvSpPr>
          <p:cNvPr id="21" name="Rounded Rectangle 20"/>
          <p:cNvSpPr/>
          <p:nvPr/>
        </p:nvSpPr>
        <p:spPr>
          <a:xfrm>
            <a:off x="8083296" y="1783080"/>
            <a:ext cx="3429000" cy="3566160"/>
          </a:xfrm>
          <a:prstGeom prst="roundRect">
            <a:avLst/>
          </a:prstGeom>
          <a:solidFill>
            <a:srgbClr val="F6F9FC"/>
          </a:solidFill>
          <a:ln>
            <a:solidFill>
              <a:srgbClr val="CD4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47888" y="1965960"/>
            <a:ext cx="3099816" cy="228600"/>
          </a:xfrm>
          <a:prstGeom prst="rect">
            <a:avLst/>
          </a:prstGeom>
          <a:noFill/>
        </p:spPr>
        <p:txBody>
          <a:bodyPr wrap="square">
            <a:spAutoFit/>
          </a:bodyPr>
          <a:lstStyle/>
          <a:p>
            <a:pPr algn="ctr"/>
            <a:r>
              <a:rPr sz="1050" b="1">
                <a:solidFill>
                  <a:srgbClr val="CD404A"/>
                </a:solidFill>
                <a:latin typeface="Aptos"/>
              </a:rPr>
              <a:t>DEGRÉ TROP ÉLEVÉ</a:t>
            </a:r>
          </a:p>
        </p:txBody>
      </p:sp>
      <p:sp>
        <p:nvSpPr>
          <p:cNvPr id="23" name="TextBox 22"/>
          <p:cNvSpPr txBox="1"/>
          <p:nvPr/>
        </p:nvSpPr>
        <p:spPr>
          <a:xfrm>
            <a:off x="8247888" y="2313432"/>
            <a:ext cx="3099816" cy="274320"/>
          </a:xfrm>
          <a:prstGeom prst="rect">
            <a:avLst/>
          </a:prstGeom>
          <a:noFill/>
        </p:spPr>
        <p:txBody>
          <a:bodyPr wrap="square">
            <a:spAutoFit/>
          </a:bodyPr>
          <a:lstStyle/>
          <a:p>
            <a:pPr algn="ctr"/>
            <a:r>
              <a:rPr sz="1300" b="1">
                <a:solidFill>
                  <a:srgbClr val="163658"/>
                </a:solidFill>
                <a:latin typeface="Aptos"/>
              </a:rPr>
              <a:t>Surapprentissage</a:t>
            </a:r>
          </a:p>
        </p:txBody>
      </p:sp>
      <p:sp>
        <p:nvSpPr>
          <p:cNvPr id="24" name="TextBox 23"/>
          <p:cNvSpPr txBox="1"/>
          <p:nvPr/>
        </p:nvSpPr>
        <p:spPr>
          <a:xfrm>
            <a:off x="8247888" y="2743200"/>
            <a:ext cx="3099816" cy="228600"/>
          </a:xfrm>
          <a:prstGeom prst="rect">
            <a:avLst/>
          </a:prstGeom>
          <a:noFill/>
        </p:spPr>
        <p:txBody>
          <a:bodyPr wrap="square">
            <a:spAutoFit/>
          </a:bodyPr>
          <a:lstStyle/>
          <a:p>
            <a:pPr algn="ctr"/>
            <a:r>
              <a:rPr sz="950" b="1">
                <a:solidFill>
                  <a:srgbClr val="64748B"/>
                </a:solidFill>
                <a:latin typeface="Aptos"/>
              </a:rPr>
              <a:t>Ex. degré 8</a:t>
            </a:r>
          </a:p>
        </p:txBody>
      </p:sp>
      <p:sp>
        <p:nvSpPr>
          <p:cNvPr id="25" name="TextBox 24"/>
          <p:cNvSpPr txBox="1"/>
          <p:nvPr/>
        </p:nvSpPr>
        <p:spPr>
          <a:xfrm>
            <a:off x="8311896" y="3200400"/>
            <a:ext cx="2971800" cy="320040"/>
          </a:xfrm>
          <a:prstGeom prst="rect">
            <a:avLst/>
          </a:prstGeom>
          <a:noFill/>
        </p:spPr>
        <p:txBody>
          <a:bodyPr wrap="square">
            <a:spAutoFit/>
          </a:bodyPr>
          <a:lstStyle/>
          <a:p>
            <a:pPr algn="l"/>
            <a:r>
              <a:rPr sz="950" b="0">
                <a:solidFill>
                  <a:srgbClr val="26303D"/>
                </a:solidFill>
                <a:latin typeface="Aptos"/>
              </a:rPr>
              <a:t>• courbe très flexible</a:t>
            </a:r>
          </a:p>
        </p:txBody>
      </p:sp>
      <p:sp>
        <p:nvSpPr>
          <p:cNvPr id="26" name="TextBox 25"/>
          <p:cNvSpPr txBox="1"/>
          <p:nvPr/>
        </p:nvSpPr>
        <p:spPr>
          <a:xfrm>
            <a:off x="8311896" y="3703320"/>
            <a:ext cx="2971800" cy="320040"/>
          </a:xfrm>
          <a:prstGeom prst="rect">
            <a:avLst/>
          </a:prstGeom>
          <a:noFill/>
        </p:spPr>
        <p:txBody>
          <a:bodyPr wrap="square">
            <a:spAutoFit/>
          </a:bodyPr>
          <a:lstStyle/>
          <a:p>
            <a:pPr algn="l"/>
            <a:r>
              <a:rPr sz="950" b="0">
                <a:solidFill>
                  <a:srgbClr val="26303D"/>
                </a:solidFill>
                <a:latin typeface="Aptos"/>
              </a:rPr>
              <a:t>• variance élevée</a:t>
            </a:r>
          </a:p>
        </p:txBody>
      </p:sp>
      <p:sp>
        <p:nvSpPr>
          <p:cNvPr id="27" name="TextBox 26"/>
          <p:cNvSpPr txBox="1"/>
          <p:nvPr/>
        </p:nvSpPr>
        <p:spPr>
          <a:xfrm>
            <a:off x="8311896" y="4206240"/>
            <a:ext cx="2971800" cy="320040"/>
          </a:xfrm>
          <a:prstGeom prst="rect">
            <a:avLst/>
          </a:prstGeom>
          <a:noFill/>
        </p:spPr>
        <p:txBody>
          <a:bodyPr wrap="square">
            <a:spAutoFit/>
          </a:bodyPr>
          <a:lstStyle/>
          <a:p>
            <a:pPr algn="l"/>
            <a:r>
              <a:rPr sz="950" b="0">
                <a:solidFill>
                  <a:srgbClr val="26303D"/>
                </a:solidFill>
                <a:latin typeface="Aptos"/>
              </a:rPr>
              <a:t>• TRAIN excellent, TEST se dégrade</a:t>
            </a:r>
          </a:p>
        </p:txBody>
      </p:sp>
      <p:sp>
        <p:nvSpPr>
          <p:cNvPr id="28" name="Rounded Rectangle 27"/>
          <p:cNvSpPr/>
          <p:nvPr/>
        </p:nvSpPr>
        <p:spPr>
          <a:xfrm>
            <a:off x="868680" y="5596128"/>
            <a:ext cx="10424160" cy="530352"/>
          </a:xfrm>
          <a:prstGeom prst="roundRect">
            <a:avLst/>
          </a:prstGeom>
          <a:solidFill>
            <a:srgbClr val="163658"/>
          </a:solidFill>
          <a:ln>
            <a:solidFill>
              <a:srgbClr val="163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51560" y="5742432"/>
            <a:ext cx="10058400" cy="246888"/>
          </a:xfrm>
          <a:prstGeom prst="rect">
            <a:avLst/>
          </a:prstGeom>
          <a:noFill/>
        </p:spPr>
        <p:txBody>
          <a:bodyPr wrap="square">
            <a:spAutoFit/>
          </a:bodyPr>
          <a:lstStyle/>
          <a:p>
            <a:pPr algn="ctr"/>
            <a:r>
              <a:rPr sz="1050" b="1">
                <a:solidFill>
                  <a:srgbClr val="FFFFFF"/>
                </a:solidFill>
                <a:latin typeface="Aptos"/>
              </a:rPr>
              <a:t>Décision → comparer les degrés sur validation / cross-validation, jamais sur TRAIN seul.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2743200" cy="228600"/>
          </a:xfrm>
          <a:prstGeom prst="rect">
            <a:avLst/>
          </a:prstGeom>
          <a:noFill/>
        </p:spPr>
        <p:txBody>
          <a:bodyPr wrap="square" anchor="ctr">
            <a:spAutoFit/>
          </a:bodyPr>
          <a:lstStyle/>
          <a:p>
            <a:pPr algn="l">
              <a:defRPr sz="1000" b="1">
                <a:solidFill>
                  <a:srgbClr val="2D69EB"/>
                </a:solidFill>
              </a:defRPr>
            </a:pPr>
            <a:r>
              <a:t>MÉTRIQUES</a:t>
            </a:r>
          </a:p>
        </p:txBody>
      </p:sp>
      <p:sp>
        <p:nvSpPr>
          <p:cNvPr id="3" name="TextBox 2"/>
          <p:cNvSpPr txBox="1"/>
          <p:nvPr/>
        </p:nvSpPr>
        <p:spPr>
          <a:xfrm>
            <a:off x="685800" y="594360"/>
            <a:ext cx="10789920" cy="502920"/>
          </a:xfrm>
          <a:prstGeom prst="rect">
            <a:avLst/>
          </a:prstGeom>
          <a:noFill/>
        </p:spPr>
        <p:txBody>
          <a:bodyPr wrap="square" anchor="ctr">
            <a:spAutoFit/>
          </a:bodyPr>
          <a:lstStyle/>
          <a:p>
            <a:pPr algn="l">
              <a:defRPr sz="2400" b="1">
                <a:solidFill>
                  <a:srgbClr val="1B3A5E"/>
                </a:solidFill>
              </a:defRPr>
            </a:pPr>
            <a:r>
              <a:t>Régression : comment mesurer l’erreur ?</a:t>
            </a:r>
          </a:p>
        </p:txBody>
      </p:sp>
      <p:sp>
        <p:nvSpPr>
          <p:cNvPr id="4" name="Rounded Rectangle 3"/>
          <p:cNvSpPr/>
          <p:nvPr/>
        </p:nvSpPr>
        <p:spPr>
          <a:xfrm>
            <a:off x="685800" y="1600200"/>
            <a:ext cx="3154680" cy="27432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00200"/>
            <a:ext cx="54864" cy="2743200"/>
          </a:xfrm>
          <a:prstGeom prst="rect">
            <a:avLst/>
          </a:prstGeom>
          <a:solidFill>
            <a:srgbClr val="2D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847088"/>
            <a:ext cx="2468880" cy="384048"/>
          </a:xfrm>
          <a:prstGeom prst="rect">
            <a:avLst/>
          </a:prstGeom>
          <a:noFill/>
        </p:spPr>
        <p:txBody>
          <a:bodyPr wrap="square" anchor="ctr">
            <a:spAutoFit/>
          </a:bodyPr>
          <a:lstStyle/>
          <a:p>
            <a:pPr algn="l">
              <a:defRPr sz="1900" b="1">
                <a:solidFill>
                  <a:srgbClr val="1B3A5E"/>
                </a:solidFill>
              </a:defRPr>
            </a:pPr>
            <a:r>
              <a:t>MAE</a:t>
            </a:r>
          </a:p>
        </p:txBody>
      </p:sp>
      <p:sp>
        <p:nvSpPr>
          <p:cNvPr id="7" name="TextBox 6"/>
          <p:cNvSpPr txBox="1"/>
          <p:nvPr/>
        </p:nvSpPr>
        <p:spPr>
          <a:xfrm>
            <a:off x="1005840" y="2487168"/>
            <a:ext cx="2468880" cy="384048"/>
          </a:xfrm>
          <a:prstGeom prst="rect">
            <a:avLst/>
          </a:prstGeom>
          <a:noFill/>
        </p:spPr>
        <p:txBody>
          <a:bodyPr wrap="square" anchor="ctr">
            <a:spAutoFit/>
          </a:bodyPr>
          <a:lstStyle/>
          <a:p>
            <a:pPr algn="l">
              <a:defRPr sz="1300" b="1">
                <a:solidFill>
                  <a:srgbClr val="2D69EB"/>
                </a:solidFill>
              </a:defRPr>
            </a:pPr>
            <a:r>
              <a:t>Erreur moyenne</a:t>
            </a:r>
          </a:p>
        </p:txBody>
      </p:sp>
      <p:sp>
        <p:nvSpPr>
          <p:cNvPr id="8" name="TextBox 7"/>
          <p:cNvSpPr txBox="1"/>
          <p:nvPr/>
        </p:nvSpPr>
        <p:spPr>
          <a:xfrm>
            <a:off x="1005840" y="3063240"/>
            <a:ext cx="2468880" cy="347472"/>
          </a:xfrm>
          <a:prstGeom prst="rect">
            <a:avLst/>
          </a:prstGeom>
          <a:noFill/>
        </p:spPr>
        <p:txBody>
          <a:bodyPr wrap="square" anchor="ctr">
            <a:spAutoFit/>
          </a:bodyPr>
          <a:lstStyle/>
          <a:p>
            <a:pPr algn="l">
              <a:defRPr sz="1170" b="0">
                <a:solidFill>
                  <a:srgbClr val="364150"/>
                </a:solidFill>
              </a:defRPr>
            </a:pPr>
            <a:r>
              <a:t>Même unité que y</a:t>
            </a:r>
          </a:p>
        </p:txBody>
      </p:sp>
      <p:sp>
        <p:nvSpPr>
          <p:cNvPr id="9" name="TextBox 8"/>
          <p:cNvSpPr txBox="1"/>
          <p:nvPr/>
        </p:nvSpPr>
        <p:spPr>
          <a:xfrm>
            <a:off x="1005840" y="3584448"/>
            <a:ext cx="2468880" cy="384048"/>
          </a:xfrm>
          <a:prstGeom prst="rect">
            <a:avLst/>
          </a:prstGeom>
          <a:noFill/>
        </p:spPr>
        <p:txBody>
          <a:bodyPr wrap="square" anchor="ctr">
            <a:spAutoFit/>
          </a:bodyPr>
          <a:lstStyle/>
          <a:p>
            <a:pPr algn="l">
              <a:defRPr sz="1170" b="0">
                <a:solidFill>
                  <a:srgbClr val="647891"/>
                </a:solidFill>
              </a:defRPr>
            </a:pPr>
            <a:r>
              <a:t>Facile à interpréter</a:t>
            </a:r>
          </a:p>
        </p:txBody>
      </p:sp>
      <p:sp>
        <p:nvSpPr>
          <p:cNvPr id="10" name="Rounded Rectangle 9"/>
          <p:cNvSpPr/>
          <p:nvPr/>
        </p:nvSpPr>
        <p:spPr>
          <a:xfrm>
            <a:off x="4160520" y="1600200"/>
            <a:ext cx="3154680" cy="27432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60520" y="1600200"/>
            <a:ext cx="54864" cy="2743200"/>
          </a:xfrm>
          <a:prstGeom prst="rect">
            <a:avLst/>
          </a:prstGeom>
          <a:solidFill>
            <a:srgbClr val="F471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59" y="1847088"/>
            <a:ext cx="2468880" cy="384048"/>
          </a:xfrm>
          <a:prstGeom prst="rect">
            <a:avLst/>
          </a:prstGeom>
          <a:noFill/>
        </p:spPr>
        <p:txBody>
          <a:bodyPr wrap="square" anchor="ctr">
            <a:spAutoFit/>
          </a:bodyPr>
          <a:lstStyle/>
          <a:p>
            <a:pPr algn="l">
              <a:defRPr sz="1900" b="1">
                <a:solidFill>
                  <a:srgbClr val="1B3A5E"/>
                </a:solidFill>
              </a:defRPr>
            </a:pPr>
            <a:r>
              <a:t>RMSE</a:t>
            </a:r>
          </a:p>
        </p:txBody>
      </p:sp>
      <p:sp>
        <p:nvSpPr>
          <p:cNvPr id="13" name="TextBox 12"/>
          <p:cNvSpPr txBox="1"/>
          <p:nvPr/>
        </p:nvSpPr>
        <p:spPr>
          <a:xfrm>
            <a:off x="4480559" y="2487168"/>
            <a:ext cx="2468880" cy="384048"/>
          </a:xfrm>
          <a:prstGeom prst="rect">
            <a:avLst/>
          </a:prstGeom>
          <a:noFill/>
        </p:spPr>
        <p:txBody>
          <a:bodyPr wrap="square" anchor="ctr">
            <a:spAutoFit/>
          </a:bodyPr>
          <a:lstStyle/>
          <a:p>
            <a:pPr algn="l">
              <a:defRPr sz="1300" b="1">
                <a:solidFill>
                  <a:srgbClr val="F4711C"/>
                </a:solidFill>
              </a:defRPr>
            </a:pPr>
            <a:r>
              <a:t>Pénalise les grosses erreurs</a:t>
            </a:r>
          </a:p>
        </p:txBody>
      </p:sp>
      <p:sp>
        <p:nvSpPr>
          <p:cNvPr id="14" name="TextBox 13"/>
          <p:cNvSpPr txBox="1"/>
          <p:nvPr/>
        </p:nvSpPr>
        <p:spPr>
          <a:xfrm>
            <a:off x="4480559" y="3063240"/>
            <a:ext cx="2468880" cy="347472"/>
          </a:xfrm>
          <a:prstGeom prst="rect">
            <a:avLst/>
          </a:prstGeom>
          <a:noFill/>
        </p:spPr>
        <p:txBody>
          <a:bodyPr wrap="square" anchor="ctr">
            <a:spAutoFit/>
          </a:bodyPr>
          <a:lstStyle/>
          <a:p>
            <a:pPr algn="l">
              <a:defRPr sz="1170" b="0">
                <a:solidFill>
                  <a:srgbClr val="364150"/>
                </a:solidFill>
              </a:defRPr>
            </a:pPr>
            <a:r>
              <a:t>Même unité que y</a:t>
            </a:r>
          </a:p>
        </p:txBody>
      </p:sp>
      <p:sp>
        <p:nvSpPr>
          <p:cNvPr id="15" name="TextBox 14"/>
          <p:cNvSpPr txBox="1"/>
          <p:nvPr/>
        </p:nvSpPr>
        <p:spPr>
          <a:xfrm>
            <a:off x="4480559" y="3584448"/>
            <a:ext cx="2468880" cy="384048"/>
          </a:xfrm>
          <a:prstGeom prst="rect">
            <a:avLst/>
          </a:prstGeom>
          <a:noFill/>
        </p:spPr>
        <p:txBody>
          <a:bodyPr wrap="square" anchor="ctr">
            <a:spAutoFit/>
          </a:bodyPr>
          <a:lstStyle/>
          <a:p>
            <a:pPr algn="l">
              <a:defRPr sz="1170" b="0">
                <a:solidFill>
                  <a:srgbClr val="647891"/>
                </a:solidFill>
              </a:defRPr>
            </a:pPr>
            <a:r>
              <a:t>À privilégier si elles coûtent cher</a:t>
            </a:r>
          </a:p>
        </p:txBody>
      </p:sp>
      <p:sp>
        <p:nvSpPr>
          <p:cNvPr id="16" name="Rounded Rectangle 15"/>
          <p:cNvSpPr/>
          <p:nvPr/>
        </p:nvSpPr>
        <p:spPr>
          <a:xfrm>
            <a:off x="7635240" y="1600200"/>
            <a:ext cx="3154680" cy="27432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35240" y="1600200"/>
            <a:ext cx="54864" cy="2743200"/>
          </a:xfrm>
          <a:prstGeom prst="rect">
            <a:avLst/>
          </a:prstGeom>
          <a:solidFill>
            <a:srgbClr val="59B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55279" y="1847088"/>
            <a:ext cx="2468880" cy="384048"/>
          </a:xfrm>
          <a:prstGeom prst="rect">
            <a:avLst/>
          </a:prstGeom>
          <a:noFill/>
        </p:spPr>
        <p:txBody>
          <a:bodyPr wrap="square" anchor="ctr">
            <a:spAutoFit/>
          </a:bodyPr>
          <a:lstStyle/>
          <a:p>
            <a:pPr algn="l">
              <a:defRPr sz="1900" b="1">
                <a:solidFill>
                  <a:srgbClr val="1B3A5E"/>
                </a:solidFill>
              </a:defRPr>
            </a:pPr>
            <a:r>
              <a:t>R²</a:t>
            </a:r>
          </a:p>
        </p:txBody>
      </p:sp>
      <p:sp>
        <p:nvSpPr>
          <p:cNvPr id="19" name="TextBox 18"/>
          <p:cNvSpPr txBox="1"/>
          <p:nvPr/>
        </p:nvSpPr>
        <p:spPr>
          <a:xfrm>
            <a:off x="7955279" y="2487168"/>
            <a:ext cx="2468880" cy="384048"/>
          </a:xfrm>
          <a:prstGeom prst="rect">
            <a:avLst/>
          </a:prstGeom>
          <a:noFill/>
        </p:spPr>
        <p:txBody>
          <a:bodyPr wrap="square" anchor="ctr">
            <a:spAutoFit/>
          </a:bodyPr>
          <a:lstStyle/>
          <a:p>
            <a:pPr algn="l">
              <a:defRPr sz="1300" b="1">
                <a:solidFill>
                  <a:srgbClr val="59B141"/>
                </a:solidFill>
              </a:defRPr>
            </a:pPr>
            <a:r>
              <a:t>Part de variance expliquée</a:t>
            </a:r>
          </a:p>
        </p:txBody>
      </p:sp>
      <p:sp>
        <p:nvSpPr>
          <p:cNvPr id="20" name="TextBox 19"/>
          <p:cNvSpPr txBox="1"/>
          <p:nvPr/>
        </p:nvSpPr>
        <p:spPr>
          <a:xfrm>
            <a:off x="7955279" y="3063240"/>
            <a:ext cx="2468880" cy="347472"/>
          </a:xfrm>
          <a:prstGeom prst="rect">
            <a:avLst/>
          </a:prstGeom>
          <a:noFill/>
        </p:spPr>
        <p:txBody>
          <a:bodyPr wrap="square" anchor="ctr">
            <a:spAutoFit/>
          </a:bodyPr>
          <a:lstStyle/>
          <a:p>
            <a:pPr algn="l">
              <a:defRPr sz="1170" b="0">
                <a:solidFill>
                  <a:srgbClr val="364150"/>
                </a:solidFill>
              </a:defRPr>
            </a:pPr>
            <a:r>
              <a:t>Plus élevé = meilleur ajustement</a:t>
            </a:r>
          </a:p>
        </p:txBody>
      </p:sp>
      <p:sp>
        <p:nvSpPr>
          <p:cNvPr id="21" name="TextBox 20"/>
          <p:cNvSpPr txBox="1"/>
          <p:nvPr/>
        </p:nvSpPr>
        <p:spPr>
          <a:xfrm>
            <a:off x="7955279" y="3584448"/>
            <a:ext cx="2468880" cy="384048"/>
          </a:xfrm>
          <a:prstGeom prst="rect">
            <a:avLst/>
          </a:prstGeom>
          <a:noFill/>
        </p:spPr>
        <p:txBody>
          <a:bodyPr wrap="square" anchor="ctr">
            <a:spAutoFit/>
          </a:bodyPr>
          <a:lstStyle/>
          <a:p>
            <a:pPr algn="l">
              <a:defRPr sz="1170" b="0">
                <a:solidFill>
                  <a:srgbClr val="647891"/>
                </a:solidFill>
              </a:defRPr>
            </a:pPr>
            <a:r>
              <a:t>À lire avec MAE / RMSE</a:t>
            </a:r>
          </a:p>
        </p:txBody>
      </p:sp>
      <p:sp>
        <p:nvSpPr>
          <p:cNvPr id="22" name="Rounded Rectangle 21"/>
          <p:cNvSpPr/>
          <p:nvPr/>
        </p:nvSpPr>
        <p:spPr>
          <a:xfrm>
            <a:off x="1143000" y="4709160"/>
            <a:ext cx="9921240" cy="713232"/>
          </a:xfrm>
          <a:prstGeom prst="roundRect">
            <a:avLst/>
          </a:prstGeom>
          <a:solidFill>
            <a:srgbClr val="F0F5FC"/>
          </a:solidFill>
          <a:ln>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7320" y="4800600"/>
            <a:ext cx="9372600" cy="502920"/>
          </a:xfrm>
          <a:prstGeom prst="rect">
            <a:avLst/>
          </a:prstGeom>
          <a:noFill/>
        </p:spPr>
        <p:txBody>
          <a:bodyPr wrap="square" anchor="ctr">
            <a:spAutoFit/>
          </a:bodyPr>
          <a:lstStyle/>
          <a:p>
            <a:pPr algn="ctr">
              <a:defRPr sz="1280" b="1">
                <a:solidFill>
                  <a:srgbClr val="1B3A5E"/>
                </a:solidFill>
              </a:defRPr>
            </a:pPr>
            <a:r>
              <a:t>Exemple : durée réelle = 20 jours, prédiction = 16 jours  →  erreur absolue = 4 jours.</a:t>
            </a:r>
          </a:p>
        </p:txBody>
      </p:sp>
      <p:sp>
        <p:nvSpPr>
          <p:cNvPr id="24" name="TextBox 23"/>
          <p:cNvSpPr txBox="1"/>
          <p:nvPr/>
        </p:nvSpPr>
        <p:spPr>
          <a:xfrm>
            <a:off x="1828800" y="5715000"/>
            <a:ext cx="8503920" cy="384048"/>
          </a:xfrm>
          <a:prstGeom prst="rect">
            <a:avLst/>
          </a:prstGeom>
          <a:noFill/>
        </p:spPr>
        <p:txBody>
          <a:bodyPr wrap="square" anchor="ctr">
            <a:spAutoFit/>
          </a:bodyPr>
          <a:lstStyle/>
          <a:p>
            <a:pPr algn="ctr">
              <a:defRPr sz="1230" b="1">
                <a:solidFill>
                  <a:srgbClr val="2D69EB"/>
                </a:solidFill>
              </a:defRPr>
            </a:pPr>
            <a:r>
              <a:t>À retenir : MAE pour une erreur lisible • RMSE si les grosses erreurs comptent davantage • R² en complément.</a:t>
            </a:r>
          </a:p>
        </p:txBody>
      </p:sp>
      <p:sp>
        <p:nvSpPr>
          <p:cNvPr id="25" name="TextBox 24"/>
          <p:cNvSpPr txBox="1"/>
          <p:nvPr/>
        </p:nvSpPr>
        <p:spPr>
          <a:xfrm>
            <a:off x="685800" y="6492240"/>
            <a:ext cx="3657600" cy="164592"/>
          </a:xfrm>
          <a:prstGeom prst="rect">
            <a:avLst/>
          </a:prstGeom>
          <a:noFill/>
        </p:spPr>
        <p:txBody>
          <a:bodyPr wrap="square" anchor="ctr">
            <a:spAutoFit/>
          </a:bodyPr>
          <a:lstStyle/>
          <a:p>
            <a:pPr algn="l">
              <a:defRPr sz="750" b="0">
                <a:solidFill>
                  <a:srgbClr val="647891"/>
                </a:solidFill>
              </a:defRPr>
            </a:pPr>
            <a:r>
              <a:t>Intelligence Artificielle — Jour 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INTRODUCTION</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Régularisation des modèles</a:t>
            </a:r>
          </a:p>
        </p:txBody>
      </p:sp>
      <p:sp>
        <p:nvSpPr>
          <p:cNvPr id="4" name="TextBox 3"/>
          <p:cNvSpPr txBox="1"/>
          <p:nvPr/>
        </p:nvSpPr>
        <p:spPr>
          <a:xfrm>
            <a:off x="685800" y="1097280"/>
            <a:ext cx="10789920" cy="320040"/>
          </a:xfrm>
          <a:prstGeom prst="rect">
            <a:avLst/>
          </a:prstGeom>
          <a:noFill/>
        </p:spPr>
        <p:txBody>
          <a:bodyPr wrap="square" anchor="ctr">
            <a:spAutoFit/>
          </a:bodyPr>
          <a:lstStyle/>
          <a:p>
            <a:pPr algn="l">
              <a:defRPr sz="1100" b="0">
                <a:solidFill>
                  <a:srgbClr val="69788C"/>
                </a:solidFill>
              </a:defRPr>
            </a:pPr>
            <a:r>
              <a:t>Lasso, Ridge et Elastic Net : réduire le surajustement.</a:t>
            </a:r>
          </a:p>
        </p:txBody>
      </p:sp>
      <p:sp>
        <p:nvSpPr>
          <p:cNvPr id="5" name="Rounded Rectangle 4"/>
          <p:cNvSpPr/>
          <p:nvPr/>
        </p:nvSpPr>
        <p:spPr>
          <a:xfrm>
            <a:off x="1005840" y="1828800"/>
            <a:ext cx="3017520" cy="23774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05840" y="1828800"/>
            <a:ext cx="50292" cy="237744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61872" y="2011680"/>
            <a:ext cx="2560320" cy="320040"/>
          </a:xfrm>
          <a:prstGeom prst="rect">
            <a:avLst/>
          </a:prstGeom>
          <a:noFill/>
        </p:spPr>
        <p:txBody>
          <a:bodyPr wrap="square" anchor="ctr">
            <a:spAutoFit/>
          </a:bodyPr>
          <a:lstStyle/>
          <a:p>
            <a:pPr algn="l">
              <a:defRPr sz="1450" b="1">
                <a:solidFill>
                  <a:srgbClr val="193A5E"/>
                </a:solidFill>
              </a:defRPr>
            </a:pPr>
            <a:r>
              <a:t>Pourquoi ?</a:t>
            </a:r>
          </a:p>
        </p:txBody>
      </p:sp>
      <p:sp>
        <p:nvSpPr>
          <p:cNvPr id="8" name="TextBox 7"/>
          <p:cNvSpPr txBox="1"/>
          <p:nvPr/>
        </p:nvSpPr>
        <p:spPr>
          <a:xfrm>
            <a:off x="1261872" y="2542032"/>
            <a:ext cx="2560320" cy="402336"/>
          </a:xfrm>
          <a:prstGeom prst="rect">
            <a:avLst/>
          </a:prstGeom>
          <a:noFill/>
        </p:spPr>
        <p:txBody>
          <a:bodyPr wrap="square" anchor="ctr">
            <a:spAutoFit/>
          </a:bodyPr>
          <a:lstStyle/>
          <a:p>
            <a:pPr algn="ctr">
              <a:defRPr sz="1600" b="1">
                <a:solidFill>
                  <a:srgbClr val="2D69E1"/>
                </a:solidFill>
              </a:defRPr>
            </a:pPr>
            <a:r>
              <a:t>Généraliser</a:t>
            </a:r>
          </a:p>
        </p:txBody>
      </p:sp>
      <p:sp>
        <p:nvSpPr>
          <p:cNvPr id="9" name="TextBox 8"/>
          <p:cNvSpPr txBox="1"/>
          <p:nvPr/>
        </p:nvSpPr>
        <p:spPr>
          <a:xfrm>
            <a:off x="1261872" y="3035808"/>
            <a:ext cx="2560320" cy="960120"/>
          </a:xfrm>
          <a:prstGeom prst="rect">
            <a:avLst/>
          </a:prstGeom>
          <a:noFill/>
        </p:spPr>
        <p:txBody>
          <a:bodyPr wrap="square" anchor="ctr">
            <a:spAutoFit/>
          </a:bodyPr>
          <a:lstStyle/>
          <a:p>
            <a:pPr algn="ctr">
              <a:defRPr sz="1150" b="0">
                <a:solidFill>
                  <a:srgbClr val="374150"/>
                </a:solidFill>
              </a:defRPr>
            </a:pPr>
            <a:r>
              <a:t>Éviter des coefficients trop grands et un modèle trop sensible au TRAIN.</a:t>
            </a:r>
          </a:p>
        </p:txBody>
      </p:sp>
      <p:sp>
        <p:nvSpPr>
          <p:cNvPr id="10" name="Rounded Rectangle 9"/>
          <p:cNvSpPr/>
          <p:nvPr/>
        </p:nvSpPr>
        <p:spPr>
          <a:xfrm>
            <a:off x="4572000" y="1828800"/>
            <a:ext cx="3017520" cy="23774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0" y="1828800"/>
            <a:ext cx="50292" cy="237744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28032" y="2011680"/>
            <a:ext cx="2560320" cy="320040"/>
          </a:xfrm>
          <a:prstGeom prst="rect">
            <a:avLst/>
          </a:prstGeom>
          <a:noFill/>
        </p:spPr>
        <p:txBody>
          <a:bodyPr wrap="square" anchor="ctr">
            <a:spAutoFit/>
          </a:bodyPr>
          <a:lstStyle/>
          <a:p>
            <a:pPr algn="l">
              <a:defRPr sz="1450" b="1">
                <a:solidFill>
                  <a:srgbClr val="193A5E"/>
                </a:solidFill>
              </a:defRPr>
            </a:pPr>
            <a:r>
              <a:t>Comment ?</a:t>
            </a:r>
          </a:p>
        </p:txBody>
      </p:sp>
      <p:sp>
        <p:nvSpPr>
          <p:cNvPr id="13" name="TextBox 12"/>
          <p:cNvSpPr txBox="1"/>
          <p:nvPr/>
        </p:nvSpPr>
        <p:spPr>
          <a:xfrm>
            <a:off x="4828032" y="2542032"/>
            <a:ext cx="2560320" cy="402336"/>
          </a:xfrm>
          <a:prstGeom prst="rect">
            <a:avLst/>
          </a:prstGeom>
          <a:noFill/>
        </p:spPr>
        <p:txBody>
          <a:bodyPr wrap="square" anchor="ctr">
            <a:spAutoFit/>
          </a:bodyPr>
          <a:lstStyle/>
          <a:p>
            <a:pPr algn="ctr">
              <a:defRPr sz="1600" b="1">
                <a:solidFill>
                  <a:srgbClr val="F57018"/>
                </a:solidFill>
              </a:defRPr>
            </a:pPr>
            <a:r>
              <a:t>Erreur + pénalité</a:t>
            </a:r>
          </a:p>
        </p:txBody>
      </p:sp>
      <p:sp>
        <p:nvSpPr>
          <p:cNvPr id="14" name="TextBox 13"/>
          <p:cNvSpPr txBox="1"/>
          <p:nvPr/>
        </p:nvSpPr>
        <p:spPr>
          <a:xfrm>
            <a:off x="4828032" y="3035808"/>
            <a:ext cx="2560320" cy="960120"/>
          </a:xfrm>
          <a:prstGeom prst="rect">
            <a:avLst/>
          </a:prstGeom>
          <a:noFill/>
        </p:spPr>
        <p:txBody>
          <a:bodyPr wrap="square" anchor="ctr">
            <a:spAutoFit/>
          </a:bodyPr>
          <a:lstStyle/>
          <a:p>
            <a:pPr algn="ctr">
              <a:defRPr sz="1150" b="0">
                <a:solidFill>
                  <a:srgbClr val="374150"/>
                </a:solidFill>
              </a:defRPr>
            </a:pPr>
            <a:r>
              <a:t>Ajouter une pénalité à la fonction d’erreur.</a:t>
            </a:r>
          </a:p>
        </p:txBody>
      </p:sp>
      <p:sp>
        <p:nvSpPr>
          <p:cNvPr id="15" name="Rounded Rectangle 14"/>
          <p:cNvSpPr/>
          <p:nvPr/>
        </p:nvSpPr>
        <p:spPr>
          <a:xfrm>
            <a:off x="8138160" y="1828800"/>
            <a:ext cx="3017520" cy="23774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828800"/>
            <a:ext cx="50292" cy="237744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94192" y="2011680"/>
            <a:ext cx="2560320" cy="320040"/>
          </a:xfrm>
          <a:prstGeom prst="rect">
            <a:avLst/>
          </a:prstGeom>
          <a:noFill/>
        </p:spPr>
        <p:txBody>
          <a:bodyPr wrap="square" anchor="ctr">
            <a:spAutoFit/>
          </a:bodyPr>
          <a:lstStyle/>
          <a:p>
            <a:pPr algn="l">
              <a:defRPr sz="1450" b="1">
                <a:solidFill>
                  <a:srgbClr val="193A5E"/>
                </a:solidFill>
              </a:defRPr>
            </a:pPr>
            <a:r>
              <a:t>Décision</a:t>
            </a:r>
          </a:p>
        </p:txBody>
      </p:sp>
      <p:sp>
        <p:nvSpPr>
          <p:cNvPr id="18" name="TextBox 17"/>
          <p:cNvSpPr txBox="1"/>
          <p:nvPr/>
        </p:nvSpPr>
        <p:spPr>
          <a:xfrm>
            <a:off x="8394192" y="2542032"/>
            <a:ext cx="2560320" cy="402336"/>
          </a:xfrm>
          <a:prstGeom prst="rect">
            <a:avLst/>
          </a:prstGeom>
          <a:noFill/>
        </p:spPr>
        <p:txBody>
          <a:bodyPr wrap="square" anchor="ctr">
            <a:spAutoFit/>
          </a:bodyPr>
          <a:lstStyle/>
          <a:p>
            <a:pPr algn="ctr">
              <a:defRPr sz="1600" b="1">
                <a:solidFill>
                  <a:srgbClr val="5DB541"/>
                </a:solidFill>
              </a:defRPr>
            </a:pPr>
            <a:r>
              <a:t>λ / alpha</a:t>
            </a:r>
          </a:p>
        </p:txBody>
      </p:sp>
      <p:sp>
        <p:nvSpPr>
          <p:cNvPr id="19" name="TextBox 18"/>
          <p:cNvSpPr txBox="1"/>
          <p:nvPr/>
        </p:nvSpPr>
        <p:spPr>
          <a:xfrm>
            <a:off x="8394192" y="3035808"/>
            <a:ext cx="2560320" cy="960120"/>
          </a:xfrm>
          <a:prstGeom prst="rect">
            <a:avLst/>
          </a:prstGeom>
          <a:noFill/>
        </p:spPr>
        <p:txBody>
          <a:bodyPr wrap="square" anchor="ctr">
            <a:spAutoFit/>
          </a:bodyPr>
          <a:lstStyle/>
          <a:p>
            <a:pPr algn="ctr">
              <a:defRPr sz="1150" b="0">
                <a:solidFill>
                  <a:srgbClr val="374150"/>
                </a:solidFill>
              </a:defRPr>
            </a:pPr>
            <a:r>
              <a:t>Choisir la force de pénalité par validation / CV.</a:t>
            </a:r>
          </a:p>
        </p:txBody>
      </p:sp>
      <p:sp>
        <p:nvSpPr>
          <p:cNvPr id="20" name="Rounded Rectangle 19"/>
          <p:cNvSpPr/>
          <p:nvPr/>
        </p:nvSpPr>
        <p:spPr>
          <a:xfrm>
            <a:off x="1005840" y="5532120"/>
            <a:ext cx="10149840" cy="594360"/>
          </a:xfrm>
          <a:prstGeom prst="roundRect">
            <a:avLst/>
          </a:prstGeom>
          <a:solidFill>
            <a:srgbClr val="F6F9FE"/>
          </a:solidFill>
          <a:ln>
            <a:solidFill>
              <a:srgbClr val="5DB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5605272"/>
            <a:ext cx="9692640" cy="438912"/>
          </a:xfrm>
          <a:prstGeom prst="rect">
            <a:avLst/>
          </a:prstGeom>
          <a:noFill/>
        </p:spPr>
        <p:txBody>
          <a:bodyPr wrap="square" anchor="ctr">
            <a:spAutoFit/>
          </a:bodyPr>
          <a:lstStyle/>
          <a:p>
            <a:pPr algn="ctr">
              <a:defRPr sz="1250" b="1">
                <a:solidFill>
                  <a:srgbClr val="5DB541"/>
                </a:solidFill>
              </a:defRPr>
            </a:pPr>
            <a:r>
              <a:t>Idée centrale : contrôler la complexité du modèle pour mieux généraliser.</a:t>
            </a:r>
          </a:p>
        </p:txBody>
      </p:sp>
      <p:sp>
        <p:nvSpPr>
          <p:cNvPr id="22" name="TextBox 21"/>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3" name="TextBox 22"/>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PRINCIPE</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Erreur + pénalité : le cœur de la régularisation</a:t>
            </a:r>
          </a:p>
        </p:txBody>
      </p:sp>
      <p:sp>
        <p:nvSpPr>
          <p:cNvPr id="4" name="TextBox 3"/>
          <p:cNvSpPr txBox="1"/>
          <p:nvPr/>
        </p:nvSpPr>
        <p:spPr>
          <a:xfrm>
            <a:off x="1097280" y="1600200"/>
            <a:ext cx="9875520" cy="548640"/>
          </a:xfrm>
          <a:prstGeom prst="rect">
            <a:avLst/>
          </a:prstGeom>
          <a:noFill/>
        </p:spPr>
        <p:txBody>
          <a:bodyPr wrap="square" anchor="ctr">
            <a:spAutoFit/>
          </a:bodyPr>
          <a:lstStyle/>
          <a:p>
            <a:pPr algn="ctr">
              <a:defRPr sz="2000" b="1">
                <a:solidFill>
                  <a:srgbClr val="193A5E"/>
                </a:solidFill>
              </a:defRPr>
            </a:pPr>
            <a:r>
              <a:t>Fonction à minimiser = erreur de prédiction + pénalité sur les coefficients</a:t>
            </a:r>
          </a:p>
        </p:txBody>
      </p:sp>
      <p:sp>
        <p:nvSpPr>
          <p:cNvPr id="5" name="Rounded Rectangle 4"/>
          <p:cNvSpPr/>
          <p:nvPr/>
        </p:nvSpPr>
        <p:spPr>
          <a:xfrm>
            <a:off x="1051560" y="2743200"/>
            <a:ext cx="2926080" cy="19202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51560" y="2743200"/>
            <a:ext cx="50292" cy="192024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07592" y="2926080"/>
            <a:ext cx="2468880" cy="320040"/>
          </a:xfrm>
          <a:prstGeom prst="rect">
            <a:avLst/>
          </a:prstGeom>
          <a:noFill/>
        </p:spPr>
        <p:txBody>
          <a:bodyPr wrap="square" anchor="ctr">
            <a:spAutoFit/>
          </a:bodyPr>
          <a:lstStyle/>
          <a:p>
            <a:pPr algn="l">
              <a:defRPr sz="1450" b="1">
                <a:solidFill>
                  <a:srgbClr val="193A5E"/>
                </a:solidFill>
              </a:defRPr>
            </a:pPr>
            <a:r>
              <a:t>Erreur</a:t>
            </a:r>
          </a:p>
        </p:txBody>
      </p:sp>
      <p:sp>
        <p:nvSpPr>
          <p:cNvPr id="8" name="TextBox 7"/>
          <p:cNvSpPr txBox="1"/>
          <p:nvPr/>
        </p:nvSpPr>
        <p:spPr>
          <a:xfrm>
            <a:off x="1307592" y="3456432"/>
            <a:ext cx="2468880" cy="402336"/>
          </a:xfrm>
          <a:prstGeom prst="rect">
            <a:avLst/>
          </a:prstGeom>
          <a:noFill/>
        </p:spPr>
        <p:txBody>
          <a:bodyPr wrap="square" anchor="ctr">
            <a:spAutoFit/>
          </a:bodyPr>
          <a:lstStyle/>
          <a:p>
            <a:pPr algn="ctr">
              <a:defRPr sz="1600" b="1">
                <a:solidFill>
                  <a:srgbClr val="2D69E1"/>
                </a:solidFill>
              </a:defRPr>
            </a:pPr>
            <a:r>
              <a:t>(y − ŷ)</a:t>
            </a:r>
          </a:p>
        </p:txBody>
      </p:sp>
      <p:sp>
        <p:nvSpPr>
          <p:cNvPr id="9" name="TextBox 8"/>
          <p:cNvSpPr txBox="1"/>
          <p:nvPr/>
        </p:nvSpPr>
        <p:spPr>
          <a:xfrm>
            <a:off x="1307592" y="3950208"/>
            <a:ext cx="2468880" cy="502920"/>
          </a:xfrm>
          <a:prstGeom prst="rect">
            <a:avLst/>
          </a:prstGeom>
          <a:noFill/>
        </p:spPr>
        <p:txBody>
          <a:bodyPr wrap="square" anchor="ctr">
            <a:spAutoFit/>
          </a:bodyPr>
          <a:lstStyle/>
          <a:p>
            <a:pPr algn="ctr">
              <a:defRPr sz="1150" b="0">
                <a:solidFill>
                  <a:srgbClr val="374150"/>
                </a:solidFill>
              </a:defRPr>
            </a:pPr>
            <a:r>
              <a:t>Mesure l’écart entre y réel et ŷ prédit.</a:t>
            </a:r>
          </a:p>
        </p:txBody>
      </p:sp>
      <p:sp>
        <p:nvSpPr>
          <p:cNvPr id="10" name="Rounded Rectangle 9"/>
          <p:cNvSpPr/>
          <p:nvPr/>
        </p:nvSpPr>
        <p:spPr>
          <a:xfrm>
            <a:off x="4617720" y="2743200"/>
            <a:ext cx="2926080" cy="19202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617720" y="2743200"/>
            <a:ext cx="50292" cy="192024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73752" y="2926080"/>
            <a:ext cx="2468880" cy="320040"/>
          </a:xfrm>
          <a:prstGeom prst="rect">
            <a:avLst/>
          </a:prstGeom>
          <a:noFill/>
        </p:spPr>
        <p:txBody>
          <a:bodyPr wrap="square" anchor="ctr">
            <a:spAutoFit/>
          </a:bodyPr>
          <a:lstStyle/>
          <a:p>
            <a:pPr algn="l">
              <a:defRPr sz="1450" b="1">
                <a:solidFill>
                  <a:srgbClr val="193A5E"/>
                </a:solidFill>
              </a:defRPr>
            </a:pPr>
            <a:r>
              <a:t>Pénalité</a:t>
            </a:r>
          </a:p>
        </p:txBody>
      </p:sp>
      <p:sp>
        <p:nvSpPr>
          <p:cNvPr id="13" name="TextBox 12"/>
          <p:cNvSpPr txBox="1"/>
          <p:nvPr/>
        </p:nvSpPr>
        <p:spPr>
          <a:xfrm>
            <a:off x="4873752" y="3456432"/>
            <a:ext cx="2468880" cy="402336"/>
          </a:xfrm>
          <a:prstGeom prst="rect">
            <a:avLst/>
          </a:prstGeom>
          <a:noFill/>
        </p:spPr>
        <p:txBody>
          <a:bodyPr wrap="square" anchor="ctr">
            <a:spAutoFit/>
          </a:bodyPr>
          <a:lstStyle/>
          <a:p>
            <a:pPr algn="ctr">
              <a:defRPr sz="1600" b="1">
                <a:solidFill>
                  <a:srgbClr val="F57018"/>
                </a:solidFill>
              </a:defRPr>
            </a:pPr>
            <a:r>
              <a:t>β</a:t>
            </a:r>
          </a:p>
        </p:txBody>
      </p:sp>
      <p:sp>
        <p:nvSpPr>
          <p:cNvPr id="14" name="TextBox 13"/>
          <p:cNvSpPr txBox="1"/>
          <p:nvPr/>
        </p:nvSpPr>
        <p:spPr>
          <a:xfrm>
            <a:off x="4873752" y="3950208"/>
            <a:ext cx="2468880" cy="502920"/>
          </a:xfrm>
          <a:prstGeom prst="rect">
            <a:avLst/>
          </a:prstGeom>
          <a:noFill/>
        </p:spPr>
        <p:txBody>
          <a:bodyPr wrap="square" anchor="ctr">
            <a:spAutoFit/>
          </a:bodyPr>
          <a:lstStyle/>
          <a:p>
            <a:pPr algn="ctr">
              <a:defRPr sz="1150" b="0">
                <a:solidFill>
                  <a:srgbClr val="374150"/>
                </a:solidFill>
              </a:defRPr>
            </a:pPr>
            <a:r>
              <a:t>Contrôle la taille des coefficients β.</a:t>
            </a:r>
          </a:p>
        </p:txBody>
      </p:sp>
      <p:sp>
        <p:nvSpPr>
          <p:cNvPr id="15" name="Rounded Rectangle 14"/>
          <p:cNvSpPr/>
          <p:nvPr/>
        </p:nvSpPr>
        <p:spPr>
          <a:xfrm>
            <a:off x="8183879" y="2743200"/>
            <a:ext cx="2926080" cy="192024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2743200"/>
            <a:ext cx="50292" cy="192024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9911" y="2926080"/>
            <a:ext cx="2468880" cy="320040"/>
          </a:xfrm>
          <a:prstGeom prst="rect">
            <a:avLst/>
          </a:prstGeom>
          <a:noFill/>
        </p:spPr>
        <p:txBody>
          <a:bodyPr wrap="square" anchor="ctr">
            <a:spAutoFit/>
          </a:bodyPr>
          <a:lstStyle/>
          <a:p>
            <a:pPr algn="l">
              <a:defRPr sz="1450" b="1">
                <a:solidFill>
                  <a:srgbClr val="193A5E"/>
                </a:solidFill>
              </a:defRPr>
            </a:pPr>
            <a:r>
              <a:t>Compromis</a:t>
            </a:r>
          </a:p>
        </p:txBody>
      </p:sp>
      <p:sp>
        <p:nvSpPr>
          <p:cNvPr id="18" name="TextBox 17"/>
          <p:cNvSpPr txBox="1"/>
          <p:nvPr/>
        </p:nvSpPr>
        <p:spPr>
          <a:xfrm>
            <a:off x="8439911" y="3456432"/>
            <a:ext cx="2468880" cy="402336"/>
          </a:xfrm>
          <a:prstGeom prst="rect">
            <a:avLst/>
          </a:prstGeom>
          <a:noFill/>
        </p:spPr>
        <p:txBody>
          <a:bodyPr wrap="square" anchor="ctr">
            <a:spAutoFit/>
          </a:bodyPr>
          <a:lstStyle/>
          <a:p>
            <a:pPr algn="ctr">
              <a:defRPr sz="1600" b="1">
                <a:solidFill>
                  <a:srgbClr val="5DB541"/>
                </a:solidFill>
              </a:defRPr>
            </a:pPr>
            <a:r>
              <a:t>Généralisation</a:t>
            </a:r>
          </a:p>
        </p:txBody>
      </p:sp>
      <p:sp>
        <p:nvSpPr>
          <p:cNvPr id="19" name="TextBox 18"/>
          <p:cNvSpPr txBox="1"/>
          <p:nvPr/>
        </p:nvSpPr>
        <p:spPr>
          <a:xfrm>
            <a:off x="8439911" y="3950208"/>
            <a:ext cx="2468880" cy="502920"/>
          </a:xfrm>
          <a:prstGeom prst="rect">
            <a:avLst/>
          </a:prstGeom>
          <a:noFill/>
        </p:spPr>
        <p:txBody>
          <a:bodyPr wrap="square" anchor="ctr">
            <a:spAutoFit/>
          </a:bodyPr>
          <a:lstStyle/>
          <a:p>
            <a:pPr algn="ctr">
              <a:defRPr sz="1150" b="0">
                <a:solidFill>
                  <a:srgbClr val="374150"/>
                </a:solidFill>
              </a:defRPr>
            </a:pPr>
            <a:r>
              <a:t>Réduire l’erreur sans rendre le modèle trop complexe.</a:t>
            </a:r>
          </a:p>
        </p:txBody>
      </p:sp>
      <p:sp>
        <p:nvSpPr>
          <p:cNvPr id="20" name="Rounded Rectangle 19"/>
          <p:cNvSpPr/>
          <p:nvPr/>
        </p:nvSpPr>
        <p:spPr>
          <a:xfrm>
            <a:off x="1005840" y="5532120"/>
            <a:ext cx="10149840" cy="594360"/>
          </a:xfrm>
          <a:prstGeom prst="roundRect">
            <a:avLst/>
          </a:prstGeom>
          <a:solidFill>
            <a:srgbClr val="F6F9FE"/>
          </a:solidFill>
          <a:ln>
            <a:solidFill>
              <a:srgbClr val="2D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5605272"/>
            <a:ext cx="9692640" cy="438912"/>
          </a:xfrm>
          <a:prstGeom prst="rect">
            <a:avLst/>
          </a:prstGeom>
          <a:noFill/>
        </p:spPr>
        <p:txBody>
          <a:bodyPr wrap="square" anchor="ctr">
            <a:spAutoFit/>
          </a:bodyPr>
          <a:lstStyle/>
          <a:p>
            <a:pPr algn="ctr">
              <a:defRPr sz="1250" b="1">
                <a:solidFill>
                  <a:srgbClr val="2D69E1"/>
                </a:solidFill>
              </a:defRPr>
            </a:pPr>
            <a:r>
              <a:t>La régularisation accepte parfois une erreur TRAIN plus forte pour améliorer le TEST.</a:t>
            </a:r>
          </a:p>
        </p:txBody>
      </p:sp>
      <p:sp>
        <p:nvSpPr>
          <p:cNvPr id="22" name="TextBox 21"/>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3" name="TextBox 22"/>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LASSO — L1</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Régression Lasso : pénalité sur les valeurs absolues</a:t>
            </a:r>
          </a:p>
        </p:txBody>
      </p:sp>
      <p:sp>
        <p:nvSpPr>
          <p:cNvPr id="4" name="Rounded Rectangle 3"/>
          <p:cNvSpPr/>
          <p:nvPr/>
        </p:nvSpPr>
        <p:spPr>
          <a:xfrm>
            <a:off x="77724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572768"/>
            <a:ext cx="50292" cy="256032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3271" y="1755648"/>
            <a:ext cx="2514600" cy="320040"/>
          </a:xfrm>
          <a:prstGeom prst="rect">
            <a:avLst/>
          </a:prstGeom>
          <a:noFill/>
        </p:spPr>
        <p:txBody>
          <a:bodyPr wrap="square" anchor="ctr">
            <a:spAutoFit/>
          </a:bodyPr>
          <a:lstStyle/>
          <a:p>
            <a:pPr algn="l">
              <a:defRPr sz="1450" b="1">
                <a:solidFill>
                  <a:srgbClr val="193A5E"/>
                </a:solidFill>
              </a:defRPr>
            </a:pPr>
            <a:r>
              <a:t>Principe</a:t>
            </a:r>
          </a:p>
        </p:txBody>
      </p:sp>
      <p:sp>
        <p:nvSpPr>
          <p:cNvPr id="7" name="TextBox 6"/>
          <p:cNvSpPr txBox="1"/>
          <p:nvPr/>
        </p:nvSpPr>
        <p:spPr>
          <a:xfrm>
            <a:off x="1033271" y="2286000"/>
            <a:ext cx="2514600" cy="402336"/>
          </a:xfrm>
          <a:prstGeom prst="rect">
            <a:avLst/>
          </a:prstGeom>
          <a:noFill/>
        </p:spPr>
        <p:txBody>
          <a:bodyPr wrap="square" anchor="ctr">
            <a:spAutoFit/>
          </a:bodyPr>
          <a:lstStyle/>
          <a:p>
            <a:pPr algn="ctr">
              <a:defRPr sz="1600" b="1">
                <a:solidFill>
                  <a:srgbClr val="2D69E1"/>
                </a:solidFill>
              </a:defRPr>
            </a:pPr>
            <a:r>
              <a:t>Σ |βⱼ|</a:t>
            </a:r>
          </a:p>
        </p:txBody>
      </p:sp>
      <p:sp>
        <p:nvSpPr>
          <p:cNvPr id="8" name="TextBox 7"/>
          <p:cNvSpPr txBox="1"/>
          <p:nvPr/>
        </p:nvSpPr>
        <p:spPr>
          <a:xfrm>
            <a:off x="1033271" y="2779776"/>
            <a:ext cx="2514600" cy="1142999"/>
          </a:xfrm>
          <a:prstGeom prst="rect">
            <a:avLst/>
          </a:prstGeom>
          <a:noFill/>
        </p:spPr>
        <p:txBody>
          <a:bodyPr wrap="square" anchor="ctr">
            <a:spAutoFit/>
          </a:bodyPr>
          <a:lstStyle/>
          <a:p>
            <a:pPr algn="ctr">
              <a:defRPr sz="1150" b="0">
                <a:solidFill>
                  <a:srgbClr val="374150"/>
                </a:solidFill>
              </a:defRPr>
            </a:pPr>
            <a:r>
              <a:t>La pénalité L1 utilise la somme des valeurs absolues des coefficients.</a:t>
            </a:r>
          </a:p>
        </p:txBody>
      </p:sp>
      <p:sp>
        <p:nvSpPr>
          <p:cNvPr id="9" name="Rounded Rectangle 8"/>
          <p:cNvSpPr/>
          <p:nvPr/>
        </p:nvSpPr>
        <p:spPr>
          <a:xfrm>
            <a:off x="416052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60520" y="1572768"/>
            <a:ext cx="50292" cy="256032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6552" y="1755648"/>
            <a:ext cx="2514600" cy="320040"/>
          </a:xfrm>
          <a:prstGeom prst="rect">
            <a:avLst/>
          </a:prstGeom>
          <a:noFill/>
        </p:spPr>
        <p:txBody>
          <a:bodyPr wrap="square" anchor="ctr">
            <a:spAutoFit/>
          </a:bodyPr>
          <a:lstStyle/>
          <a:p>
            <a:pPr algn="l">
              <a:defRPr sz="1450" b="1">
                <a:solidFill>
                  <a:srgbClr val="193A5E"/>
                </a:solidFill>
              </a:defRPr>
            </a:pPr>
            <a:r>
              <a:t>Effet</a:t>
            </a:r>
          </a:p>
        </p:txBody>
      </p:sp>
      <p:sp>
        <p:nvSpPr>
          <p:cNvPr id="12" name="TextBox 11"/>
          <p:cNvSpPr txBox="1"/>
          <p:nvPr/>
        </p:nvSpPr>
        <p:spPr>
          <a:xfrm>
            <a:off x="4416552" y="2286000"/>
            <a:ext cx="2514600" cy="402336"/>
          </a:xfrm>
          <a:prstGeom prst="rect">
            <a:avLst/>
          </a:prstGeom>
          <a:noFill/>
        </p:spPr>
        <p:txBody>
          <a:bodyPr wrap="square" anchor="ctr">
            <a:spAutoFit/>
          </a:bodyPr>
          <a:lstStyle/>
          <a:p>
            <a:pPr algn="ctr">
              <a:defRPr sz="1600" b="1">
                <a:solidFill>
                  <a:srgbClr val="5DB541"/>
                </a:solidFill>
              </a:defRPr>
            </a:pPr>
            <a:r>
              <a:t>Sélection</a:t>
            </a:r>
          </a:p>
        </p:txBody>
      </p:sp>
      <p:sp>
        <p:nvSpPr>
          <p:cNvPr id="13" name="TextBox 12"/>
          <p:cNvSpPr txBox="1"/>
          <p:nvPr/>
        </p:nvSpPr>
        <p:spPr>
          <a:xfrm>
            <a:off x="4416552" y="2779776"/>
            <a:ext cx="2514600" cy="1142999"/>
          </a:xfrm>
          <a:prstGeom prst="rect">
            <a:avLst/>
          </a:prstGeom>
          <a:noFill/>
        </p:spPr>
        <p:txBody>
          <a:bodyPr wrap="square" anchor="ctr">
            <a:spAutoFit/>
          </a:bodyPr>
          <a:lstStyle/>
          <a:p>
            <a:pPr algn="ctr">
              <a:defRPr sz="1150" b="0">
                <a:solidFill>
                  <a:srgbClr val="374150"/>
                </a:solidFill>
              </a:defRPr>
            </a:pPr>
            <a:r>
              <a:t>Certains coefficients peuvent devenir exactement nuls.</a:t>
            </a:r>
          </a:p>
        </p:txBody>
      </p:sp>
      <p:sp>
        <p:nvSpPr>
          <p:cNvPr id="14" name="Rounded Rectangle 13"/>
          <p:cNvSpPr/>
          <p:nvPr/>
        </p:nvSpPr>
        <p:spPr>
          <a:xfrm>
            <a:off x="754380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543800" y="1572768"/>
            <a:ext cx="50292" cy="256032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99831" y="1755648"/>
            <a:ext cx="2514600" cy="320040"/>
          </a:xfrm>
          <a:prstGeom prst="rect">
            <a:avLst/>
          </a:prstGeom>
          <a:noFill/>
        </p:spPr>
        <p:txBody>
          <a:bodyPr wrap="square" anchor="ctr">
            <a:spAutoFit/>
          </a:bodyPr>
          <a:lstStyle/>
          <a:p>
            <a:pPr algn="l">
              <a:defRPr sz="1450" b="1">
                <a:solidFill>
                  <a:srgbClr val="193A5E"/>
                </a:solidFill>
              </a:defRPr>
            </a:pPr>
            <a:r>
              <a:t>Utilité</a:t>
            </a:r>
          </a:p>
        </p:txBody>
      </p:sp>
      <p:sp>
        <p:nvSpPr>
          <p:cNvPr id="17" name="TextBox 16"/>
          <p:cNvSpPr txBox="1"/>
          <p:nvPr/>
        </p:nvSpPr>
        <p:spPr>
          <a:xfrm>
            <a:off x="7799831" y="2286000"/>
            <a:ext cx="2514600" cy="402336"/>
          </a:xfrm>
          <a:prstGeom prst="rect">
            <a:avLst/>
          </a:prstGeom>
          <a:noFill/>
        </p:spPr>
        <p:txBody>
          <a:bodyPr wrap="square" anchor="ctr">
            <a:spAutoFit/>
          </a:bodyPr>
          <a:lstStyle/>
          <a:p>
            <a:pPr algn="ctr">
              <a:defRPr sz="1600" b="1">
                <a:solidFill>
                  <a:srgbClr val="F57018"/>
                </a:solidFill>
              </a:defRPr>
            </a:pPr>
            <a:r>
              <a:t>k grand</a:t>
            </a:r>
          </a:p>
        </p:txBody>
      </p:sp>
      <p:sp>
        <p:nvSpPr>
          <p:cNvPr id="18" name="TextBox 17"/>
          <p:cNvSpPr txBox="1"/>
          <p:nvPr/>
        </p:nvSpPr>
        <p:spPr>
          <a:xfrm>
            <a:off x="7799831" y="2779776"/>
            <a:ext cx="2514600" cy="1142999"/>
          </a:xfrm>
          <a:prstGeom prst="rect">
            <a:avLst/>
          </a:prstGeom>
          <a:noFill/>
        </p:spPr>
        <p:txBody>
          <a:bodyPr wrap="square" anchor="ctr">
            <a:spAutoFit/>
          </a:bodyPr>
          <a:lstStyle/>
          <a:p>
            <a:pPr algn="ctr">
              <a:defRPr sz="1150" b="0">
                <a:solidFill>
                  <a:srgbClr val="374150"/>
                </a:solidFill>
              </a:defRPr>
            </a:pPr>
            <a:r>
              <a:t>Utile quand il y a beaucoup de variables explicatives.</a:t>
            </a:r>
          </a:p>
        </p:txBody>
      </p:sp>
      <p:pic>
        <p:nvPicPr>
          <p:cNvPr id="19" name="Picture 18" descr="eq_lasso_originale.png"/>
          <p:cNvPicPr>
            <a:picLocks noChangeAspect="1"/>
          </p:cNvPicPr>
          <p:nvPr/>
        </p:nvPicPr>
        <p:blipFill>
          <a:blip r:embed="rId3"/>
          <a:stretch>
            <a:fillRect/>
          </a:stretch>
        </p:blipFill>
        <p:spPr>
          <a:xfrm>
            <a:off x="2743200" y="4297680"/>
            <a:ext cx="6675120" cy="962883"/>
          </a:xfrm>
          <a:prstGeom prst="rect">
            <a:avLst/>
          </a:prstGeom>
        </p:spPr>
      </p:pic>
      <p:sp>
        <p:nvSpPr>
          <p:cNvPr id="20" name="Rounded Rectangle 19"/>
          <p:cNvSpPr/>
          <p:nvPr/>
        </p:nvSpPr>
        <p:spPr>
          <a:xfrm>
            <a:off x="1005840" y="5532120"/>
            <a:ext cx="10149840" cy="594360"/>
          </a:xfrm>
          <a:prstGeom prst="roundRect">
            <a:avLst/>
          </a:prstGeom>
          <a:solidFill>
            <a:srgbClr val="F6F9FE"/>
          </a:solidFill>
          <a:ln>
            <a:solidFill>
              <a:srgbClr val="2D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5605272"/>
            <a:ext cx="9692640" cy="438912"/>
          </a:xfrm>
          <a:prstGeom prst="rect">
            <a:avLst/>
          </a:prstGeom>
          <a:noFill/>
        </p:spPr>
        <p:txBody>
          <a:bodyPr wrap="square" anchor="ctr">
            <a:spAutoFit/>
          </a:bodyPr>
          <a:lstStyle/>
          <a:p>
            <a:pPr algn="ctr">
              <a:defRPr sz="1250" b="1">
                <a:solidFill>
                  <a:srgbClr val="2D69E1"/>
                </a:solidFill>
              </a:defRPr>
            </a:pPr>
            <a:r>
              <a:t>À retenir : Lasso favorise la sparsité.</a:t>
            </a:r>
          </a:p>
        </p:txBody>
      </p:sp>
      <p:sp>
        <p:nvSpPr>
          <p:cNvPr id="22" name="TextBox 21"/>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3" name="TextBox 22"/>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RIDGE — L2</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Régression Ridge : pénalité sur les carrés des coefficients</a:t>
            </a:r>
          </a:p>
        </p:txBody>
      </p:sp>
      <p:sp>
        <p:nvSpPr>
          <p:cNvPr id="4" name="Rounded Rectangle 3"/>
          <p:cNvSpPr/>
          <p:nvPr/>
        </p:nvSpPr>
        <p:spPr>
          <a:xfrm>
            <a:off x="77724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572768"/>
            <a:ext cx="50292" cy="256032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3271" y="1755648"/>
            <a:ext cx="2514600" cy="320040"/>
          </a:xfrm>
          <a:prstGeom prst="rect">
            <a:avLst/>
          </a:prstGeom>
          <a:noFill/>
        </p:spPr>
        <p:txBody>
          <a:bodyPr wrap="square" anchor="ctr">
            <a:spAutoFit/>
          </a:bodyPr>
          <a:lstStyle/>
          <a:p>
            <a:pPr algn="l">
              <a:defRPr sz="1450" b="1">
                <a:solidFill>
                  <a:srgbClr val="193A5E"/>
                </a:solidFill>
              </a:defRPr>
            </a:pPr>
            <a:r>
              <a:t>Principe</a:t>
            </a:r>
          </a:p>
        </p:txBody>
      </p:sp>
      <p:sp>
        <p:nvSpPr>
          <p:cNvPr id="7" name="TextBox 6"/>
          <p:cNvSpPr txBox="1"/>
          <p:nvPr/>
        </p:nvSpPr>
        <p:spPr>
          <a:xfrm>
            <a:off x="1033271" y="2286000"/>
            <a:ext cx="2514600" cy="402336"/>
          </a:xfrm>
          <a:prstGeom prst="rect">
            <a:avLst/>
          </a:prstGeom>
          <a:noFill/>
        </p:spPr>
        <p:txBody>
          <a:bodyPr wrap="square" anchor="ctr">
            <a:spAutoFit/>
          </a:bodyPr>
          <a:lstStyle/>
          <a:p>
            <a:pPr algn="ctr">
              <a:defRPr sz="1600" b="1">
                <a:solidFill>
                  <a:srgbClr val="2D69E1"/>
                </a:solidFill>
              </a:defRPr>
            </a:pPr>
            <a:r>
              <a:t>Σ βⱼ²</a:t>
            </a:r>
          </a:p>
        </p:txBody>
      </p:sp>
      <p:sp>
        <p:nvSpPr>
          <p:cNvPr id="8" name="TextBox 7"/>
          <p:cNvSpPr txBox="1"/>
          <p:nvPr/>
        </p:nvSpPr>
        <p:spPr>
          <a:xfrm>
            <a:off x="1033271" y="2779776"/>
            <a:ext cx="2514600" cy="1142999"/>
          </a:xfrm>
          <a:prstGeom prst="rect">
            <a:avLst/>
          </a:prstGeom>
          <a:noFill/>
        </p:spPr>
        <p:txBody>
          <a:bodyPr wrap="square" anchor="ctr">
            <a:spAutoFit/>
          </a:bodyPr>
          <a:lstStyle/>
          <a:p>
            <a:pPr algn="ctr">
              <a:defRPr sz="1150" b="0">
                <a:solidFill>
                  <a:srgbClr val="374150"/>
                </a:solidFill>
              </a:defRPr>
            </a:pPr>
            <a:r>
              <a:t>La pénalité L2 utilise la somme des carrés des coefficients.</a:t>
            </a:r>
          </a:p>
        </p:txBody>
      </p:sp>
      <p:sp>
        <p:nvSpPr>
          <p:cNvPr id="9" name="Rounded Rectangle 8"/>
          <p:cNvSpPr/>
          <p:nvPr/>
        </p:nvSpPr>
        <p:spPr>
          <a:xfrm>
            <a:off x="416052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60520" y="1572768"/>
            <a:ext cx="50292" cy="256032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6552" y="1755648"/>
            <a:ext cx="2514600" cy="320040"/>
          </a:xfrm>
          <a:prstGeom prst="rect">
            <a:avLst/>
          </a:prstGeom>
          <a:noFill/>
        </p:spPr>
        <p:txBody>
          <a:bodyPr wrap="square" anchor="ctr">
            <a:spAutoFit/>
          </a:bodyPr>
          <a:lstStyle/>
          <a:p>
            <a:pPr algn="l">
              <a:defRPr sz="1450" b="1">
                <a:solidFill>
                  <a:srgbClr val="193A5E"/>
                </a:solidFill>
              </a:defRPr>
            </a:pPr>
            <a:r>
              <a:t>Effet</a:t>
            </a:r>
          </a:p>
        </p:txBody>
      </p:sp>
      <p:sp>
        <p:nvSpPr>
          <p:cNvPr id="12" name="TextBox 11"/>
          <p:cNvSpPr txBox="1"/>
          <p:nvPr/>
        </p:nvSpPr>
        <p:spPr>
          <a:xfrm>
            <a:off x="4416552" y="2286000"/>
            <a:ext cx="2514600" cy="402336"/>
          </a:xfrm>
          <a:prstGeom prst="rect">
            <a:avLst/>
          </a:prstGeom>
          <a:noFill/>
        </p:spPr>
        <p:txBody>
          <a:bodyPr wrap="square" anchor="ctr">
            <a:spAutoFit/>
          </a:bodyPr>
          <a:lstStyle/>
          <a:p>
            <a:pPr algn="ctr">
              <a:defRPr sz="1600" b="1">
                <a:solidFill>
                  <a:srgbClr val="5DB541"/>
                </a:solidFill>
              </a:defRPr>
            </a:pPr>
            <a:r>
              <a:t>Shrinkage</a:t>
            </a:r>
          </a:p>
        </p:txBody>
      </p:sp>
      <p:sp>
        <p:nvSpPr>
          <p:cNvPr id="13" name="TextBox 12"/>
          <p:cNvSpPr txBox="1"/>
          <p:nvPr/>
        </p:nvSpPr>
        <p:spPr>
          <a:xfrm>
            <a:off x="4416552" y="2779776"/>
            <a:ext cx="2514600" cy="1142999"/>
          </a:xfrm>
          <a:prstGeom prst="rect">
            <a:avLst/>
          </a:prstGeom>
          <a:noFill/>
        </p:spPr>
        <p:txBody>
          <a:bodyPr wrap="square" anchor="ctr">
            <a:spAutoFit/>
          </a:bodyPr>
          <a:lstStyle/>
          <a:p>
            <a:pPr algn="ctr">
              <a:defRPr sz="1150" b="0">
                <a:solidFill>
                  <a:srgbClr val="374150"/>
                </a:solidFill>
              </a:defRPr>
            </a:pPr>
            <a:r>
              <a:t>Les coefficients sont réduits vers zéro.</a:t>
            </a:r>
          </a:p>
        </p:txBody>
      </p:sp>
      <p:sp>
        <p:nvSpPr>
          <p:cNvPr id="14" name="Rounded Rectangle 13"/>
          <p:cNvSpPr/>
          <p:nvPr/>
        </p:nvSpPr>
        <p:spPr>
          <a:xfrm>
            <a:off x="754380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543800" y="1572768"/>
            <a:ext cx="50292" cy="256032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99831" y="1755648"/>
            <a:ext cx="2514600" cy="320040"/>
          </a:xfrm>
          <a:prstGeom prst="rect">
            <a:avLst/>
          </a:prstGeom>
          <a:noFill/>
        </p:spPr>
        <p:txBody>
          <a:bodyPr wrap="square" anchor="ctr">
            <a:spAutoFit/>
          </a:bodyPr>
          <a:lstStyle/>
          <a:p>
            <a:pPr algn="l">
              <a:defRPr sz="1450" b="1">
                <a:solidFill>
                  <a:srgbClr val="193A5E"/>
                </a:solidFill>
              </a:defRPr>
            </a:pPr>
            <a:r>
              <a:t>Particularité</a:t>
            </a:r>
          </a:p>
        </p:txBody>
      </p:sp>
      <p:sp>
        <p:nvSpPr>
          <p:cNvPr id="17" name="TextBox 16"/>
          <p:cNvSpPr txBox="1"/>
          <p:nvPr/>
        </p:nvSpPr>
        <p:spPr>
          <a:xfrm>
            <a:off x="7799831" y="2286000"/>
            <a:ext cx="2514600" cy="402336"/>
          </a:xfrm>
          <a:prstGeom prst="rect">
            <a:avLst/>
          </a:prstGeom>
          <a:noFill/>
        </p:spPr>
        <p:txBody>
          <a:bodyPr wrap="square" anchor="ctr">
            <a:spAutoFit/>
          </a:bodyPr>
          <a:lstStyle/>
          <a:p>
            <a:pPr algn="ctr">
              <a:defRPr sz="1600" b="1">
                <a:solidFill>
                  <a:srgbClr val="F57018"/>
                </a:solidFill>
              </a:defRPr>
            </a:pPr>
            <a:r>
              <a:t>Stabilité</a:t>
            </a:r>
          </a:p>
        </p:txBody>
      </p:sp>
      <p:sp>
        <p:nvSpPr>
          <p:cNvPr id="18" name="TextBox 17"/>
          <p:cNvSpPr txBox="1"/>
          <p:nvPr/>
        </p:nvSpPr>
        <p:spPr>
          <a:xfrm>
            <a:off x="7799831" y="2779776"/>
            <a:ext cx="2514600" cy="1142999"/>
          </a:xfrm>
          <a:prstGeom prst="rect">
            <a:avLst/>
          </a:prstGeom>
          <a:noFill/>
        </p:spPr>
        <p:txBody>
          <a:bodyPr wrap="square" anchor="ctr">
            <a:spAutoFit/>
          </a:bodyPr>
          <a:lstStyle/>
          <a:p>
            <a:pPr algn="ctr">
              <a:defRPr sz="1150" b="0">
                <a:solidFill>
                  <a:srgbClr val="374150"/>
                </a:solidFill>
              </a:defRPr>
            </a:pPr>
            <a:r>
              <a:t>Ils restent généralement non nuls.</a:t>
            </a:r>
          </a:p>
        </p:txBody>
      </p:sp>
      <p:pic>
        <p:nvPicPr>
          <p:cNvPr id="19" name="Picture 18" descr="eq_ridge_originale.png"/>
          <p:cNvPicPr>
            <a:picLocks noChangeAspect="1"/>
          </p:cNvPicPr>
          <p:nvPr/>
        </p:nvPicPr>
        <p:blipFill>
          <a:blip r:embed="rId3"/>
          <a:stretch>
            <a:fillRect/>
          </a:stretch>
        </p:blipFill>
        <p:spPr>
          <a:xfrm>
            <a:off x="2743200" y="4297680"/>
            <a:ext cx="6675120" cy="979201"/>
          </a:xfrm>
          <a:prstGeom prst="rect">
            <a:avLst/>
          </a:prstGeom>
        </p:spPr>
      </p:pic>
      <p:sp>
        <p:nvSpPr>
          <p:cNvPr id="20" name="Rounded Rectangle 19"/>
          <p:cNvSpPr/>
          <p:nvPr/>
        </p:nvSpPr>
        <p:spPr>
          <a:xfrm>
            <a:off x="1005840" y="5532120"/>
            <a:ext cx="10149840" cy="594360"/>
          </a:xfrm>
          <a:prstGeom prst="roundRect">
            <a:avLst/>
          </a:prstGeom>
          <a:solidFill>
            <a:srgbClr val="F6F9FE"/>
          </a:solidFill>
          <a:ln>
            <a:solidFill>
              <a:srgbClr val="5DB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5605272"/>
            <a:ext cx="9692640" cy="438912"/>
          </a:xfrm>
          <a:prstGeom prst="rect">
            <a:avLst/>
          </a:prstGeom>
          <a:noFill/>
        </p:spPr>
        <p:txBody>
          <a:bodyPr wrap="square" anchor="ctr">
            <a:spAutoFit/>
          </a:bodyPr>
          <a:lstStyle/>
          <a:p>
            <a:pPr algn="ctr">
              <a:defRPr sz="1250" b="1">
                <a:solidFill>
                  <a:srgbClr val="5DB541"/>
                </a:solidFill>
              </a:defRPr>
            </a:pPr>
            <a:r>
              <a:t>À retenir : Ridge stabilise le modèle sans faire une sélection nette de variables.</a:t>
            </a:r>
          </a:p>
        </p:txBody>
      </p:sp>
      <p:sp>
        <p:nvSpPr>
          <p:cNvPr id="22" name="TextBox 21"/>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3" name="TextBox 22"/>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ELASTIC NET</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Elastic Net : combiner Lasso et Ridge</a:t>
            </a:r>
          </a:p>
        </p:txBody>
      </p:sp>
      <p:sp>
        <p:nvSpPr>
          <p:cNvPr id="4" name="Rounded Rectangle 3"/>
          <p:cNvSpPr/>
          <p:nvPr/>
        </p:nvSpPr>
        <p:spPr>
          <a:xfrm>
            <a:off x="77724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572768"/>
            <a:ext cx="50292" cy="256032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33271" y="1755648"/>
            <a:ext cx="2514600" cy="320040"/>
          </a:xfrm>
          <a:prstGeom prst="rect">
            <a:avLst/>
          </a:prstGeom>
          <a:noFill/>
        </p:spPr>
        <p:txBody>
          <a:bodyPr wrap="square" anchor="ctr">
            <a:spAutoFit/>
          </a:bodyPr>
          <a:lstStyle/>
          <a:p>
            <a:pPr algn="l">
              <a:defRPr sz="1450" b="1">
                <a:solidFill>
                  <a:srgbClr val="193A5E"/>
                </a:solidFill>
              </a:defRPr>
            </a:pPr>
            <a:r>
              <a:t>L1</a:t>
            </a:r>
          </a:p>
        </p:txBody>
      </p:sp>
      <p:sp>
        <p:nvSpPr>
          <p:cNvPr id="7" name="TextBox 6"/>
          <p:cNvSpPr txBox="1"/>
          <p:nvPr/>
        </p:nvSpPr>
        <p:spPr>
          <a:xfrm>
            <a:off x="1033271" y="2286000"/>
            <a:ext cx="2514600" cy="402336"/>
          </a:xfrm>
          <a:prstGeom prst="rect">
            <a:avLst/>
          </a:prstGeom>
          <a:noFill/>
        </p:spPr>
        <p:txBody>
          <a:bodyPr wrap="square" anchor="ctr">
            <a:spAutoFit/>
          </a:bodyPr>
          <a:lstStyle/>
          <a:p>
            <a:pPr algn="ctr">
              <a:defRPr sz="1600" b="1">
                <a:solidFill>
                  <a:srgbClr val="2D69E1"/>
                </a:solidFill>
              </a:defRPr>
            </a:pPr>
            <a:r>
              <a:t>Lasso</a:t>
            </a:r>
          </a:p>
        </p:txBody>
      </p:sp>
      <p:sp>
        <p:nvSpPr>
          <p:cNvPr id="8" name="TextBox 7"/>
          <p:cNvSpPr txBox="1"/>
          <p:nvPr/>
        </p:nvSpPr>
        <p:spPr>
          <a:xfrm>
            <a:off x="1033271" y="2779776"/>
            <a:ext cx="2514600" cy="1142999"/>
          </a:xfrm>
          <a:prstGeom prst="rect">
            <a:avLst/>
          </a:prstGeom>
          <a:noFill/>
        </p:spPr>
        <p:txBody>
          <a:bodyPr wrap="square" anchor="ctr">
            <a:spAutoFit/>
          </a:bodyPr>
          <a:lstStyle/>
          <a:p>
            <a:pPr algn="ctr">
              <a:defRPr sz="1150" b="0">
                <a:solidFill>
                  <a:srgbClr val="374150"/>
                </a:solidFill>
              </a:defRPr>
            </a:pPr>
            <a:r>
              <a:t>Apporte la sélection de variables.</a:t>
            </a:r>
          </a:p>
        </p:txBody>
      </p:sp>
      <p:sp>
        <p:nvSpPr>
          <p:cNvPr id="9" name="Rounded Rectangle 8"/>
          <p:cNvSpPr/>
          <p:nvPr/>
        </p:nvSpPr>
        <p:spPr>
          <a:xfrm>
            <a:off x="416052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60520" y="1572768"/>
            <a:ext cx="50292" cy="256032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6552" y="1755648"/>
            <a:ext cx="2514600" cy="320040"/>
          </a:xfrm>
          <a:prstGeom prst="rect">
            <a:avLst/>
          </a:prstGeom>
          <a:noFill/>
        </p:spPr>
        <p:txBody>
          <a:bodyPr wrap="square" anchor="ctr">
            <a:spAutoFit/>
          </a:bodyPr>
          <a:lstStyle/>
          <a:p>
            <a:pPr algn="l">
              <a:defRPr sz="1450" b="1">
                <a:solidFill>
                  <a:srgbClr val="193A5E"/>
                </a:solidFill>
              </a:defRPr>
            </a:pPr>
            <a:r>
              <a:t>L2</a:t>
            </a:r>
          </a:p>
        </p:txBody>
      </p:sp>
      <p:sp>
        <p:nvSpPr>
          <p:cNvPr id="12" name="TextBox 11"/>
          <p:cNvSpPr txBox="1"/>
          <p:nvPr/>
        </p:nvSpPr>
        <p:spPr>
          <a:xfrm>
            <a:off x="4416552" y="2286000"/>
            <a:ext cx="2514600" cy="402336"/>
          </a:xfrm>
          <a:prstGeom prst="rect">
            <a:avLst/>
          </a:prstGeom>
          <a:noFill/>
        </p:spPr>
        <p:txBody>
          <a:bodyPr wrap="square" anchor="ctr">
            <a:spAutoFit/>
          </a:bodyPr>
          <a:lstStyle/>
          <a:p>
            <a:pPr algn="ctr">
              <a:defRPr sz="1600" b="1">
                <a:solidFill>
                  <a:srgbClr val="F57018"/>
                </a:solidFill>
              </a:defRPr>
            </a:pPr>
            <a:r>
              <a:t>Ridge</a:t>
            </a:r>
          </a:p>
        </p:txBody>
      </p:sp>
      <p:sp>
        <p:nvSpPr>
          <p:cNvPr id="13" name="TextBox 12"/>
          <p:cNvSpPr txBox="1"/>
          <p:nvPr/>
        </p:nvSpPr>
        <p:spPr>
          <a:xfrm>
            <a:off x="4416552" y="2779776"/>
            <a:ext cx="2514600" cy="1142999"/>
          </a:xfrm>
          <a:prstGeom prst="rect">
            <a:avLst/>
          </a:prstGeom>
          <a:noFill/>
        </p:spPr>
        <p:txBody>
          <a:bodyPr wrap="square" anchor="ctr">
            <a:spAutoFit/>
          </a:bodyPr>
          <a:lstStyle/>
          <a:p>
            <a:pPr algn="ctr">
              <a:defRPr sz="1150" b="0">
                <a:solidFill>
                  <a:srgbClr val="374150"/>
                </a:solidFill>
              </a:defRPr>
            </a:pPr>
            <a:r>
              <a:t>Apporte une réduction progressive et stable.</a:t>
            </a:r>
          </a:p>
        </p:txBody>
      </p:sp>
      <p:sp>
        <p:nvSpPr>
          <p:cNvPr id="14" name="Rounded Rectangle 13"/>
          <p:cNvSpPr/>
          <p:nvPr/>
        </p:nvSpPr>
        <p:spPr>
          <a:xfrm>
            <a:off x="7543800" y="1572768"/>
            <a:ext cx="2971800" cy="25603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543800" y="1572768"/>
            <a:ext cx="50292" cy="2560320"/>
          </a:xfrm>
          <a:prstGeom prst="rect">
            <a:avLst/>
          </a:prstGeom>
          <a:solidFill>
            <a:srgbClr val="7046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99831" y="1755648"/>
            <a:ext cx="2514600" cy="320040"/>
          </a:xfrm>
          <a:prstGeom prst="rect">
            <a:avLst/>
          </a:prstGeom>
          <a:noFill/>
        </p:spPr>
        <p:txBody>
          <a:bodyPr wrap="square" anchor="ctr">
            <a:spAutoFit/>
          </a:bodyPr>
          <a:lstStyle/>
          <a:p>
            <a:pPr algn="l">
              <a:defRPr sz="1450" b="1">
                <a:solidFill>
                  <a:srgbClr val="193A5E"/>
                </a:solidFill>
              </a:defRPr>
            </a:pPr>
            <a:r>
              <a:t>Elastic Net</a:t>
            </a:r>
          </a:p>
        </p:txBody>
      </p:sp>
      <p:sp>
        <p:nvSpPr>
          <p:cNvPr id="17" name="TextBox 16"/>
          <p:cNvSpPr txBox="1"/>
          <p:nvPr/>
        </p:nvSpPr>
        <p:spPr>
          <a:xfrm>
            <a:off x="7799831" y="2286000"/>
            <a:ext cx="2514600" cy="402336"/>
          </a:xfrm>
          <a:prstGeom prst="rect">
            <a:avLst/>
          </a:prstGeom>
          <a:noFill/>
        </p:spPr>
        <p:txBody>
          <a:bodyPr wrap="square" anchor="ctr">
            <a:spAutoFit/>
          </a:bodyPr>
          <a:lstStyle/>
          <a:p>
            <a:pPr algn="ctr">
              <a:defRPr sz="1600" b="1">
                <a:solidFill>
                  <a:srgbClr val="7046E1"/>
                </a:solidFill>
              </a:defRPr>
            </a:pPr>
            <a:r>
              <a:t>L1 + L2</a:t>
            </a:r>
          </a:p>
        </p:txBody>
      </p:sp>
      <p:sp>
        <p:nvSpPr>
          <p:cNvPr id="18" name="TextBox 17"/>
          <p:cNvSpPr txBox="1"/>
          <p:nvPr/>
        </p:nvSpPr>
        <p:spPr>
          <a:xfrm>
            <a:off x="7799831" y="2779776"/>
            <a:ext cx="2514600" cy="1142999"/>
          </a:xfrm>
          <a:prstGeom prst="rect">
            <a:avLst/>
          </a:prstGeom>
          <a:noFill/>
        </p:spPr>
        <p:txBody>
          <a:bodyPr wrap="square" anchor="ctr">
            <a:spAutoFit/>
          </a:bodyPr>
          <a:lstStyle/>
          <a:p>
            <a:pPr algn="ctr">
              <a:defRPr sz="1150" b="0">
                <a:solidFill>
                  <a:srgbClr val="374150"/>
                </a:solidFill>
              </a:defRPr>
            </a:pPr>
            <a:r>
              <a:t>Combine les deux pénalités.</a:t>
            </a:r>
          </a:p>
        </p:txBody>
      </p:sp>
      <p:pic>
        <p:nvPicPr>
          <p:cNvPr id="19" name="Picture 18" descr="eq_elasticnet_originale.png"/>
          <p:cNvPicPr>
            <a:picLocks noChangeAspect="1"/>
          </p:cNvPicPr>
          <p:nvPr/>
        </p:nvPicPr>
        <p:blipFill>
          <a:blip r:embed="rId3"/>
          <a:stretch>
            <a:fillRect/>
          </a:stretch>
        </p:blipFill>
        <p:spPr>
          <a:xfrm>
            <a:off x="2011680" y="4160520"/>
            <a:ext cx="8138160" cy="876249"/>
          </a:xfrm>
          <a:prstGeom prst="rect">
            <a:avLst/>
          </a:prstGeom>
        </p:spPr>
      </p:pic>
      <p:sp>
        <p:nvSpPr>
          <p:cNvPr id="20" name="Rounded Rectangle 19"/>
          <p:cNvSpPr/>
          <p:nvPr/>
        </p:nvSpPr>
        <p:spPr>
          <a:xfrm>
            <a:off x="1005840" y="5532120"/>
            <a:ext cx="10149840" cy="594360"/>
          </a:xfrm>
          <a:prstGeom prst="roundRect">
            <a:avLst/>
          </a:prstGeom>
          <a:solidFill>
            <a:srgbClr val="F6F9FE"/>
          </a:solidFill>
          <a:ln>
            <a:solidFill>
              <a:srgbClr val="7046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5605272"/>
            <a:ext cx="9692640" cy="438912"/>
          </a:xfrm>
          <a:prstGeom prst="rect">
            <a:avLst/>
          </a:prstGeom>
          <a:noFill/>
        </p:spPr>
        <p:txBody>
          <a:bodyPr wrap="square" anchor="ctr">
            <a:spAutoFit/>
          </a:bodyPr>
          <a:lstStyle/>
          <a:p>
            <a:pPr algn="ctr">
              <a:defRPr sz="1250" b="1">
                <a:solidFill>
                  <a:srgbClr val="7046E1"/>
                </a:solidFill>
              </a:defRPr>
            </a:pPr>
            <a:r>
              <a:t>À retenir : Elastic Net est utile lorsque les variables sont nombreuses et corrélées.</a:t>
            </a:r>
          </a:p>
        </p:txBody>
      </p:sp>
      <p:sp>
        <p:nvSpPr>
          <p:cNvPr id="22" name="TextBox 21"/>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3" name="TextBox 22"/>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HYPERPARAMÈTRE</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Choisir λ : ni trop faible, ni trop fort</a:t>
            </a:r>
          </a:p>
        </p:txBody>
      </p:sp>
      <p:sp>
        <p:nvSpPr>
          <p:cNvPr id="4" name="Rounded Rectangle 3"/>
          <p:cNvSpPr/>
          <p:nvPr/>
        </p:nvSpPr>
        <p:spPr>
          <a:xfrm>
            <a:off x="1051560" y="1691640"/>
            <a:ext cx="2926080" cy="246888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51560" y="1691640"/>
            <a:ext cx="50292" cy="246888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07592" y="1874520"/>
            <a:ext cx="2468880" cy="320040"/>
          </a:xfrm>
          <a:prstGeom prst="rect">
            <a:avLst/>
          </a:prstGeom>
          <a:noFill/>
        </p:spPr>
        <p:txBody>
          <a:bodyPr wrap="square" anchor="ctr">
            <a:spAutoFit/>
          </a:bodyPr>
          <a:lstStyle/>
          <a:p>
            <a:pPr algn="l">
              <a:defRPr sz="1450" b="1">
                <a:solidFill>
                  <a:srgbClr val="193A5E"/>
                </a:solidFill>
              </a:defRPr>
            </a:pPr>
            <a:r>
              <a:t>λ trop petit</a:t>
            </a:r>
          </a:p>
        </p:txBody>
      </p:sp>
      <p:sp>
        <p:nvSpPr>
          <p:cNvPr id="7" name="TextBox 6"/>
          <p:cNvSpPr txBox="1"/>
          <p:nvPr/>
        </p:nvSpPr>
        <p:spPr>
          <a:xfrm>
            <a:off x="1307592" y="2404872"/>
            <a:ext cx="2468880" cy="402336"/>
          </a:xfrm>
          <a:prstGeom prst="rect">
            <a:avLst/>
          </a:prstGeom>
          <a:noFill/>
        </p:spPr>
        <p:txBody>
          <a:bodyPr wrap="square" anchor="ctr">
            <a:spAutoFit/>
          </a:bodyPr>
          <a:lstStyle/>
          <a:p>
            <a:pPr algn="ctr">
              <a:defRPr sz="1600" b="1">
                <a:solidFill>
                  <a:srgbClr val="2D69E1"/>
                </a:solidFill>
              </a:defRPr>
            </a:pPr>
            <a:r>
              <a:t>Trop libre</a:t>
            </a:r>
          </a:p>
        </p:txBody>
      </p:sp>
      <p:sp>
        <p:nvSpPr>
          <p:cNvPr id="8" name="TextBox 7"/>
          <p:cNvSpPr txBox="1"/>
          <p:nvPr/>
        </p:nvSpPr>
        <p:spPr>
          <a:xfrm>
            <a:off x="1307592" y="2898648"/>
            <a:ext cx="2468880" cy="1051560"/>
          </a:xfrm>
          <a:prstGeom prst="rect">
            <a:avLst/>
          </a:prstGeom>
          <a:noFill/>
        </p:spPr>
        <p:txBody>
          <a:bodyPr wrap="square" anchor="ctr">
            <a:spAutoFit/>
          </a:bodyPr>
          <a:lstStyle/>
          <a:p>
            <a:pPr algn="ctr">
              <a:defRPr sz="1150" b="0">
                <a:solidFill>
                  <a:srgbClr val="374150"/>
                </a:solidFill>
              </a:defRPr>
            </a:pPr>
            <a:r>
              <a:t>La pénalité a peu d’effet : le modèle peut surajuster.</a:t>
            </a:r>
          </a:p>
        </p:txBody>
      </p:sp>
      <p:sp>
        <p:nvSpPr>
          <p:cNvPr id="9" name="Rounded Rectangle 8"/>
          <p:cNvSpPr/>
          <p:nvPr/>
        </p:nvSpPr>
        <p:spPr>
          <a:xfrm>
            <a:off x="4617720" y="1691640"/>
            <a:ext cx="2926080" cy="246888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17720" y="1691640"/>
            <a:ext cx="50292" cy="246888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73752" y="1874520"/>
            <a:ext cx="2468880" cy="320040"/>
          </a:xfrm>
          <a:prstGeom prst="rect">
            <a:avLst/>
          </a:prstGeom>
          <a:noFill/>
        </p:spPr>
        <p:txBody>
          <a:bodyPr wrap="square" anchor="ctr">
            <a:spAutoFit/>
          </a:bodyPr>
          <a:lstStyle/>
          <a:p>
            <a:pPr algn="l">
              <a:defRPr sz="1450" b="1">
                <a:solidFill>
                  <a:srgbClr val="193A5E"/>
                </a:solidFill>
              </a:defRPr>
            </a:pPr>
            <a:r>
              <a:t>λ adapté</a:t>
            </a:r>
          </a:p>
        </p:txBody>
      </p:sp>
      <p:sp>
        <p:nvSpPr>
          <p:cNvPr id="12" name="TextBox 11"/>
          <p:cNvSpPr txBox="1"/>
          <p:nvPr/>
        </p:nvSpPr>
        <p:spPr>
          <a:xfrm>
            <a:off x="4873752" y="2404872"/>
            <a:ext cx="2468880" cy="402336"/>
          </a:xfrm>
          <a:prstGeom prst="rect">
            <a:avLst/>
          </a:prstGeom>
          <a:noFill/>
        </p:spPr>
        <p:txBody>
          <a:bodyPr wrap="square" anchor="ctr">
            <a:spAutoFit/>
          </a:bodyPr>
          <a:lstStyle/>
          <a:p>
            <a:pPr algn="ctr">
              <a:defRPr sz="1600" b="1">
                <a:solidFill>
                  <a:srgbClr val="5DB541"/>
                </a:solidFill>
              </a:defRPr>
            </a:pPr>
            <a:r>
              <a:t>Équilibre</a:t>
            </a:r>
          </a:p>
        </p:txBody>
      </p:sp>
      <p:sp>
        <p:nvSpPr>
          <p:cNvPr id="13" name="TextBox 12"/>
          <p:cNvSpPr txBox="1"/>
          <p:nvPr/>
        </p:nvSpPr>
        <p:spPr>
          <a:xfrm>
            <a:off x="4873752" y="2898648"/>
            <a:ext cx="2468880" cy="1051560"/>
          </a:xfrm>
          <a:prstGeom prst="rect">
            <a:avLst/>
          </a:prstGeom>
          <a:noFill/>
        </p:spPr>
        <p:txBody>
          <a:bodyPr wrap="square" anchor="ctr">
            <a:spAutoFit/>
          </a:bodyPr>
          <a:lstStyle/>
          <a:p>
            <a:pPr algn="ctr">
              <a:defRPr sz="1150" b="0">
                <a:solidFill>
                  <a:srgbClr val="374150"/>
                </a:solidFill>
              </a:defRPr>
            </a:pPr>
            <a:r>
              <a:t>Le modèle trouve un bon compromis sur validation.</a:t>
            </a:r>
          </a:p>
        </p:txBody>
      </p:sp>
      <p:sp>
        <p:nvSpPr>
          <p:cNvPr id="14" name="Rounded Rectangle 13"/>
          <p:cNvSpPr/>
          <p:nvPr/>
        </p:nvSpPr>
        <p:spPr>
          <a:xfrm>
            <a:off x="8183879" y="1691640"/>
            <a:ext cx="2926080" cy="246888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79" y="1691640"/>
            <a:ext cx="50292" cy="246888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39911" y="1874520"/>
            <a:ext cx="2468880" cy="320040"/>
          </a:xfrm>
          <a:prstGeom prst="rect">
            <a:avLst/>
          </a:prstGeom>
          <a:noFill/>
        </p:spPr>
        <p:txBody>
          <a:bodyPr wrap="square" anchor="ctr">
            <a:spAutoFit/>
          </a:bodyPr>
          <a:lstStyle/>
          <a:p>
            <a:pPr algn="l">
              <a:defRPr sz="1450" b="1">
                <a:solidFill>
                  <a:srgbClr val="193A5E"/>
                </a:solidFill>
              </a:defRPr>
            </a:pPr>
            <a:r>
              <a:t>λ trop grand</a:t>
            </a:r>
          </a:p>
        </p:txBody>
      </p:sp>
      <p:sp>
        <p:nvSpPr>
          <p:cNvPr id="17" name="TextBox 16"/>
          <p:cNvSpPr txBox="1"/>
          <p:nvPr/>
        </p:nvSpPr>
        <p:spPr>
          <a:xfrm>
            <a:off x="8439911" y="2404872"/>
            <a:ext cx="2468880" cy="402336"/>
          </a:xfrm>
          <a:prstGeom prst="rect">
            <a:avLst/>
          </a:prstGeom>
          <a:noFill/>
        </p:spPr>
        <p:txBody>
          <a:bodyPr wrap="square" anchor="ctr">
            <a:spAutoFit/>
          </a:bodyPr>
          <a:lstStyle/>
          <a:p>
            <a:pPr algn="ctr">
              <a:defRPr sz="1600" b="1">
                <a:solidFill>
                  <a:srgbClr val="F57018"/>
                </a:solidFill>
              </a:defRPr>
            </a:pPr>
            <a:r>
              <a:t>Trop rigide</a:t>
            </a:r>
          </a:p>
        </p:txBody>
      </p:sp>
      <p:sp>
        <p:nvSpPr>
          <p:cNvPr id="18" name="TextBox 17"/>
          <p:cNvSpPr txBox="1"/>
          <p:nvPr/>
        </p:nvSpPr>
        <p:spPr>
          <a:xfrm>
            <a:off x="8439911" y="2898648"/>
            <a:ext cx="2468880" cy="1051560"/>
          </a:xfrm>
          <a:prstGeom prst="rect">
            <a:avLst/>
          </a:prstGeom>
          <a:noFill/>
        </p:spPr>
        <p:txBody>
          <a:bodyPr wrap="square" anchor="ctr">
            <a:spAutoFit/>
          </a:bodyPr>
          <a:lstStyle/>
          <a:p>
            <a:pPr algn="ctr">
              <a:defRPr sz="1150" b="0">
                <a:solidFill>
                  <a:srgbClr val="374150"/>
                </a:solidFill>
              </a:defRPr>
            </a:pPr>
            <a:r>
              <a:t>Les coefficients sont trop contraints : sous-ajustement.</a:t>
            </a:r>
          </a:p>
        </p:txBody>
      </p:sp>
      <p:sp>
        <p:nvSpPr>
          <p:cNvPr id="19" name="Rounded Rectangle 18"/>
          <p:cNvSpPr/>
          <p:nvPr/>
        </p:nvSpPr>
        <p:spPr>
          <a:xfrm>
            <a:off x="1005840" y="5532120"/>
            <a:ext cx="10149840" cy="594360"/>
          </a:xfrm>
          <a:prstGeom prst="roundRect">
            <a:avLst/>
          </a:prstGeom>
          <a:solidFill>
            <a:srgbClr val="F6F9FE"/>
          </a:solidFill>
          <a:ln>
            <a:solidFill>
              <a:srgbClr val="D7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5605272"/>
            <a:ext cx="9692640" cy="438912"/>
          </a:xfrm>
          <a:prstGeom prst="rect">
            <a:avLst/>
          </a:prstGeom>
          <a:noFill/>
        </p:spPr>
        <p:txBody>
          <a:bodyPr wrap="square" anchor="ctr">
            <a:spAutoFit/>
          </a:bodyPr>
          <a:lstStyle/>
          <a:p>
            <a:pPr algn="ctr">
              <a:defRPr sz="1250" b="1">
                <a:solidFill>
                  <a:srgbClr val="D73737"/>
                </a:solidFill>
              </a:defRPr>
            </a:pPr>
            <a:r>
              <a:t>On choisit λ par validation croisée, jamais en regardant le TEST.</a:t>
            </a:r>
          </a:p>
        </p:txBody>
      </p:sp>
      <p:sp>
        <p:nvSpPr>
          <p:cNvPr id="21" name="TextBox 20"/>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2" name="TextBox 21"/>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COMPARAISON VISUELLE</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Ridge vs Lasso vs Elastic Net</a:t>
            </a:r>
          </a:p>
        </p:txBody>
      </p:sp>
      <p:pic>
        <p:nvPicPr>
          <p:cNvPr id="4" name="Picture 3" descr="schema_regularisation_original_unique.png"/>
          <p:cNvPicPr>
            <a:picLocks noChangeAspect="1"/>
          </p:cNvPicPr>
          <p:nvPr/>
        </p:nvPicPr>
        <p:blipFill>
          <a:blip r:embed="rId3"/>
          <a:stretch>
            <a:fillRect/>
          </a:stretch>
        </p:blipFill>
        <p:spPr>
          <a:xfrm>
            <a:off x="1143000" y="1325880"/>
            <a:ext cx="9921240" cy="4328320"/>
          </a:xfrm>
          <a:prstGeom prst="rect">
            <a:avLst/>
          </a:prstGeom>
        </p:spPr>
      </p:pic>
      <p:sp>
        <p:nvSpPr>
          <p:cNvPr id="5" name="Rounded Rectangle 4"/>
          <p:cNvSpPr/>
          <p:nvPr/>
        </p:nvSpPr>
        <p:spPr>
          <a:xfrm>
            <a:off x="1005840" y="5532120"/>
            <a:ext cx="10149840" cy="594360"/>
          </a:xfrm>
          <a:prstGeom prst="roundRect">
            <a:avLst/>
          </a:prstGeom>
          <a:solidFill>
            <a:srgbClr val="F6F9FE"/>
          </a:solidFill>
          <a:ln>
            <a:solidFill>
              <a:srgbClr val="19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40" y="5605272"/>
            <a:ext cx="9692640" cy="438912"/>
          </a:xfrm>
          <a:prstGeom prst="rect">
            <a:avLst/>
          </a:prstGeom>
          <a:noFill/>
        </p:spPr>
        <p:txBody>
          <a:bodyPr wrap="square" anchor="ctr">
            <a:spAutoFit/>
          </a:bodyPr>
          <a:lstStyle/>
          <a:p>
            <a:pPr algn="ctr">
              <a:defRPr sz="1250" b="1">
                <a:solidFill>
                  <a:srgbClr val="193A5E"/>
                </a:solidFill>
              </a:defRPr>
            </a:pPr>
            <a:r>
              <a:t>Lasso favorise les zéros ; Ridge réduit les poids ; Elastic Net combine les deux.</a:t>
            </a:r>
          </a:p>
        </p:txBody>
      </p:sp>
      <p:sp>
        <p:nvSpPr>
          <p:cNvPr id="7" name="TextBox 6"/>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8" name="TextBox 7"/>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3657600" cy="201168"/>
          </a:xfrm>
          <a:prstGeom prst="rect">
            <a:avLst/>
          </a:prstGeom>
          <a:noFill/>
        </p:spPr>
        <p:txBody>
          <a:bodyPr wrap="square" anchor="ctr">
            <a:spAutoFit/>
          </a:bodyPr>
          <a:lstStyle/>
          <a:p>
            <a:pPr algn="l">
              <a:defRPr sz="950" b="1">
                <a:solidFill>
                  <a:srgbClr val="2D69E1"/>
                </a:solidFill>
              </a:defRPr>
            </a:pPr>
            <a:r>
              <a:t>SYNTHÈSE</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Quel modèle régularisé retenir ?</a:t>
            </a:r>
          </a:p>
        </p:txBody>
      </p:sp>
      <p:sp>
        <p:nvSpPr>
          <p:cNvPr id="4" name="Rounded Rectangle 3"/>
          <p:cNvSpPr/>
          <p:nvPr/>
        </p:nvSpPr>
        <p:spPr>
          <a:xfrm>
            <a:off x="1005840" y="1600200"/>
            <a:ext cx="2971800" cy="28803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005840" y="1600200"/>
            <a:ext cx="50292" cy="288036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61872" y="1783080"/>
            <a:ext cx="2514600" cy="320040"/>
          </a:xfrm>
          <a:prstGeom prst="rect">
            <a:avLst/>
          </a:prstGeom>
          <a:noFill/>
        </p:spPr>
        <p:txBody>
          <a:bodyPr wrap="square" anchor="ctr">
            <a:spAutoFit/>
          </a:bodyPr>
          <a:lstStyle/>
          <a:p>
            <a:pPr algn="l">
              <a:defRPr sz="1450" b="1">
                <a:solidFill>
                  <a:srgbClr val="193A5E"/>
                </a:solidFill>
              </a:defRPr>
            </a:pPr>
            <a:r>
              <a:t>Lasso</a:t>
            </a:r>
          </a:p>
        </p:txBody>
      </p:sp>
      <p:sp>
        <p:nvSpPr>
          <p:cNvPr id="7" name="TextBox 6"/>
          <p:cNvSpPr txBox="1"/>
          <p:nvPr/>
        </p:nvSpPr>
        <p:spPr>
          <a:xfrm>
            <a:off x="1261872" y="2313432"/>
            <a:ext cx="2514600" cy="402336"/>
          </a:xfrm>
          <a:prstGeom prst="rect">
            <a:avLst/>
          </a:prstGeom>
          <a:noFill/>
        </p:spPr>
        <p:txBody>
          <a:bodyPr wrap="square" anchor="ctr">
            <a:spAutoFit/>
          </a:bodyPr>
          <a:lstStyle/>
          <a:p>
            <a:pPr algn="ctr">
              <a:defRPr sz="1600" b="1">
                <a:solidFill>
                  <a:srgbClr val="2D69E1"/>
                </a:solidFill>
              </a:defRPr>
            </a:pPr>
            <a:r>
              <a:t>L1</a:t>
            </a:r>
          </a:p>
        </p:txBody>
      </p:sp>
      <p:sp>
        <p:nvSpPr>
          <p:cNvPr id="8" name="TextBox 7"/>
          <p:cNvSpPr txBox="1"/>
          <p:nvPr/>
        </p:nvSpPr>
        <p:spPr>
          <a:xfrm>
            <a:off x="1261872" y="2807208"/>
            <a:ext cx="2514600" cy="1463039"/>
          </a:xfrm>
          <a:prstGeom prst="rect">
            <a:avLst/>
          </a:prstGeom>
          <a:noFill/>
        </p:spPr>
        <p:txBody>
          <a:bodyPr wrap="square" anchor="ctr">
            <a:spAutoFit/>
          </a:bodyPr>
          <a:lstStyle/>
          <a:p>
            <a:pPr algn="ctr">
              <a:defRPr sz="1150" b="0">
                <a:solidFill>
                  <a:srgbClr val="374150"/>
                </a:solidFill>
              </a:defRPr>
            </a:pPr>
            <a:r>
              <a:t>Sélection de variables</a:t>
            </a:r>
            <a:br/>
            <a:br/>
            <a:r>
              <a:t>Modèle plus parcimonieux</a:t>
            </a:r>
          </a:p>
        </p:txBody>
      </p:sp>
      <p:sp>
        <p:nvSpPr>
          <p:cNvPr id="9" name="Rounded Rectangle 8"/>
          <p:cNvSpPr/>
          <p:nvPr/>
        </p:nvSpPr>
        <p:spPr>
          <a:xfrm>
            <a:off x="4617720" y="1600200"/>
            <a:ext cx="2971800" cy="28803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17720" y="1600200"/>
            <a:ext cx="50292" cy="288036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73752" y="1783080"/>
            <a:ext cx="2514600" cy="320040"/>
          </a:xfrm>
          <a:prstGeom prst="rect">
            <a:avLst/>
          </a:prstGeom>
          <a:noFill/>
        </p:spPr>
        <p:txBody>
          <a:bodyPr wrap="square" anchor="ctr">
            <a:spAutoFit/>
          </a:bodyPr>
          <a:lstStyle/>
          <a:p>
            <a:pPr algn="l">
              <a:defRPr sz="1450" b="1">
                <a:solidFill>
                  <a:srgbClr val="193A5E"/>
                </a:solidFill>
              </a:defRPr>
            </a:pPr>
            <a:r>
              <a:t>Ridge</a:t>
            </a:r>
          </a:p>
        </p:txBody>
      </p:sp>
      <p:sp>
        <p:nvSpPr>
          <p:cNvPr id="12" name="TextBox 11"/>
          <p:cNvSpPr txBox="1"/>
          <p:nvPr/>
        </p:nvSpPr>
        <p:spPr>
          <a:xfrm>
            <a:off x="4873752" y="2313432"/>
            <a:ext cx="2514600" cy="402336"/>
          </a:xfrm>
          <a:prstGeom prst="rect">
            <a:avLst/>
          </a:prstGeom>
          <a:noFill/>
        </p:spPr>
        <p:txBody>
          <a:bodyPr wrap="square" anchor="ctr">
            <a:spAutoFit/>
          </a:bodyPr>
          <a:lstStyle/>
          <a:p>
            <a:pPr algn="ctr">
              <a:defRPr sz="1600" b="1">
                <a:solidFill>
                  <a:srgbClr val="F57018"/>
                </a:solidFill>
              </a:defRPr>
            </a:pPr>
            <a:r>
              <a:t>L2</a:t>
            </a:r>
          </a:p>
        </p:txBody>
      </p:sp>
      <p:sp>
        <p:nvSpPr>
          <p:cNvPr id="13" name="TextBox 12"/>
          <p:cNvSpPr txBox="1"/>
          <p:nvPr/>
        </p:nvSpPr>
        <p:spPr>
          <a:xfrm>
            <a:off x="4873752" y="2807208"/>
            <a:ext cx="2514600" cy="1463039"/>
          </a:xfrm>
          <a:prstGeom prst="rect">
            <a:avLst/>
          </a:prstGeom>
          <a:noFill/>
        </p:spPr>
        <p:txBody>
          <a:bodyPr wrap="square" anchor="ctr">
            <a:spAutoFit/>
          </a:bodyPr>
          <a:lstStyle/>
          <a:p>
            <a:pPr algn="ctr">
              <a:defRPr sz="1150" b="0">
                <a:solidFill>
                  <a:srgbClr val="374150"/>
                </a:solidFill>
              </a:defRPr>
            </a:pPr>
            <a:r>
              <a:t>Stabilité</a:t>
            </a:r>
            <a:br/>
            <a:br/>
            <a:r>
              <a:t>Coefficients réduits mais conservés</a:t>
            </a:r>
          </a:p>
        </p:txBody>
      </p:sp>
      <p:sp>
        <p:nvSpPr>
          <p:cNvPr id="14" name="Rounded Rectangle 13"/>
          <p:cNvSpPr/>
          <p:nvPr/>
        </p:nvSpPr>
        <p:spPr>
          <a:xfrm>
            <a:off x="8229600" y="1600200"/>
            <a:ext cx="2971800" cy="28803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0" y="1600200"/>
            <a:ext cx="50292" cy="2880360"/>
          </a:xfrm>
          <a:prstGeom prst="rect">
            <a:avLst/>
          </a:prstGeom>
          <a:solidFill>
            <a:srgbClr val="7046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85632" y="1783080"/>
            <a:ext cx="2514600" cy="320040"/>
          </a:xfrm>
          <a:prstGeom prst="rect">
            <a:avLst/>
          </a:prstGeom>
          <a:noFill/>
        </p:spPr>
        <p:txBody>
          <a:bodyPr wrap="square" anchor="ctr">
            <a:spAutoFit/>
          </a:bodyPr>
          <a:lstStyle/>
          <a:p>
            <a:pPr algn="l">
              <a:defRPr sz="1450" b="1">
                <a:solidFill>
                  <a:srgbClr val="193A5E"/>
                </a:solidFill>
              </a:defRPr>
            </a:pPr>
            <a:r>
              <a:t>Elastic Net</a:t>
            </a:r>
          </a:p>
        </p:txBody>
      </p:sp>
      <p:sp>
        <p:nvSpPr>
          <p:cNvPr id="17" name="TextBox 16"/>
          <p:cNvSpPr txBox="1"/>
          <p:nvPr/>
        </p:nvSpPr>
        <p:spPr>
          <a:xfrm>
            <a:off x="8485632" y="2313432"/>
            <a:ext cx="2514600" cy="402336"/>
          </a:xfrm>
          <a:prstGeom prst="rect">
            <a:avLst/>
          </a:prstGeom>
          <a:noFill/>
        </p:spPr>
        <p:txBody>
          <a:bodyPr wrap="square" anchor="ctr">
            <a:spAutoFit/>
          </a:bodyPr>
          <a:lstStyle/>
          <a:p>
            <a:pPr algn="ctr">
              <a:defRPr sz="1600" b="1">
                <a:solidFill>
                  <a:srgbClr val="7046E1"/>
                </a:solidFill>
              </a:defRPr>
            </a:pPr>
            <a:r>
              <a:t>L1 + L2</a:t>
            </a:r>
          </a:p>
        </p:txBody>
      </p:sp>
      <p:sp>
        <p:nvSpPr>
          <p:cNvPr id="18" name="TextBox 17"/>
          <p:cNvSpPr txBox="1"/>
          <p:nvPr/>
        </p:nvSpPr>
        <p:spPr>
          <a:xfrm>
            <a:off x="8485632" y="2807208"/>
            <a:ext cx="2514600" cy="1463039"/>
          </a:xfrm>
          <a:prstGeom prst="rect">
            <a:avLst/>
          </a:prstGeom>
          <a:noFill/>
        </p:spPr>
        <p:txBody>
          <a:bodyPr wrap="square" anchor="ctr">
            <a:spAutoFit/>
          </a:bodyPr>
          <a:lstStyle/>
          <a:p>
            <a:pPr algn="ctr">
              <a:defRPr sz="1150" b="0">
                <a:solidFill>
                  <a:srgbClr val="374150"/>
                </a:solidFill>
              </a:defRPr>
            </a:pPr>
            <a:r>
              <a:t>Compromis</a:t>
            </a:r>
            <a:br/>
            <a:br/>
            <a:r>
              <a:t>Utile avec variables corrélées</a:t>
            </a:r>
          </a:p>
        </p:txBody>
      </p:sp>
      <p:sp>
        <p:nvSpPr>
          <p:cNvPr id="19" name="Rounded Rectangle 18"/>
          <p:cNvSpPr/>
          <p:nvPr/>
        </p:nvSpPr>
        <p:spPr>
          <a:xfrm>
            <a:off x="1005840" y="5532120"/>
            <a:ext cx="10149840" cy="594360"/>
          </a:xfrm>
          <a:prstGeom prst="roundRect">
            <a:avLst/>
          </a:prstGeom>
          <a:solidFill>
            <a:srgbClr val="F6F9FE"/>
          </a:solidFill>
          <a:ln>
            <a:solidFill>
              <a:srgbClr val="5DB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5605272"/>
            <a:ext cx="9692640" cy="438912"/>
          </a:xfrm>
          <a:prstGeom prst="rect">
            <a:avLst/>
          </a:prstGeom>
          <a:noFill/>
        </p:spPr>
        <p:txBody>
          <a:bodyPr wrap="square" anchor="ctr">
            <a:spAutoFit/>
          </a:bodyPr>
          <a:lstStyle/>
          <a:p>
            <a:pPr algn="ctr">
              <a:defRPr sz="1250" b="1">
                <a:solidFill>
                  <a:srgbClr val="5DB541"/>
                </a:solidFill>
              </a:defRPr>
            </a:pPr>
            <a:r>
              <a:t>La comparaison finale doit se faire sur validation / CV, puis confirmation sur TEST.</a:t>
            </a:r>
          </a:p>
        </p:txBody>
      </p:sp>
      <p:sp>
        <p:nvSpPr>
          <p:cNvPr id="21" name="TextBox 20"/>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Machine Learning — Régularisation</a:t>
            </a:r>
          </a:p>
        </p:txBody>
      </p:sp>
      <p:sp>
        <p:nvSpPr>
          <p:cNvPr id="22" name="TextBox 21"/>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35.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0003-13.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0003-14.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82296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438912"/>
            <a:ext cx="10515600" cy="365760"/>
          </a:xfrm>
          <a:prstGeom prst="rect">
            <a:avLst/>
          </a:prstGeom>
          <a:noFill/>
        </p:spPr>
        <p:txBody>
          <a:bodyPr wrap="square">
            <a:spAutoFit/>
          </a:bodyPr>
          <a:lstStyle/>
          <a:p>
            <a:pPr algn="l"/>
            <a:r>
              <a:rPr sz="1800" b="1">
                <a:solidFill>
                  <a:srgbClr val="FFFFFF"/>
                </a:solidFill>
                <a:latin typeface="Aptos"/>
              </a:rPr>
              <a:t>ARRÊT — DÉMONSTRATION + PRATIQUE</a:t>
            </a:r>
          </a:p>
        </p:txBody>
      </p:sp>
      <p:sp>
        <p:nvSpPr>
          <p:cNvPr id="4" name="TextBox 3"/>
          <p:cNvSpPr txBox="1"/>
          <p:nvPr/>
        </p:nvSpPr>
        <p:spPr>
          <a:xfrm>
            <a:off x="658368" y="1298448"/>
            <a:ext cx="10972800" cy="384048"/>
          </a:xfrm>
          <a:prstGeom prst="rect">
            <a:avLst/>
          </a:prstGeom>
          <a:noFill/>
        </p:spPr>
        <p:txBody>
          <a:bodyPr wrap="square">
            <a:spAutoFit/>
          </a:bodyPr>
          <a:lstStyle/>
          <a:p>
            <a:pPr algn="l"/>
            <a:r>
              <a:rPr sz="2000" b="1">
                <a:solidFill>
                  <a:srgbClr val="123153"/>
                </a:solidFill>
                <a:latin typeface="Aptos"/>
              </a:rPr>
              <a:t>Régression avec scikit-learn : linéaire, polynomiale, Ridge, Lasso</a:t>
            </a:r>
          </a:p>
        </p:txBody>
      </p:sp>
      <p:sp>
        <p:nvSpPr>
          <p:cNvPr id="5" name="Rounded Rectangle 4"/>
          <p:cNvSpPr/>
          <p:nvPr/>
        </p:nvSpPr>
        <p:spPr>
          <a:xfrm>
            <a:off x="59436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920240"/>
            <a:ext cx="356616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084832"/>
            <a:ext cx="3246120" cy="256032"/>
          </a:xfrm>
          <a:prstGeom prst="rect">
            <a:avLst/>
          </a:prstGeom>
          <a:noFill/>
        </p:spPr>
        <p:txBody>
          <a:bodyPr wrap="square">
            <a:spAutoFit/>
          </a:bodyPr>
          <a:lstStyle/>
          <a:p>
            <a:r>
              <a:rPr sz="1150" b="1">
                <a:solidFill>
                  <a:srgbClr val="123153"/>
                </a:solidFill>
                <a:latin typeface="Aptos"/>
              </a:rPr>
              <a:t>1 — CONSTRUIRE LE PIPELINE</a:t>
            </a:r>
          </a:p>
        </p:txBody>
      </p:sp>
      <p:sp>
        <p:nvSpPr>
          <p:cNvPr id="8" name="TextBox 7"/>
          <p:cNvSpPr txBox="1"/>
          <p:nvPr/>
        </p:nvSpPr>
        <p:spPr>
          <a:xfrm>
            <a:off x="777240" y="2523744"/>
            <a:ext cx="3182112" cy="256032"/>
          </a:xfrm>
          <a:prstGeom prst="rect">
            <a:avLst/>
          </a:prstGeom>
          <a:noFill/>
        </p:spPr>
        <p:txBody>
          <a:bodyPr wrap="square">
            <a:spAutoFit/>
          </a:bodyPr>
          <a:lstStyle/>
          <a:p>
            <a:r>
              <a:rPr sz="950" b="0">
                <a:solidFill>
                  <a:srgbClr val="232D3A"/>
                </a:solidFill>
                <a:latin typeface="Aptos"/>
              </a:rPr>
              <a:t>• preprocessing + modèle</a:t>
            </a:r>
          </a:p>
        </p:txBody>
      </p:sp>
      <p:sp>
        <p:nvSpPr>
          <p:cNvPr id="9" name="TextBox 8"/>
          <p:cNvSpPr txBox="1"/>
          <p:nvPr/>
        </p:nvSpPr>
        <p:spPr>
          <a:xfrm>
            <a:off x="777240" y="2834640"/>
            <a:ext cx="3182112" cy="256032"/>
          </a:xfrm>
          <a:prstGeom prst="rect">
            <a:avLst/>
          </a:prstGeom>
          <a:noFill/>
        </p:spPr>
        <p:txBody>
          <a:bodyPr wrap="square">
            <a:spAutoFit/>
          </a:bodyPr>
          <a:lstStyle/>
          <a:p>
            <a:r>
              <a:rPr sz="950" b="0">
                <a:solidFill>
                  <a:srgbClr val="232D3A"/>
                </a:solidFill>
                <a:latin typeface="Aptos"/>
              </a:rPr>
              <a:t>• LinearRegression puis PolynomialFeatures</a:t>
            </a:r>
          </a:p>
        </p:txBody>
      </p:sp>
      <p:sp>
        <p:nvSpPr>
          <p:cNvPr id="10" name="TextBox 9"/>
          <p:cNvSpPr txBox="1"/>
          <p:nvPr/>
        </p:nvSpPr>
        <p:spPr>
          <a:xfrm>
            <a:off x="777240" y="3145536"/>
            <a:ext cx="3182112" cy="256032"/>
          </a:xfrm>
          <a:prstGeom prst="rect">
            <a:avLst/>
          </a:prstGeom>
          <a:noFill/>
        </p:spPr>
        <p:txBody>
          <a:bodyPr wrap="square">
            <a:spAutoFit/>
          </a:bodyPr>
          <a:lstStyle/>
          <a:p>
            <a:r>
              <a:rPr sz="950" b="0">
                <a:solidFill>
                  <a:srgbClr val="232D3A"/>
                </a:solidFill>
                <a:latin typeface="Aptos"/>
              </a:rPr>
              <a:t>• Ridge / Lasso si nécessaire</a:t>
            </a:r>
          </a:p>
        </p:txBody>
      </p:sp>
      <p:sp>
        <p:nvSpPr>
          <p:cNvPr id="11" name="Rounded Rectangle 10"/>
          <p:cNvSpPr/>
          <p:nvPr/>
        </p:nvSpPr>
        <p:spPr>
          <a:xfrm>
            <a:off x="443484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20240"/>
            <a:ext cx="356616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9432" y="2084832"/>
            <a:ext cx="3246120" cy="256032"/>
          </a:xfrm>
          <a:prstGeom prst="rect">
            <a:avLst/>
          </a:prstGeom>
          <a:noFill/>
        </p:spPr>
        <p:txBody>
          <a:bodyPr wrap="square">
            <a:spAutoFit/>
          </a:bodyPr>
          <a:lstStyle/>
          <a:p>
            <a:r>
              <a:rPr sz="1150" b="1">
                <a:solidFill>
                  <a:srgbClr val="123153"/>
                </a:solidFill>
                <a:latin typeface="Aptos"/>
              </a:rPr>
              <a:t>2 — COMPARER LES MODÈLES</a:t>
            </a:r>
          </a:p>
        </p:txBody>
      </p:sp>
      <p:sp>
        <p:nvSpPr>
          <p:cNvPr id="14" name="TextBox 13"/>
          <p:cNvSpPr txBox="1"/>
          <p:nvPr/>
        </p:nvSpPr>
        <p:spPr>
          <a:xfrm>
            <a:off x="4617720" y="2523744"/>
            <a:ext cx="3182112" cy="256032"/>
          </a:xfrm>
          <a:prstGeom prst="rect">
            <a:avLst/>
          </a:prstGeom>
          <a:noFill/>
        </p:spPr>
        <p:txBody>
          <a:bodyPr wrap="square">
            <a:spAutoFit/>
          </a:bodyPr>
          <a:lstStyle/>
          <a:p>
            <a:r>
              <a:rPr sz="950" b="0">
                <a:solidFill>
                  <a:srgbClr val="232D3A"/>
                </a:solidFill>
                <a:latin typeface="Aptos"/>
              </a:rPr>
              <a:t>• exécuter le notebook</a:t>
            </a:r>
          </a:p>
        </p:txBody>
      </p:sp>
      <p:sp>
        <p:nvSpPr>
          <p:cNvPr id="15" name="TextBox 14"/>
          <p:cNvSpPr txBox="1"/>
          <p:nvPr/>
        </p:nvSpPr>
        <p:spPr>
          <a:xfrm>
            <a:off x="4617720" y="2834640"/>
            <a:ext cx="3182112" cy="256032"/>
          </a:xfrm>
          <a:prstGeom prst="rect">
            <a:avLst/>
          </a:prstGeom>
          <a:noFill/>
        </p:spPr>
        <p:txBody>
          <a:bodyPr wrap="square">
            <a:spAutoFit/>
          </a:bodyPr>
          <a:lstStyle/>
          <a:p>
            <a:r>
              <a:rPr sz="950" b="0">
                <a:solidFill>
                  <a:srgbClr val="232D3A"/>
                </a:solidFill>
                <a:latin typeface="Aptos"/>
              </a:rPr>
              <a:t>• comparer MSE / RMSE / R²</a:t>
            </a:r>
          </a:p>
        </p:txBody>
      </p:sp>
      <p:sp>
        <p:nvSpPr>
          <p:cNvPr id="16" name="TextBox 15"/>
          <p:cNvSpPr txBox="1"/>
          <p:nvPr/>
        </p:nvSpPr>
        <p:spPr>
          <a:xfrm>
            <a:off x="4617720" y="3145536"/>
            <a:ext cx="3182112" cy="256032"/>
          </a:xfrm>
          <a:prstGeom prst="rect">
            <a:avLst/>
          </a:prstGeom>
          <a:noFill/>
        </p:spPr>
        <p:txBody>
          <a:bodyPr wrap="square">
            <a:spAutoFit/>
          </a:bodyPr>
          <a:lstStyle/>
          <a:p>
            <a:r>
              <a:rPr sz="950" b="0">
                <a:solidFill>
                  <a:srgbClr val="232D3A"/>
                </a:solidFill>
                <a:latin typeface="Aptos"/>
              </a:rPr>
              <a:t>• repérer le modèle qui généralise le mieux</a:t>
            </a:r>
          </a:p>
        </p:txBody>
      </p:sp>
      <p:sp>
        <p:nvSpPr>
          <p:cNvPr id="17" name="Rounded Rectangle 16"/>
          <p:cNvSpPr/>
          <p:nvPr/>
        </p:nvSpPr>
        <p:spPr>
          <a:xfrm>
            <a:off x="827532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1920240"/>
            <a:ext cx="356616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9912" y="2084832"/>
            <a:ext cx="3246120" cy="256032"/>
          </a:xfrm>
          <a:prstGeom prst="rect">
            <a:avLst/>
          </a:prstGeom>
          <a:noFill/>
        </p:spPr>
        <p:txBody>
          <a:bodyPr wrap="square">
            <a:spAutoFit/>
          </a:bodyPr>
          <a:lstStyle/>
          <a:p>
            <a:r>
              <a:rPr sz="1150" b="1">
                <a:solidFill>
                  <a:srgbClr val="123153"/>
                </a:solidFill>
                <a:latin typeface="Aptos"/>
              </a:rPr>
              <a:t>3 — ANALYSER LES RÉSULTATS</a:t>
            </a:r>
          </a:p>
        </p:txBody>
      </p:sp>
      <p:sp>
        <p:nvSpPr>
          <p:cNvPr id="20" name="TextBox 19"/>
          <p:cNvSpPr txBox="1"/>
          <p:nvPr/>
        </p:nvSpPr>
        <p:spPr>
          <a:xfrm>
            <a:off x="8458200" y="2523744"/>
            <a:ext cx="3182112" cy="256032"/>
          </a:xfrm>
          <a:prstGeom prst="rect">
            <a:avLst/>
          </a:prstGeom>
          <a:noFill/>
        </p:spPr>
        <p:txBody>
          <a:bodyPr wrap="square">
            <a:spAutoFit/>
          </a:bodyPr>
          <a:lstStyle/>
          <a:p>
            <a:r>
              <a:rPr sz="950" b="0">
                <a:solidFill>
                  <a:srgbClr val="232D3A"/>
                </a:solidFill>
                <a:latin typeface="Aptos"/>
              </a:rPr>
              <a:t>• tableau comparatif des scores</a:t>
            </a:r>
          </a:p>
        </p:txBody>
      </p:sp>
      <p:sp>
        <p:nvSpPr>
          <p:cNvPr id="21" name="TextBox 20"/>
          <p:cNvSpPr txBox="1"/>
          <p:nvPr/>
        </p:nvSpPr>
        <p:spPr>
          <a:xfrm>
            <a:off x="8458200" y="2834640"/>
            <a:ext cx="3182112" cy="256032"/>
          </a:xfrm>
          <a:prstGeom prst="rect">
            <a:avLst/>
          </a:prstGeom>
          <a:noFill/>
        </p:spPr>
        <p:txBody>
          <a:bodyPr wrap="square">
            <a:spAutoFit/>
          </a:bodyPr>
          <a:lstStyle/>
          <a:p>
            <a:r>
              <a:rPr sz="950" b="0">
                <a:solidFill>
                  <a:srgbClr val="232D3A"/>
                </a:solidFill>
                <a:latin typeface="Aptos"/>
              </a:rPr>
              <a:t>• graphique y réel vs y prédit</a:t>
            </a:r>
          </a:p>
        </p:txBody>
      </p:sp>
      <p:sp>
        <p:nvSpPr>
          <p:cNvPr id="22" name="TextBox 21"/>
          <p:cNvSpPr txBox="1"/>
          <p:nvPr/>
        </p:nvSpPr>
        <p:spPr>
          <a:xfrm>
            <a:off x="8458200" y="3145536"/>
            <a:ext cx="3182112" cy="256032"/>
          </a:xfrm>
          <a:prstGeom prst="rect">
            <a:avLst/>
          </a:prstGeom>
          <a:noFill/>
        </p:spPr>
        <p:txBody>
          <a:bodyPr wrap="square">
            <a:spAutoFit/>
          </a:bodyPr>
          <a:lstStyle/>
          <a:p>
            <a:r>
              <a:rPr sz="950" b="0">
                <a:solidFill>
                  <a:srgbClr val="232D3A"/>
                </a:solidFill>
                <a:latin typeface="Aptos"/>
              </a:rPr>
              <a:t>• conclusion courte et justifiée</a:t>
            </a:r>
          </a:p>
        </p:txBody>
      </p:sp>
      <p:sp>
        <p:nvSpPr>
          <p:cNvPr id="23" name="Rounded Rectangle 22"/>
          <p:cNvSpPr/>
          <p:nvPr/>
        </p:nvSpPr>
        <p:spPr>
          <a:xfrm>
            <a:off x="685800" y="5486400"/>
            <a:ext cx="10789920" cy="475488"/>
          </a:xfrm>
          <a:prstGeom prst="roundRect">
            <a:avLst/>
          </a:prstGeom>
          <a:solidFill>
            <a:srgbClr val="FFF6CC"/>
          </a:solidFill>
          <a:ln>
            <a:solidFill>
              <a:srgbClr val="FFF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605272"/>
            <a:ext cx="10424160" cy="228600"/>
          </a:xfrm>
          <a:prstGeom prst="rect">
            <a:avLst/>
          </a:prstGeom>
          <a:noFill/>
        </p:spPr>
        <p:txBody>
          <a:bodyPr wrap="square">
            <a:spAutoFit/>
          </a:bodyPr>
          <a:lstStyle/>
          <a:p>
            <a:r>
              <a:rPr sz="980" b="1">
                <a:solidFill>
                  <a:srgbClr val="232D3A"/>
                </a:solidFill>
                <a:latin typeface="Aptos"/>
              </a:rPr>
              <a:t>À la fin : comparer les modèles sur les mêmes données et justifier le choix à partir des métriques.</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TP RÉGRESSION</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TP 1 — Prédire une valeur numérique</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À partir de la base du Jour 1, construire et comparer plusieurs modèles de régression.</a:t>
            </a:r>
          </a:p>
        </p:txBody>
      </p:sp>
      <p:sp>
        <p:nvSpPr>
          <p:cNvPr id="5" name="Rounded Rectangle 4"/>
          <p:cNvSpPr/>
          <p:nvPr/>
        </p:nvSpPr>
        <p:spPr>
          <a:xfrm>
            <a:off x="5029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719072"/>
            <a:ext cx="3291840" cy="256032"/>
          </a:xfrm>
          <a:prstGeom prst="rect">
            <a:avLst/>
          </a:prstGeom>
          <a:noFill/>
        </p:spPr>
        <p:txBody>
          <a:bodyPr wrap="square">
            <a:spAutoFit/>
          </a:bodyPr>
          <a:lstStyle/>
          <a:p>
            <a:pPr algn="l"/>
            <a:r>
              <a:rPr sz="1150" b="1">
                <a:solidFill>
                  <a:srgbClr val="123153"/>
                </a:solidFill>
                <a:latin typeface="Aptos"/>
              </a:rPr>
              <a:t>Modèles</a:t>
            </a:r>
          </a:p>
        </p:txBody>
      </p:sp>
      <p:sp>
        <p:nvSpPr>
          <p:cNvPr id="8" name="TextBox 7"/>
          <p:cNvSpPr txBox="1"/>
          <p:nvPr/>
        </p:nvSpPr>
        <p:spPr>
          <a:xfrm>
            <a:off x="685800" y="2157984"/>
            <a:ext cx="3227832" cy="256032"/>
          </a:xfrm>
          <a:prstGeom prst="rect">
            <a:avLst/>
          </a:prstGeom>
          <a:noFill/>
        </p:spPr>
        <p:txBody>
          <a:bodyPr wrap="square">
            <a:spAutoFit/>
          </a:bodyPr>
          <a:lstStyle/>
          <a:p>
            <a:pPr algn="l"/>
            <a:r>
              <a:rPr sz="950" b="0">
                <a:solidFill>
                  <a:srgbClr val="232D3A"/>
                </a:solidFill>
                <a:latin typeface="Aptos"/>
              </a:rPr>
              <a:t>• baseline moyenne</a:t>
            </a:r>
          </a:p>
        </p:txBody>
      </p:sp>
      <p:sp>
        <p:nvSpPr>
          <p:cNvPr id="9" name="TextBox 8"/>
          <p:cNvSpPr txBox="1"/>
          <p:nvPr/>
        </p:nvSpPr>
        <p:spPr>
          <a:xfrm>
            <a:off x="685800" y="2468879"/>
            <a:ext cx="3227832" cy="256032"/>
          </a:xfrm>
          <a:prstGeom prst="rect">
            <a:avLst/>
          </a:prstGeom>
          <a:noFill/>
        </p:spPr>
        <p:txBody>
          <a:bodyPr wrap="square">
            <a:spAutoFit/>
          </a:bodyPr>
          <a:lstStyle/>
          <a:p>
            <a:pPr algn="l"/>
            <a:r>
              <a:rPr sz="950" b="0">
                <a:solidFill>
                  <a:srgbClr val="232D3A"/>
                </a:solidFill>
                <a:latin typeface="Aptos"/>
              </a:rPr>
              <a:t>• régression linéaire</a:t>
            </a:r>
          </a:p>
        </p:txBody>
      </p:sp>
      <p:sp>
        <p:nvSpPr>
          <p:cNvPr id="10" name="TextBox 9"/>
          <p:cNvSpPr txBox="1"/>
          <p:nvPr/>
        </p:nvSpPr>
        <p:spPr>
          <a:xfrm>
            <a:off x="685800" y="2779775"/>
            <a:ext cx="3227832" cy="256032"/>
          </a:xfrm>
          <a:prstGeom prst="rect">
            <a:avLst/>
          </a:prstGeom>
          <a:noFill/>
        </p:spPr>
        <p:txBody>
          <a:bodyPr wrap="square">
            <a:spAutoFit/>
          </a:bodyPr>
          <a:lstStyle/>
          <a:p>
            <a:pPr algn="l"/>
            <a:r>
              <a:rPr sz="950" b="0">
                <a:solidFill>
                  <a:srgbClr val="232D3A"/>
                </a:solidFill>
                <a:latin typeface="Aptos"/>
              </a:rPr>
              <a:t>• polynomiale</a:t>
            </a:r>
          </a:p>
        </p:txBody>
      </p:sp>
      <p:sp>
        <p:nvSpPr>
          <p:cNvPr id="11" name="TextBox 10"/>
          <p:cNvSpPr txBox="1"/>
          <p:nvPr/>
        </p:nvSpPr>
        <p:spPr>
          <a:xfrm>
            <a:off x="685800" y="3090671"/>
            <a:ext cx="3227832" cy="256032"/>
          </a:xfrm>
          <a:prstGeom prst="rect">
            <a:avLst/>
          </a:prstGeom>
          <a:noFill/>
        </p:spPr>
        <p:txBody>
          <a:bodyPr wrap="square">
            <a:spAutoFit/>
          </a:bodyPr>
          <a:lstStyle/>
          <a:p>
            <a:pPr algn="l"/>
            <a:r>
              <a:rPr sz="950" b="0">
                <a:solidFill>
                  <a:srgbClr val="232D3A"/>
                </a:solidFill>
                <a:latin typeface="Aptos"/>
              </a:rPr>
              <a:t>• Ridge / Lasso</a:t>
            </a:r>
          </a:p>
        </p:txBody>
      </p:sp>
      <p:sp>
        <p:nvSpPr>
          <p:cNvPr id="12" name="Rounded Rectangle 11"/>
          <p:cNvSpPr/>
          <p:nvPr/>
        </p:nvSpPr>
        <p:spPr>
          <a:xfrm>
            <a:off x="43891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5544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1719072"/>
            <a:ext cx="3291840" cy="256032"/>
          </a:xfrm>
          <a:prstGeom prst="rect">
            <a:avLst/>
          </a:prstGeom>
          <a:noFill/>
        </p:spPr>
        <p:txBody>
          <a:bodyPr wrap="square">
            <a:spAutoFit/>
          </a:bodyPr>
          <a:lstStyle/>
          <a:p>
            <a:pPr algn="l"/>
            <a:r>
              <a:rPr sz="1150" b="1">
                <a:solidFill>
                  <a:srgbClr val="123153"/>
                </a:solidFill>
                <a:latin typeface="Aptos"/>
              </a:rPr>
              <a:t>Métriques</a:t>
            </a:r>
          </a:p>
        </p:txBody>
      </p:sp>
      <p:sp>
        <p:nvSpPr>
          <p:cNvPr id="15" name="TextBox 14"/>
          <p:cNvSpPr txBox="1"/>
          <p:nvPr/>
        </p:nvSpPr>
        <p:spPr>
          <a:xfrm>
            <a:off x="4572000" y="2157984"/>
            <a:ext cx="3227832" cy="256032"/>
          </a:xfrm>
          <a:prstGeom prst="rect">
            <a:avLst/>
          </a:prstGeom>
          <a:noFill/>
        </p:spPr>
        <p:txBody>
          <a:bodyPr wrap="square">
            <a:spAutoFit/>
          </a:bodyPr>
          <a:lstStyle/>
          <a:p>
            <a:pPr algn="l"/>
            <a:r>
              <a:rPr sz="950" b="0">
                <a:solidFill>
                  <a:srgbClr val="232D3A"/>
                </a:solidFill>
                <a:latin typeface="Aptos"/>
              </a:rPr>
              <a:t>• MSE</a:t>
            </a:r>
          </a:p>
        </p:txBody>
      </p:sp>
      <p:sp>
        <p:nvSpPr>
          <p:cNvPr id="16" name="TextBox 15"/>
          <p:cNvSpPr txBox="1"/>
          <p:nvPr/>
        </p:nvSpPr>
        <p:spPr>
          <a:xfrm>
            <a:off x="4572000" y="2468879"/>
            <a:ext cx="3227832" cy="256032"/>
          </a:xfrm>
          <a:prstGeom prst="rect">
            <a:avLst/>
          </a:prstGeom>
          <a:noFill/>
        </p:spPr>
        <p:txBody>
          <a:bodyPr wrap="square">
            <a:spAutoFit/>
          </a:bodyPr>
          <a:lstStyle/>
          <a:p>
            <a:pPr algn="l"/>
            <a:r>
              <a:rPr sz="950" b="0">
                <a:solidFill>
                  <a:srgbClr val="232D3A"/>
                </a:solidFill>
                <a:latin typeface="Aptos"/>
              </a:rPr>
              <a:t>• RMSE</a:t>
            </a:r>
          </a:p>
        </p:txBody>
      </p:sp>
      <p:sp>
        <p:nvSpPr>
          <p:cNvPr id="17" name="TextBox 16"/>
          <p:cNvSpPr txBox="1"/>
          <p:nvPr/>
        </p:nvSpPr>
        <p:spPr>
          <a:xfrm>
            <a:off x="4572000" y="2779775"/>
            <a:ext cx="3227832" cy="256032"/>
          </a:xfrm>
          <a:prstGeom prst="rect">
            <a:avLst/>
          </a:prstGeom>
          <a:noFill/>
        </p:spPr>
        <p:txBody>
          <a:bodyPr wrap="square">
            <a:spAutoFit/>
          </a:bodyPr>
          <a:lstStyle/>
          <a:p>
            <a:pPr algn="l"/>
            <a:r>
              <a:rPr sz="950" b="0">
                <a:solidFill>
                  <a:srgbClr val="232D3A"/>
                </a:solidFill>
                <a:latin typeface="Aptos"/>
              </a:rPr>
              <a:t>• R²</a:t>
            </a:r>
          </a:p>
        </p:txBody>
      </p:sp>
      <p:sp>
        <p:nvSpPr>
          <p:cNvPr id="18" name="TextBox 17"/>
          <p:cNvSpPr txBox="1"/>
          <p:nvPr/>
        </p:nvSpPr>
        <p:spPr>
          <a:xfrm>
            <a:off x="4572000" y="3090671"/>
            <a:ext cx="3227832" cy="256032"/>
          </a:xfrm>
          <a:prstGeom prst="rect">
            <a:avLst/>
          </a:prstGeom>
          <a:noFill/>
        </p:spPr>
        <p:txBody>
          <a:bodyPr wrap="square">
            <a:spAutoFit/>
          </a:bodyPr>
          <a:lstStyle/>
          <a:p>
            <a:pPr algn="l"/>
            <a:r>
              <a:rPr sz="950" b="0">
                <a:solidFill>
                  <a:srgbClr val="232D3A"/>
                </a:solidFill>
                <a:latin typeface="Aptos"/>
              </a:rPr>
              <a:t>• lecture des résidus</a:t>
            </a:r>
          </a:p>
        </p:txBody>
      </p:sp>
      <p:sp>
        <p:nvSpPr>
          <p:cNvPr id="19" name="Rounded Rectangle 18"/>
          <p:cNvSpPr/>
          <p:nvPr/>
        </p:nvSpPr>
        <p:spPr>
          <a:xfrm>
            <a:off x="82753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75320" y="15544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9912" y="1719072"/>
            <a:ext cx="3291840" cy="256032"/>
          </a:xfrm>
          <a:prstGeom prst="rect">
            <a:avLst/>
          </a:prstGeom>
          <a:noFill/>
        </p:spPr>
        <p:txBody>
          <a:bodyPr wrap="square">
            <a:spAutoFit/>
          </a:bodyPr>
          <a:lstStyle/>
          <a:p>
            <a:pPr algn="l"/>
            <a:r>
              <a:rPr sz="1150" b="1">
                <a:solidFill>
                  <a:srgbClr val="123153"/>
                </a:solidFill>
                <a:latin typeface="Aptos"/>
              </a:rPr>
              <a:t>Livrable</a:t>
            </a:r>
          </a:p>
        </p:txBody>
      </p:sp>
      <p:sp>
        <p:nvSpPr>
          <p:cNvPr id="22" name="TextBox 21"/>
          <p:cNvSpPr txBox="1"/>
          <p:nvPr/>
        </p:nvSpPr>
        <p:spPr>
          <a:xfrm>
            <a:off x="8458200" y="2157984"/>
            <a:ext cx="3227832" cy="256032"/>
          </a:xfrm>
          <a:prstGeom prst="rect">
            <a:avLst/>
          </a:prstGeom>
          <a:noFill/>
        </p:spPr>
        <p:txBody>
          <a:bodyPr wrap="square">
            <a:spAutoFit/>
          </a:bodyPr>
          <a:lstStyle/>
          <a:p>
            <a:pPr algn="l"/>
            <a:r>
              <a:rPr sz="950" b="0">
                <a:solidFill>
                  <a:srgbClr val="232D3A"/>
                </a:solidFill>
                <a:latin typeface="Aptos"/>
              </a:rPr>
              <a:t>• notebook exécuté</a:t>
            </a:r>
          </a:p>
        </p:txBody>
      </p:sp>
      <p:sp>
        <p:nvSpPr>
          <p:cNvPr id="23" name="TextBox 22"/>
          <p:cNvSpPr txBox="1"/>
          <p:nvPr/>
        </p:nvSpPr>
        <p:spPr>
          <a:xfrm>
            <a:off x="8458200" y="2468879"/>
            <a:ext cx="3227832" cy="256032"/>
          </a:xfrm>
          <a:prstGeom prst="rect">
            <a:avLst/>
          </a:prstGeom>
          <a:noFill/>
        </p:spPr>
        <p:txBody>
          <a:bodyPr wrap="square">
            <a:spAutoFit/>
          </a:bodyPr>
          <a:lstStyle/>
          <a:p>
            <a:pPr algn="l"/>
            <a:r>
              <a:rPr sz="950" b="0">
                <a:solidFill>
                  <a:srgbClr val="232D3A"/>
                </a:solidFill>
                <a:latin typeface="Aptos"/>
              </a:rPr>
              <a:t>• tableau comparatif</a:t>
            </a:r>
          </a:p>
        </p:txBody>
      </p:sp>
      <p:sp>
        <p:nvSpPr>
          <p:cNvPr id="24" name="TextBox 23"/>
          <p:cNvSpPr txBox="1"/>
          <p:nvPr/>
        </p:nvSpPr>
        <p:spPr>
          <a:xfrm>
            <a:off x="8458200" y="2779775"/>
            <a:ext cx="3227832" cy="256032"/>
          </a:xfrm>
          <a:prstGeom prst="rect">
            <a:avLst/>
          </a:prstGeom>
          <a:noFill/>
        </p:spPr>
        <p:txBody>
          <a:bodyPr wrap="square">
            <a:spAutoFit/>
          </a:bodyPr>
          <a:lstStyle/>
          <a:p>
            <a:pPr algn="l"/>
            <a:r>
              <a:rPr sz="950" b="0">
                <a:solidFill>
                  <a:srgbClr val="232D3A"/>
                </a:solidFill>
                <a:latin typeface="Aptos"/>
              </a:rPr>
              <a:t>• choix justifié</a:t>
            </a:r>
          </a:p>
        </p:txBody>
      </p:sp>
      <p:sp>
        <p:nvSpPr>
          <p:cNvPr id="25" name="TextBox 24"/>
          <p:cNvSpPr txBox="1"/>
          <p:nvPr/>
        </p:nvSpPr>
        <p:spPr>
          <a:xfrm>
            <a:off x="8458200" y="3090671"/>
            <a:ext cx="3227832" cy="256032"/>
          </a:xfrm>
          <a:prstGeom prst="rect">
            <a:avLst/>
          </a:prstGeom>
          <a:noFill/>
        </p:spPr>
        <p:txBody>
          <a:bodyPr wrap="square">
            <a:spAutoFit/>
          </a:bodyPr>
          <a:lstStyle/>
          <a:p>
            <a:pPr algn="l"/>
            <a:r>
              <a:rPr sz="950" b="0">
                <a:solidFill>
                  <a:srgbClr val="232D3A"/>
                </a:solidFill>
                <a:latin typeface="Aptos"/>
              </a:rPr>
              <a:t>• 2 limites</a:t>
            </a:r>
          </a:p>
        </p:txBody>
      </p:sp>
      <p:sp>
        <p:nvSpPr>
          <p:cNvPr id="26" name="Rectangle 25"/>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594360"/>
            <a:ext cx="11155680" cy="5349240"/>
          </a:xfrm>
          <a:prstGeom prst="round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60120" y="1325880"/>
            <a:ext cx="10241280" cy="320040"/>
          </a:xfrm>
          <a:prstGeom prst="rect">
            <a:avLst/>
          </a:prstGeom>
          <a:noFill/>
        </p:spPr>
        <p:txBody>
          <a:bodyPr wrap="square">
            <a:spAutoFit/>
          </a:bodyPr>
          <a:lstStyle/>
          <a:p>
            <a:pPr algn="ctr"/>
            <a:r>
              <a:rPr sz="1300" b="1">
                <a:solidFill>
                  <a:srgbClr val="FFFFFF"/>
                </a:solidFill>
                <a:latin typeface="Aptos"/>
              </a:rPr>
              <a:t>JOUR 2</a:t>
            </a:r>
          </a:p>
        </p:txBody>
      </p:sp>
      <p:sp>
        <p:nvSpPr>
          <p:cNvPr id="4" name="TextBox 3"/>
          <p:cNvSpPr txBox="1"/>
          <p:nvPr/>
        </p:nvSpPr>
        <p:spPr>
          <a:xfrm>
            <a:off x="960120" y="2057400"/>
            <a:ext cx="10241280" cy="731520"/>
          </a:xfrm>
          <a:prstGeom prst="rect">
            <a:avLst/>
          </a:prstGeom>
          <a:noFill/>
        </p:spPr>
        <p:txBody>
          <a:bodyPr wrap="square">
            <a:spAutoFit/>
          </a:bodyPr>
          <a:lstStyle/>
          <a:p>
            <a:pPr algn="ctr"/>
            <a:r>
              <a:rPr sz="3200" b="1">
                <a:solidFill>
                  <a:srgbClr val="FFFFFF"/>
                </a:solidFill>
                <a:latin typeface="Aptos"/>
              </a:rPr>
              <a:t>BLOC 2 — APPRENTISSAGE SUPERVISÉ : CLASSIFICATION</a:t>
            </a:r>
          </a:p>
        </p:txBody>
      </p:sp>
      <p:sp>
        <p:nvSpPr>
          <p:cNvPr id="5" name="TextBox 4"/>
          <p:cNvSpPr txBox="1"/>
          <p:nvPr/>
        </p:nvSpPr>
        <p:spPr>
          <a:xfrm>
            <a:off x="960120" y="3063240"/>
            <a:ext cx="10241280" cy="438912"/>
          </a:xfrm>
          <a:prstGeom prst="rect">
            <a:avLst/>
          </a:prstGeom>
          <a:noFill/>
        </p:spPr>
        <p:txBody>
          <a:bodyPr wrap="square">
            <a:spAutoFit/>
          </a:bodyPr>
          <a:lstStyle/>
          <a:p>
            <a:pPr algn="ctr"/>
            <a:r>
              <a:rPr sz="1600" b="0">
                <a:solidFill>
                  <a:srgbClr val="FFFFFF"/>
                </a:solidFill>
                <a:latin typeface="Aptos"/>
              </a:rPr>
              <a:t>Objectif : prédire une classe, lire les erreurs et choisir la métrique adaptée.</a:t>
            </a:r>
          </a:p>
        </p:txBody>
      </p:sp>
      <p:sp>
        <p:nvSpPr>
          <p:cNvPr id="6" name="TextBox 5"/>
          <p:cNvSpPr txBox="1"/>
          <p:nvPr/>
        </p:nvSpPr>
        <p:spPr>
          <a:xfrm>
            <a:off x="960120" y="4846320"/>
            <a:ext cx="10241280" cy="228600"/>
          </a:xfrm>
          <a:prstGeom prst="rect">
            <a:avLst/>
          </a:prstGeom>
          <a:noFill/>
        </p:spPr>
        <p:txBody>
          <a:bodyPr wrap="square">
            <a:spAutoFit/>
          </a:bodyPr>
          <a:lstStyle/>
          <a:p>
            <a:pPr algn="ctr"/>
            <a:r>
              <a:rPr sz="1200" b="1">
                <a:solidFill>
                  <a:srgbClr val="FFFFFF"/>
                </a:solidFill>
                <a:latin typeface="Aptos"/>
              </a:rPr>
              <a:t>6 h TP — mise en œuvre avec scikit-learn sur un jeu de données réel préparé au Jour 1</a:t>
            </a:r>
          </a:p>
        </p:txBody>
      </p:sp>
      <p:sp>
        <p:nvSpPr>
          <p:cNvPr id="7" name="Rectangle 6"/>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60.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CLASSIFICATION</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Régression logistique — score, probabilité, décision</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Comprendre l’idée mathématique avant d’utiliser scikit-learn.</a:t>
            </a:r>
          </a:p>
        </p:txBody>
      </p:sp>
      <p:sp>
        <p:nvSpPr>
          <p:cNvPr id="5" name="Rounded Rectangle 4"/>
          <p:cNvSpPr/>
          <p:nvPr/>
        </p:nvSpPr>
        <p:spPr>
          <a:xfrm>
            <a:off x="777240" y="1783080"/>
            <a:ext cx="10652760" cy="960120"/>
          </a:xfrm>
          <a:prstGeom prst="roundRect">
            <a:avLst/>
          </a:prstGeom>
          <a:solidFill>
            <a:srgbClr val="123153"/>
          </a:solidFill>
          <a:ln>
            <a:solidFill>
              <a:srgbClr val="1231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057400"/>
            <a:ext cx="10287000" cy="365760"/>
          </a:xfrm>
          <a:prstGeom prst="rect">
            <a:avLst/>
          </a:prstGeom>
          <a:noFill/>
        </p:spPr>
        <p:txBody>
          <a:bodyPr wrap="square">
            <a:spAutoFit/>
          </a:bodyPr>
          <a:lstStyle/>
          <a:p>
            <a:pPr algn="ctr"/>
            <a:r>
              <a:rPr sz="2000" b="1">
                <a:solidFill>
                  <a:srgbClr val="FFFFFF"/>
                </a:solidFill>
                <a:latin typeface="Aptos"/>
              </a:rPr>
              <a:t>z = β₀ + βX      puis      P(y=1|X) = 1 / (1 + e⁻ᶻ)</a:t>
            </a:r>
          </a:p>
        </p:txBody>
      </p:sp>
      <p:sp>
        <p:nvSpPr>
          <p:cNvPr id="7" name="Rounded Rectangle 6"/>
          <p:cNvSpPr/>
          <p:nvPr/>
        </p:nvSpPr>
        <p:spPr>
          <a:xfrm>
            <a:off x="5029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31546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3319272"/>
            <a:ext cx="3291840" cy="256032"/>
          </a:xfrm>
          <a:prstGeom prst="rect">
            <a:avLst/>
          </a:prstGeom>
          <a:noFill/>
        </p:spPr>
        <p:txBody>
          <a:bodyPr wrap="square">
            <a:spAutoFit/>
          </a:bodyPr>
          <a:lstStyle/>
          <a:p>
            <a:pPr algn="l"/>
            <a:r>
              <a:rPr sz="1150" b="1">
                <a:solidFill>
                  <a:srgbClr val="123153"/>
                </a:solidFill>
                <a:latin typeface="Aptos"/>
              </a:rPr>
              <a:t>Score z</a:t>
            </a:r>
          </a:p>
        </p:txBody>
      </p:sp>
      <p:sp>
        <p:nvSpPr>
          <p:cNvPr id="10" name="TextBox 9"/>
          <p:cNvSpPr txBox="1"/>
          <p:nvPr/>
        </p:nvSpPr>
        <p:spPr>
          <a:xfrm>
            <a:off x="685800" y="3758184"/>
            <a:ext cx="3227832" cy="256032"/>
          </a:xfrm>
          <a:prstGeom prst="rect">
            <a:avLst/>
          </a:prstGeom>
          <a:noFill/>
        </p:spPr>
        <p:txBody>
          <a:bodyPr wrap="square">
            <a:spAutoFit/>
          </a:bodyPr>
          <a:lstStyle/>
          <a:p>
            <a:pPr algn="l"/>
            <a:r>
              <a:rPr sz="950" b="0">
                <a:solidFill>
                  <a:srgbClr val="232D3A"/>
                </a:solidFill>
                <a:latin typeface="Aptos"/>
              </a:rPr>
              <a:t>• combinaison linéaire des variables</a:t>
            </a:r>
          </a:p>
        </p:txBody>
      </p:sp>
      <p:sp>
        <p:nvSpPr>
          <p:cNvPr id="11" name="TextBox 10"/>
          <p:cNvSpPr txBox="1"/>
          <p:nvPr/>
        </p:nvSpPr>
        <p:spPr>
          <a:xfrm>
            <a:off x="685800" y="4069080"/>
            <a:ext cx="3227832" cy="256032"/>
          </a:xfrm>
          <a:prstGeom prst="rect">
            <a:avLst/>
          </a:prstGeom>
          <a:noFill/>
        </p:spPr>
        <p:txBody>
          <a:bodyPr wrap="square">
            <a:spAutoFit/>
          </a:bodyPr>
          <a:lstStyle/>
          <a:p>
            <a:pPr algn="l"/>
            <a:r>
              <a:rPr sz="950" b="0">
                <a:solidFill>
                  <a:srgbClr val="232D3A"/>
                </a:solidFill>
                <a:latin typeface="Aptos"/>
              </a:rPr>
              <a:t>• les coefficients influencent le score</a:t>
            </a:r>
          </a:p>
        </p:txBody>
      </p:sp>
      <p:sp>
        <p:nvSpPr>
          <p:cNvPr id="12" name="TextBox 11"/>
          <p:cNvSpPr txBox="1"/>
          <p:nvPr/>
        </p:nvSpPr>
        <p:spPr>
          <a:xfrm>
            <a:off x="685800" y="4379976"/>
            <a:ext cx="3227832" cy="256032"/>
          </a:xfrm>
          <a:prstGeom prst="rect">
            <a:avLst/>
          </a:prstGeom>
          <a:noFill/>
        </p:spPr>
        <p:txBody>
          <a:bodyPr wrap="square">
            <a:spAutoFit/>
          </a:bodyPr>
          <a:lstStyle/>
          <a:p>
            <a:pPr algn="l"/>
            <a:r>
              <a:rPr sz="950" b="0">
                <a:solidFill>
                  <a:srgbClr val="232D3A"/>
                </a:solidFill>
                <a:latin typeface="Aptos"/>
              </a:rPr>
              <a:t>• z peut être négatif ou positif</a:t>
            </a:r>
          </a:p>
        </p:txBody>
      </p:sp>
      <p:sp>
        <p:nvSpPr>
          <p:cNvPr id="13" name="Rounded Rectangle 12"/>
          <p:cNvSpPr/>
          <p:nvPr/>
        </p:nvSpPr>
        <p:spPr>
          <a:xfrm>
            <a:off x="43891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31546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3712" y="3319272"/>
            <a:ext cx="3291840" cy="256032"/>
          </a:xfrm>
          <a:prstGeom prst="rect">
            <a:avLst/>
          </a:prstGeom>
          <a:noFill/>
        </p:spPr>
        <p:txBody>
          <a:bodyPr wrap="square">
            <a:spAutoFit/>
          </a:bodyPr>
          <a:lstStyle/>
          <a:p>
            <a:pPr algn="l"/>
            <a:r>
              <a:rPr sz="1150" b="1">
                <a:solidFill>
                  <a:srgbClr val="123153"/>
                </a:solidFill>
                <a:latin typeface="Aptos"/>
              </a:rPr>
              <a:t>Probabilité</a:t>
            </a:r>
          </a:p>
        </p:txBody>
      </p:sp>
      <p:sp>
        <p:nvSpPr>
          <p:cNvPr id="16" name="TextBox 15"/>
          <p:cNvSpPr txBox="1"/>
          <p:nvPr/>
        </p:nvSpPr>
        <p:spPr>
          <a:xfrm>
            <a:off x="4572000" y="3758184"/>
            <a:ext cx="3227832" cy="256032"/>
          </a:xfrm>
          <a:prstGeom prst="rect">
            <a:avLst/>
          </a:prstGeom>
          <a:noFill/>
        </p:spPr>
        <p:txBody>
          <a:bodyPr wrap="square">
            <a:spAutoFit/>
          </a:bodyPr>
          <a:lstStyle/>
          <a:p>
            <a:pPr algn="l"/>
            <a:r>
              <a:rPr sz="950" b="0">
                <a:solidFill>
                  <a:srgbClr val="232D3A"/>
                </a:solidFill>
                <a:latin typeface="Aptos"/>
              </a:rPr>
              <a:t>• sigmoïde entre 0 et 1</a:t>
            </a:r>
          </a:p>
        </p:txBody>
      </p:sp>
      <p:sp>
        <p:nvSpPr>
          <p:cNvPr id="17" name="TextBox 16"/>
          <p:cNvSpPr txBox="1"/>
          <p:nvPr/>
        </p:nvSpPr>
        <p:spPr>
          <a:xfrm>
            <a:off x="4572000" y="4069080"/>
            <a:ext cx="3227832" cy="256032"/>
          </a:xfrm>
          <a:prstGeom prst="rect">
            <a:avLst/>
          </a:prstGeom>
          <a:noFill/>
        </p:spPr>
        <p:txBody>
          <a:bodyPr wrap="square">
            <a:spAutoFit/>
          </a:bodyPr>
          <a:lstStyle/>
          <a:p>
            <a:pPr algn="l"/>
            <a:r>
              <a:rPr sz="950" b="0">
                <a:solidFill>
                  <a:srgbClr val="232D3A"/>
                </a:solidFill>
                <a:latin typeface="Aptos"/>
              </a:rPr>
              <a:t>• probabilité estimée</a:t>
            </a:r>
          </a:p>
        </p:txBody>
      </p:sp>
      <p:sp>
        <p:nvSpPr>
          <p:cNvPr id="18" name="TextBox 17"/>
          <p:cNvSpPr txBox="1"/>
          <p:nvPr/>
        </p:nvSpPr>
        <p:spPr>
          <a:xfrm>
            <a:off x="4572000" y="4379976"/>
            <a:ext cx="3227832" cy="256032"/>
          </a:xfrm>
          <a:prstGeom prst="rect">
            <a:avLst/>
          </a:prstGeom>
          <a:noFill/>
        </p:spPr>
        <p:txBody>
          <a:bodyPr wrap="square">
            <a:spAutoFit/>
          </a:bodyPr>
          <a:lstStyle/>
          <a:p>
            <a:pPr algn="l"/>
            <a:r>
              <a:rPr sz="950" b="0">
                <a:solidFill>
                  <a:srgbClr val="232D3A"/>
                </a:solidFill>
                <a:latin typeface="Aptos"/>
              </a:rPr>
              <a:t>• pas encore une décision métier</a:t>
            </a:r>
          </a:p>
        </p:txBody>
      </p:sp>
      <p:sp>
        <p:nvSpPr>
          <p:cNvPr id="19" name="Rounded Rectangle 18"/>
          <p:cNvSpPr/>
          <p:nvPr/>
        </p:nvSpPr>
        <p:spPr>
          <a:xfrm>
            <a:off x="82753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75320" y="31546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9912" y="3319272"/>
            <a:ext cx="3291840" cy="256032"/>
          </a:xfrm>
          <a:prstGeom prst="rect">
            <a:avLst/>
          </a:prstGeom>
          <a:noFill/>
        </p:spPr>
        <p:txBody>
          <a:bodyPr wrap="square">
            <a:spAutoFit/>
          </a:bodyPr>
          <a:lstStyle/>
          <a:p>
            <a:pPr algn="l"/>
            <a:r>
              <a:rPr sz="1150" b="1">
                <a:solidFill>
                  <a:srgbClr val="123153"/>
                </a:solidFill>
                <a:latin typeface="Aptos"/>
              </a:rPr>
              <a:t>Seuil</a:t>
            </a:r>
          </a:p>
        </p:txBody>
      </p:sp>
      <p:sp>
        <p:nvSpPr>
          <p:cNvPr id="22" name="TextBox 21"/>
          <p:cNvSpPr txBox="1"/>
          <p:nvPr/>
        </p:nvSpPr>
        <p:spPr>
          <a:xfrm>
            <a:off x="8458200" y="3758184"/>
            <a:ext cx="3227832" cy="256032"/>
          </a:xfrm>
          <a:prstGeom prst="rect">
            <a:avLst/>
          </a:prstGeom>
          <a:noFill/>
        </p:spPr>
        <p:txBody>
          <a:bodyPr wrap="square">
            <a:spAutoFit/>
          </a:bodyPr>
          <a:lstStyle/>
          <a:p>
            <a:pPr algn="l"/>
            <a:r>
              <a:rPr sz="950" b="0">
                <a:solidFill>
                  <a:srgbClr val="232D3A"/>
                </a:solidFill>
                <a:latin typeface="Aptos"/>
              </a:rPr>
              <a:t>• P ≥ seuil → classe 1</a:t>
            </a:r>
          </a:p>
        </p:txBody>
      </p:sp>
      <p:sp>
        <p:nvSpPr>
          <p:cNvPr id="23" name="TextBox 22"/>
          <p:cNvSpPr txBox="1"/>
          <p:nvPr/>
        </p:nvSpPr>
        <p:spPr>
          <a:xfrm>
            <a:off x="8458200" y="4069080"/>
            <a:ext cx="3227832" cy="256032"/>
          </a:xfrm>
          <a:prstGeom prst="rect">
            <a:avLst/>
          </a:prstGeom>
          <a:noFill/>
        </p:spPr>
        <p:txBody>
          <a:bodyPr wrap="square">
            <a:spAutoFit/>
          </a:bodyPr>
          <a:lstStyle/>
          <a:p>
            <a:pPr algn="l"/>
            <a:r>
              <a:rPr sz="950" b="0">
                <a:solidFill>
                  <a:srgbClr val="232D3A"/>
                </a:solidFill>
                <a:latin typeface="Aptos"/>
              </a:rPr>
              <a:t>• seuil modifie FP/FN</a:t>
            </a:r>
          </a:p>
        </p:txBody>
      </p:sp>
      <p:sp>
        <p:nvSpPr>
          <p:cNvPr id="24" name="TextBox 23"/>
          <p:cNvSpPr txBox="1"/>
          <p:nvPr/>
        </p:nvSpPr>
        <p:spPr>
          <a:xfrm>
            <a:off x="8458200" y="4379976"/>
            <a:ext cx="3227832" cy="256032"/>
          </a:xfrm>
          <a:prstGeom prst="rect">
            <a:avLst/>
          </a:prstGeom>
          <a:noFill/>
        </p:spPr>
        <p:txBody>
          <a:bodyPr wrap="square">
            <a:spAutoFit/>
          </a:bodyPr>
          <a:lstStyle/>
          <a:p>
            <a:pPr algn="l"/>
            <a:r>
              <a:rPr sz="950" b="0">
                <a:solidFill>
                  <a:srgbClr val="232D3A"/>
                </a:solidFill>
                <a:latin typeface="Aptos"/>
              </a:rPr>
              <a:t>• à choisir selon le coût</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K-NN</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k-NN — classifier par voisinage</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Comprendre l’idée mathématique avant d’utiliser scikit-learn.</a:t>
            </a:r>
          </a:p>
        </p:txBody>
      </p:sp>
      <p:sp>
        <p:nvSpPr>
          <p:cNvPr id="5" name="Rounded Rectangle 4"/>
          <p:cNvSpPr/>
          <p:nvPr/>
        </p:nvSpPr>
        <p:spPr>
          <a:xfrm>
            <a:off x="777240" y="1783080"/>
            <a:ext cx="10652760" cy="960120"/>
          </a:xfrm>
          <a:prstGeom prst="roundRect">
            <a:avLst/>
          </a:prstGeom>
          <a:solidFill>
            <a:srgbClr val="123153"/>
          </a:solidFill>
          <a:ln>
            <a:solidFill>
              <a:srgbClr val="1231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057400"/>
            <a:ext cx="10287000" cy="365760"/>
          </a:xfrm>
          <a:prstGeom prst="rect">
            <a:avLst/>
          </a:prstGeom>
          <a:noFill/>
        </p:spPr>
        <p:txBody>
          <a:bodyPr wrap="square">
            <a:spAutoFit/>
          </a:bodyPr>
          <a:lstStyle/>
          <a:p>
            <a:pPr algn="ctr"/>
            <a:r>
              <a:rPr sz="2000" b="1">
                <a:solidFill>
                  <a:srgbClr val="FFFFFF"/>
                </a:solidFill>
                <a:latin typeface="Aptos"/>
              </a:rPr>
              <a:t>classe(x) = vote majoritaire des k voisins les plus proches</a:t>
            </a:r>
          </a:p>
        </p:txBody>
      </p:sp>
      <p:sp>
        <p:nvSpPr>
          <p:cNvPr id="7" name="Rounded Rectangle 6"/>
          <p:cNvSpPr/>
          <p:nvPr/>
        </p:nvSpPr>
        <p:spPr>
          <a:xfrm>
            <a:off x="5029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31546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3319272"/>
            <a:ext cx="3291840" cy="256032"/>
          </a:xfrm>
          <a:prstGeom prst="rect">
            <a:avLst/>
          </a:prstGeom>
          <a:noFill/>
        </p:spPr>
        <p:txBody>
          <a:bodyPr wrap="square">
            <a:spAutoFit/>
          </a:bodyPr>
          <a:lstStyle/>
          <a:p>
            <a:pPr algn="l"/>
            <a:r>
              <a:rPr sz="1150" b="1">
                <a:solidFill>
                  <a:srgbClr val="123153"/>
                </a:solidFill>
                <a:latin typeface="Aptos"/>
              </a:rPr>
              <a:t>Principe</a:t>
            </a:r>
          </a:p>
        </p:txBody>
      </p:sp>
      <p:sp>
        <p:nvSpPr>
          <p:cNvPr id="10" name="TextBox 9"/>
          <p:cNvSpPr txBox="1"/>
          <p:nvPr/>
        </p:nvSpPr>
        <p:spPr>
          <a:xfrm>
            <a:off x="685800" y="3758184"/>
            <a:ext cx="3227832" cy="256032"/>
          </a:xfrm>
          <a:prstGeom prst="rect">
            <a:avLst/>
          </a:prstGeom>
          <a:noFill/>
        </p:spPr>
        <p:txBody>
          <a:bodyPr wrap="square">
            <a:spAutoFit/>
          </a:bodyPr>
          <a:lstStyle/>
          <a:p>
            <a:pPr algn="l"/>
            <a:r>
              <a:rPr sz="950" b="0">
                <a:solidFill>
                  <a:srgbClr val="232D3A"/>
                </a:solidFill>
                <a:latin typeface="Aptos"/>
              </a:rPr>
              <a:t>• pas de frontière imposée</a:t>
            </a:r>
          </a:p>
        </p:txBody>
      </p:sp>
      <p:sp>
        <p:nvSpPr>
          <p:cNvPr id="11" name="TextBox 10"/>
          <p:cNvSpPr txBox="1"/>
          <p:nvPr/>
        </p:nvSpPr>
        <p:spPr>
          <a:xfrm>
            <a:off x="685800" y="4069080"/>
            <a:ext cx="3227832" cy="256032"/>
          </a:xfrm>
          <a:prstGeom prst="rect">
            <a:avLst/>
          </a:prstGeom>
          <a:noFill/>
        </p:spPr>
        <p:txBody>
          <a:bodyPr wrap="square">
            <a:spAutoFit/>
          </a:bodyPr>
          <a:lstStyle/>
          <a:p>
            <a:pPr algn="l"/>
            <a:r>
              <a:rPr sz="950" b="0">
                <a:solidFill>
                  <a:srgbClr val="232D3A"/>
                </a:solidFill>
                <a:latin typeface="Aptos"/>
              </a:rPr>
              <a:t>• distance entre observations</a:t>
            </a:r>
          </a:p>
        </p:txBody>
      </p:sp>
      <p:sp>
        <p:nvSpPr>
          <p:cNvPr id="12" name="TextBox 11"/>
          <p:cNvSpPr txBox="1"/>
          <p:nvPr/>
        </p:nvSpPr>
        <p:spPr>
          <a:xfrm>
            <a:off x="685800" y="4379976"/>
            <a:ext cx="3227832" cy="256032"/>
          </a:xfrm>
          <a:prstGeom prst="rect">
            <a:avLst/>
          </a:prstGeom>
          <a:noFill/>
        </p:spPr>
        <p:txBody>
          <a:bodyPr wrap="square">
            <a:spAutoFit/>
          </a:bodyPr>
          <a:lstStyle/>
          <a:p>
            <a:pPr algn="l"/>
            <a:r>
              <a:rPr sz="950" b="0">
                <a:solidFill>
                  <a:srgbClr val="232D3A"/>
                </a:solidFill>
                <a:latin typeface="Aptos"/>
              </a:rPr>
              <a:t>• dépend fortement de l’échelle</a:t>
            </a:r>
          </a:p>
        </p:txBody>
      </p:sp>
      <p:sp>
        <p:nvSpPr>
          <p:cNvPr id="13" name="Rounded Rectangle 12"/>
          <p:cNvSpPr/>
          <p:nvPr/>
        </p:nvSpPr>
        <p:spPr>
          <a:xfrm>
            <a:off x="43891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31546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3712" y="3319272"/>
            <a:ext cx="3291840" cy="256032"/>
          </a:xfrm>
          <a:prstGeom prst="rect">
            <a:avLst/>
          </a:prstGeom>
          <a:noFill/>
        </p:spPr>
        <p:txBody>
          <a:bodyPr wrap="square">
            <a:spAutoFit/>
          </a:bodyPr>
          <a:lstStyle/>
          <a:p>
            <a:pPr algn="l"/>
            <a:r>
              <a:rPr sz="1150" b="1">
                <a:solidFill>
                  <a:srgbClr val="123153"/>
                </a:solidFill>
                <a:latin typeface="Aptos"/>
              </a:rPr>
              <a:t>Hyperparamètre k</a:t>
            </a:r>
          </a:p>
        </p:txBody>
      </p:sp>
      <p:sp>
        <p:nvSpPr>
          <p:cNvPr id="16" name="TextBox 15"/>
          <p:cNvSpPr txBox="1"/>
          <p:nvPr/>
        </p:nvSpPr>
        <p:spPr>
          <a:xfrm>
            <a:off x="4572000" y="3758184"/>
            <a:ext cx="3227832" cy="256032"/>
          </a:xfrm>
          <a:prstGeom prst="rect">
            <a:avLst/>
          </a:prstGeom>
          <a:noFill/>
        </p:spPr>
        <p:txBody>
          <a:bodyPr wrap="square">
            <a:spAutoFit/>
          </a:bodyPr>
          <a:lstStyle/>
          <a:p>
            <a:pPr algn="l"/>
            <a:r>
              <a:rPr sz="950" b="0">
                <a:solidFill>
                  <a:srgbClr val="232D3A"/>
                </a:solidFill>
                <a:latin typeface="Aptos"/>
              </a:rPr>
              <a:t>• petit k : sensible au bruit</a:t>
            </a:r>
          </a:p>
        </p:txBody>
      </p:sp>
      <p:sp>
        <p:nvSpPr>
          <p:cNvPr id="17" name="TextBox 16"/>
          <p:cNvSpPr txBox="1"/>
          <p:nvPr/>
        </p:nvSpPr>
        <p:spPr>
          <a:xfrm>
            <a:off x="4572000" y="4069080"/>
            <a:ext cx="3227832" cy="256032"/>
          </a:xfrm>
          <a:prstGeom prst="rect">
            <a:avLst/>
          </a:prstGeom>
          <a:noFill/>
        </p:spPr>
        <p:txBody>
          <a:bodyPr wrap="square">
            <a:spAutoFit/>
          </a:bodyPr>
          <a:lstStyle/>
          <a:p>
            <a:pPr algn="l"/>
            <a:r>
              <a:rPr sz="950" b="0">
                <a:solidFill>
                  <a:srgbClr val="232D3A"/>
                </a:solidFill>
                <a:latin typeface="Aptos"/>
              </a:rPr>
              <a:t>• grand k : plus lisse</a:t>
            </a:r>
          </a:p>
        </p:txBody>
      </p:sp>
      <p:sp>
        <p:nvSpPr>
          <p:cNvPr id="18" name="TextBox 17"/>
          <p:cNvSpPr txBox="1"/>
          <p:nvPr/>
        </p:nvSpPr>
        <p:spPr>
          <a:xfrm>
            <a:off x="4572000" y="4379976"/>
            <a:ext cx="3227832" cy="256032"/>
          </a:xfrm>
          <a:prstGeom prst="rect">
            <a:avLst/>
          </a:prstGeom>
          <a:noFill/>
        </p:spPr>
        <p:txBody>
          <a:bodyPr wrap="square">
            <a:spAutoFit/>
          </a:bodyPr>
          <a:lstStyle/>
          <a:p>
            <a:pPr algn="l"/>
            <a:r>
              <a:rPr sz="950" b="0">
                <a:solidFill>
                  <a:srgbClr val="232D3A"/>
                </a:solidFill>
                <a:latin typeface="Aptos"/>
              </a:rPr>
              <a:t>• à tester</a:t>
            </a:r>
          </a:p>
        </p:txBody>
      </p:sp>
      <p:sp>
        <p:nvSpPr>
          <p:cNvPr id="19" name="Rounded Rectangle 18"/>
          <p:cNvSpPr/>
          <p:nvPr/>
        </p:nvSpPr>
        <p:spPr>
          <a:xfrm>
            <a:off x="82753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75320" y="31546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9912" y="3319272"/>
            <a:ext cx="3291840" cy="256032"/>
          </a:xfrm>
          <a:prstGeom prst="rect">
            <a:avLst/>
          </a:prstGeom>
          <a:noFill/>
        </p:spPr>
        <p:txBody>
          <a:bodyPr wrap="square">
            <a:spAutoFit/>
          </a:bodyPr>
          <a:lstStyle/>
          <a:p>
            <a:pPr algn="l"/>
            <a:r>
              <a:rPr sz="1150" b="1">
                <a:solidFill>
                  <a:srgbClr val="123153"/>
                </a:solidFill>
                <a:latin typeface="Aptos"/>
              </a:rPr>
              <a:t>À retenir</a:t>
            </a:r>
          </a:p>
        </p:txBody>
      </p:sp>
      <p:sp>
        <p:nvSpPr>
          <p:cNvPr id="22" name="TextBox 21"/>
          <p:cNvSpPr txBox="1"/>
          <p:nvPr/>
        </p:nvSpPr>
        <p:spPr>
          <a:xfrm>
            <a:off x="8458200" y="3758184"/>
            <a:ext cx="3227832" cy="256032"/>
          </a:xfrm>
          <a:prstGeom prst="rect">
            <a:avLst/>
          </a:prstGeom>
          <a:noFill/>
        </p:spPr>
        <p:txBody>
          <a:bodyPr wrap="square">
            <a:spAutoFit/>
          </a:bodyPr>
          <a:lstStyle/>
          <a:p>
            <a:pPr algn="l"/>
            <a:r>
              <a:rPr sz="950" b="0">
                <a:solidFill>
                  <a:srgbClr val="232D3A"/>
                </a:solidFill>
                <a:latin typeface="Aptos"/>
              </a:rPr>
              <a:t>• StandardScaler important</a:t>
            </a:r>
          </a:p>
        </p:txBody>
      </p:sp>
      <p:sp>
        <p:nvSpPr>
          <p:cNvPr id="23" name="TextBox 22"/>
          <p:cNvSpPr txBox="1"/>
          <p:nvPr/>
        </p:nvSpPr>
        <p:spPr>
          <a:xfrm>
            <a:off x="8458200" y="4069080"/>
            <a:ext cx="3227832" cy="256032"/>
          </a:xfrm>
          <a:prstGeom prst="rect">
            <a:avLst/>
          </a:prstGeom>
          <a:noFill/>
        </p:spPr>
        <p:txBody>
          <a:bodyPr wrap="square">
            <a:spAutoFit/>
          </a:bodyPr>
          <a:lstStyle/>
          <a:p>
            <a:pPr algn="l"/>
            <a:r>
              <a:rPr sz="950" b="0">
                <a:solidFill>
                  <a:srgbClr val="232D3A"/>
                </a:solidFill>
                <a:latin typeface="Aptos"/>
              </a:rPr>
              <a:t>• simple mais coûteux en prédiction</a:t>
            </a:r>
          </a:p>
        </p:txBody>
      </p:sp>
      <p:sp>
        <p:nvSpPr>
          <p:cNvPr id="24" name="TextBox 23"/>
          <p:cNvSpPr txBox="1"/>
          <p:nvPr/>
        </p:nvSpPr>
        <p:spPr>
          <a:xfrm>
            <a:off x="8458200" y="4379976"/>
            <a:ext cx="3227832" cy="256032"/>
          </a:xfrm>
          <a:prstGeom prst="rect">
            <a:avLst/>
          </a:prstGeom>
          <a:noFill/>
        </p:spPr>
        <p:txBody>
          <a:bodyPr wrap="square">
            <a:spAutoFit/>
          </a:bodyPr>
          <a:lstStyle/>
          <a:p>
            <a:pPr algn="l"/>
            <a:r>
              <a:rPr sz="950" b="0">
                <a:solidFill>
                  <a:srgbClr val="232D3A"/>
                </a:solidFill>
                <a:latin typeface="Aptos"/>
              </a:rPr>
              <a:t>• utile comme baseline</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62.png"/>
          <p:cNvPicPr>
            <a:picLocks noChangeAspect="1"/>
          </p:cNvPicPr>
          <p:nvPr/>
        </p:nvPicPr>
        <p:blipFill>
          <a:blip r:embed="rId2"/>
          <a:stretch>
            <a:fillRect/>
          </a:stretch>
        </p:blipFill>
        <p:spPr>
          <a:xfrm>
            <a:off x="0" y="9832"/>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SVM</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SVM — séparer les classes avec une marge</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Comprendre l’idée mathématique avant d’utiliser scikit-learn.</a:t>
            </a:r>
          </a:p>
        </p:txBody>
      </p:sp>
      <p:sp>
        <p:nvSpPr>
          <p:cNvPr id="5" name="Rounded Rectangle 4"/>
          <p:cNvSpPr/>
          <p:nvPr/>
        </p:nvSpPr>
        <p:spPr>
          <a:xfrm>
            <a:off x="777240" y="1783080"/>
            <a:ext cx="10652760" cy="960120"/>
          </a:xfrm>
          <a:prstGeom prst="roundRect">
            <a:avLst/>
          </a:prstGeom>
          <a:solidFill>
            <a:srgbClr val="123153"/>
          </a:solidFill>
          <a:ln>
            <a:solidFill>
              <a:srgbClr val="1231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057400"/>
            <a:ext cx="10287000" cy="365760"/>
          </a:xfrm>
          <a:prstGeom prst="rect">
            <a:avLst/>
          </a:prstGeom>
          <a:noFill/>
        </p:spPr>
        <p:txBody>
          <a:bodyPr wrap="square">
            <a:spAutoFit/>
          </a:bodyPr>
          <a:lstStyle/>
          <a:p>
            <a:pPr algn="ctr"/>
            <a:r>
              <a:rPr sz="2000" b="1">
                <a:solidFill>
                  <a:srgbClr val="FFFFFF"/>
                </a:solidFill>
                <a:latin typeface="Aptos"/>
              </a:rPr>
              <a:t>objectif : trouver une frontière qui maximise la marge entre les classes</a:t>
            </a:r>
          </a:p>
        </p:txBody>
      </p:sp>
      <p:sp>
        <p:nvSpPr>
          <p:cNvPr id="7" name="Rounded Rectangle 6"/>
          <p:cNvSpPr/>
          <p:nvPr/>
        </p:nvSpPr>
        <p:spPr>
          <a:xfrm>
            <a:off x="5029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31546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3319272"/>
            <a:ext cx="3291840" cy="256032"/>
          </a:xfrm>
          <a:prstGeom prst="rect">
            <a:avLst/>
          </a:prstGeom>
          <a:noFill/>
        </p:spPr>
        <p:txBody>
          <a:bodyPr wrap="square">
            <a:spAutoFit/>
          </a:bodyPr>
          <a:lstStyle/>
          <a:p>
            <a:pPr algn="l"/>
            <a:r>
              <a:rPr sz="1150" b="1">
                <a:solidFill>
                  <a:srgbClr val="123153"/>
                </a:solidFill>
                <a:latin typeface="Aptos"/>
              </a:rPr>
              <a:t>Linéaire</a:t>
            </a:r>
          </a:p>
        </p:txBody>
      </p:sp>
      <p:sp>
        <p:nvSpPr>
          <p:cNvPr id="10" name="TextBox 9"/>
          <p:cNvSpPr txBox="1"/>
          <p:nvPr/>
        </p:nvSpPr>
        <p:spPr>
          <a:xfrm>
            <a:off x="685800" y="3758184"/>
            <a:ext cx="3227832" cy="256032"/>
          </a:xfrm>
          <a:prstGeom prst="rect">
            <a:avLst/>
          </a:prstGeom>
          <a:noFill/>
        </p:spPr>
        <p:txBody>
          <a:bodyPr wrap="square">
            <a:spAutoFit/>
          </a:bodyPr>
          <a:lstStyle/>
          <a:p>
            <a:pPr algn="l"/>
            <a:r>
              <a:rPr sz="950" b="0">
                <a:solidFill>
                  <a:srgbClr val="232D3A"/>
                </a:solidFill>
                <a:latin typeface="Aptos"/>
              </a:rPr>
              <a:t>• hyperplan séparateur</a:t>
            </a:r>
          </a:p>
        </p:txBody>
      </p:sp>
      <p:sp>
        <p:nvSpPr>
          <p:cNvPr id="11" name="TextBox 10"/>
          <p:cNvSpPr txBox="1"/>
          <p:nvPr/>
        </p:nvSpPr>
        <p:spPr>
          <a:xfrm>
            <a:off x="685800" y="4069080"/>
            <a:ext cx="3227832" cy="256032"/>
          </a:xfrm>
          <a:prstGeom prst="rect">
            <a:avLst/>
          </a:prstGeom>
          <a:noFill/>
        </p:spPr>
        <p:txBody>
          <a:bodyPr wrap="square">
            <a:spAutoFit/>
          </a:bodyPr>
          <a:lstStyle/>
          <a:p>
            <a:pPr algn="l"/>
            <a:r>
              <a:rPr sz="950" b="0">
                <a:solidFill>
                  <a:srgbClr val="232D3A"/>
                </a:solidFill>
                <a:latin typeface="Aptos"/>
              </a:rPr>
              <a:t>• marge maximale</a:t>
            </a:r>
          </a:p>
        </p:txBody>
      </p:sp>
      <p:sp>
        <p:nvSpPr>
          <p:cNvPr id="12" name="TextBox 11"/>
          <p:cNvSpPr txBox="1"/>
          <p:nvPr/>
        </p:nvSpPr>
        <p:spPr>
          <a:xfrm>
            <a:off x="685800" y="4379976"/>
            <a:ext cx="3227832" cy="256032"/>
          </a:xfrm>
          <a:prstGeom prst="rect">
            <a:avLst/>
          </a:prstGeom>
          <a:noFill/>
        </p:spPr>
        <p:txBody>
          <a:bodyPr wrap="square">
            <a:spAutoFit/>
          </a:bodyPr>
          <a:lstStyle/>
          <a:p>
            <a:pPr algn="l"/>
            <a:r>
              <a:rPr sz="950" b="0">
                <a:solidFill>
                  <a:srgbClr val="232D3A"/>
                </a:solidFill>
                <a:latin typeface="Aptos"/>
              </a:rPr>
              <a:t>• utile si séparation claire</a:t>
            </a:r>
          </a:p>
        </p:txBody>
      </p:sp>
      <p:sp>
        <p:nvSpPr>
          <p:cNvPr id="13" name="Rounded Rectangle 12"/>
          <p:cNvSpPr/>
          <p:nvPr/>
        </p:nvSpPr>
        <p:spPr>
          <a:xfrm>
            <a:off x="43891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31546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3712" y="3319272"/>
            <a:ext cx="3291840" cy="256032"/>
          </a:xfrm>
          <a:prstGeom prst="rect">
            <a:avLst/>
          </a:prstGeom>
          <a:noFill/>
        </p:spPr>
        <p:txBody>
          <a:bodyPr wrap="square">
            <a:spAutoFit/>
          </a:bodyPr>
          <a:lstStyle/>
          <a:p>
            <a:pPr algn="l"/>
            <a:r>
              <a:rPr sz="1150" b="1">
                <a:solidFill>
                  <a:srgbClr val="123153"/>
                </a:solidFill>
                <a:latin typeface="Aptos"/>
              </a:rPr>
              <a:t>Noyau</a:t>
            </a:r>
          </a:p>
        </p:txBody>
      </p:sp>
      <p:sp>
        <p:nvSpPr>
          <p:cNvPr id="16" name="TextBox 15"/>
          <p:cNvSpPr txBox="1"/>
          <p:nvPr/>
        </p:nvSpPr>
        <p:spPr>
          <a:xfrm>
            <a:off x="4572000" y="3758184"/>
            <a:ext cx="3227832" cy="256032"/>
          </a:xfrm>
          <a:prstGeom prst="rect">
            <a:avLst/>
          </a:prstGeom>
          <a:noFill/>
        </p:spPr>
        <p:txBody>
          <a:bodyPr wrap="square">
            <a:spAutoFit/>
          </a:bodyPr>
          <a:lstStyle/>
          <a:p>
            <a:pPr algn="l"/>
            <a:r>
              <a:rPr sz="950" b="0">
                <a:solidFill>
                  <a:srgbClr val="232D3A"/>
                </a:solidFill>
                <a:latin typeface="Aptos"/>
              </a:rPr>
              <a:t>• kernel RBF pour non-linéaire</a:t>
            </a:r>
          </a:p>
        </p:txBody>
      </p:sp>
      <p:sp>
        <p:nvSpPr>
          <p:cNvPr id="17" name="TextBox 16"/>
          <p:cNvSpPr txBox="1"/>
          <p:nvPr/>
        </p:nvSpPr>
        <p:spPr>
          <a:xfrm>
            <a:off x="4572000" y="4069080"/>
            <a:ext cx="3227832" cy="256032"/>
          </a:xfrm>
          <a:prstGeom prst="rect">
            <a:avLst/>
          </a:prstGeom>
          <a:noFill/>
        </p:spPr>
        <p:txBody>
          <a:bodyPr wrap="square">
            <a:spAutoFit/>
          </a:bodyPr>
          <a:lstStyle/>
          <a:p>
            <a:pPr algn="l"/>
            <a:r>
              <a:rPr sz="950" b="0">
                <a:solidFill>
                  <a:srgbClr val="232D3A"/>
                </a:solidFill>
                <a:latin typeface="Aptos"/>
              </a:rPr>
              <a:t>• paramètres C et gamma</a:t>
            </a:r>
          </a:p>
        </p:txBody>
      </p:sp>
      <p:sp>
        <p:nvSpPr>
          <p:cNvPr id="18" name="TextBox 17"/>
          <p:cNvSpPr txBox="1"/>
          <p:nvPr/>
        </p:nvSpPr>
        <p:spPr>
          <a:xfrm>
            <a:off x="4572000" y="4379976"/>
            <a:ext cx="3227832" cy="256032"/>
          </a:xfrm>
          <a:prstGeom prst="rect">
            <a:avLst/>
          </a:prstGeom>
          <a:noFill/>
        </p:spPr>
        <p:txBody>
          <a:bodyPr wrap="square">
            <a:spAutoFit/>
          </a:bodyPr>
          <a:lstStyle/>
          <a:p>
            <a:pPr algn="l"/>
            <a:r>
              <a:rPr sz="950" b="0">
                <a:solidFill>
                  <a:srgbClr val="232D3A"/>
                </a:solidFill>
                <a:latin typeface="Aptos"/>
              </a:rPr>
              <a:t>• attention au tuning</a:t>
            </a:r>
          </a:p>
        </p:txBody>
      </p:sp>
      <p:sp>
        <p:nvSpPr>
          <p:cNvPr id="19" name="Rounded Rectangle 18"/>
          <p:cNvSpPr/>
          <p:nvPr/>
        </p:nvSpPr>
        <p:spPr>
          <a:xfrm>
            <a:off x="8275320" y="3154680"/>
            <a:ext cx="3611880" cy="233172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75320" y="31546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9912" y="3319272"/>
            <a:ext cx="3291840" cy="256032"/>
          </a:xfrm>
          <a:prstGeom prst="rect">
            <a:avLst/>
          </a:prstGeom>
          <a:noFill/>
        </p:spPr>
        <p:txBody>
          <a:bodyPr wrap="square">
            <a:spAutoFit/>
          </a:bodyPr>
          <a:lstStyle/>
          <a:p>
            <a:pPr algn="l"/>
            <a:r>
              <a:rPr sz="1150" b="1">
                <a:solidFill>
                  <a:srgbClr val="123153"/>
                </a:solidFill>
                <a:latin typeface="Aptos"/>
              </a:rPr>
              <a:t>Contraintes</a:t>
            </a:r>
          </a:p>
        </p:txBody>
      </p:sp>
      <p:sp>
        <p:nvSpPr>
          <p:cNvPr id="22" name="TextBox 21"/>
          <p:cNvSpPr txBox="1"/>
          <p:nvPr/>
        </p:nvSpPr>
        <p:spPr>
          <a:xfrm>
            <a:off x="8458200" y="3758184"/>
            <a:ext cx="3227832" cy="256032"/>
          </a:xfrm>
          <a:prstGeom prst="rect">
            <a:avLst/>
          </a:prstGeom>
          <a:noFill/>
        </p:spPr>
        <p:txBody>
          <a:bodyPr wrap="square">
            <a:spAutoFit/>
          </a:bodyPr>
          <a:lstStyle/>
          <a:p>
            <a:pPr algn="l"/>
            <a:r>
              <a:rPr sz="950" b="0">
                <a:solidFill>
                  <a:srgbClr val="232D3A"/>
                </a:solidFill>
                <a:latin typeface="Aptos"/>
              </a:rPr>
              <a:t>• scaling nécessaire</a:t>
            </a:r>
          </a:p>
        </p:txBody>
      </p:sp>
      <p:sp>
        <p:nvSpPr>
          <p:cNvPr id="23" name="TextBox 22"/>
          <p:cNvSpPr txBox="1"/>
          <p:nvPr/>
        </p:nvSpPr>
        <p:spPr>
          <a:xfrm>
            <a:off x="8458200" y="4069080"/>
            <a:ext cx="3227832" cy="256032"/>
          </a:xfrm>
          <a:prstGeom prst="rect">
            <a:avLst/>
          </a:prstGeom>
          <a:noFill/>
        </p:spPr>
        <p:txBody>
          <a:bodyPr wrap="square">
            <a:spAutoFit/>
          </a:bodyPr>
          <a:lstStyle/>
          <a:p>
            <a:pPr algn="l"/>
            <a:r>
              <a:rPr sz="950" b="0">
                <a:solidFill>
                  <a:srgbClr val="232D3A"/>
                </a:solidFill>
                <a:latin typeface="Aptos"/>
              </a:rPr>
              <a:t>• interprétation moins directe</a:t>
            </a:r>
          </a:p>
        </p:txBody>
      </p:sp>
      <p:sp>
        <p:nvSpPr>
          <p:cNvPr id="24" name="TextBox 23"/>
          <p:cNvSpPr txBox="1"/>
          <p:nvPr/>
        </p:nvSpPr>
        <p:spPr>
          <a:xfrm>
            <a:off x="8458200" y="4379976"/>
            <a:ext cx="3227832" cy="256032"/>
          </a:xfrm>
          <a:prstGeom prst="rect">
            <a:avLst/>
          </a:prstGeom>
          <a:noFill/>
        </p:spPr>
        <p:txBody>
          <a:bodyPr wrap="square">
            <a:spAutoFit/>
          </a:bodyPr>
          <a:lstStyle/>
          <a:p>
            <a:pPr algn="l"/>
            <a:r>
              <a:rPr sz="950" b="0">
                <a:solidFill>
                  <a:srgbClr val="232D3A"/>
                </a:solidFill>
                <a:latin typeface="Aptos"/>
              </a:rPr>
              <a:t>• peut être performant sur petits/moyens jeux</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2743200" cy="228600"/>
          </a:xfrm>
          <a:prstGeom prst="rect">
            <a:avLst/>
          </a:prstGeom>
          <a:noFill/>
        </p:spPr>
        <p:txBody>
          <a:bodyPr wrap="square" anchor="ctr">
            <a:spAutoFit/>
          </a:bodyPr>
          <a:lstStyle/>
          <a:p>
            <a:pPr algn="l">
              <a:defRPr sz="1000" b="1">
                <a:solidFill>
                  <a:srgbClr val="2D69EB"/>
                </a:solidFill>
              </a:defRPr>
            </a:pPr>
            <a:r>
              <a:t>MÉTRIQUES</a:t>
            </a:r>
          </a:p>
        </p:txBody>
      </p:sp>
      <p:sp>
        <p:nvSpPr>
          <p:cNvPr id="3" name="TextBox 2"/>
          <p:cNvSpPr txBox="1"/>
          <p:nvPr/>
        </p:nvSpPr>
        <p:spPr>
          <a:xfrm>
            <a:off x="685800" y="594360"/>
            <a:ext cx="10789920" cy="502920"/>
          </a:xfrm>
          <a:prstGeom prst="rect">
            <a:avLst/>
          </a:prstGeom>
          <a:noFill/>
        </p:spPr>
        <p:txBody>
          <a:bodyPr wrap="square" anchor="ctr">
            <a:spAutoFit/>
          </a:bodyPr>
          <a:lstStyle/>
          <a:p>
            <a:pPr algn="l">
              <a:defRPr sz="2400" b="1">
                <a:solidFill>
                  <a:srgbClr val="1B3A5E"/>
                </a:solidFill>
              </a:defRPr>
            </a:pPr>
            <a:r>
              <a:t>Classification : lire une matrice de confusion</a:t>
            </a:r>
          </a:p>
        </p:txBody>
      </p:sp>
      <p:sp>
        <p:nvSpPr>
          <p:cNvPr id="4" name="TextBox 3"/>
          <p:cNvSpPr txBox="1"/>
          <p:nvPr/>
        </p:nvSpPr>
        <p:spPr>
          <a:xfrm>
            <a:off x="4572000" y="1417320"/>
            <a:ext cx="1828800" cy="320040"/>
          </a:xfrm>
          <a:prstGeom prst="rect">
            <a:avLst/>
          </a:prstGeom>
          <a:noFill/>
        </p:spPr>
        <p:txBody>
          <a:bodyPr wrap="square" anchor="ctr">
            <a:spAutoFit/>
          </a:bodyPr>
          <a:lstStyle/>
          <a:p>
            <a:pPr algn="ctr">
              <a:defRPr sz="1400" b="1">
                <a:solidFill>
                  <a:srgbClr val="1B3A5E"/>
                </a:solidFill>
              </a:defRPr>
            </a:pPr>
            <a:r>
              <a:t>PRÉDIT +</a:t>
            </a:r>
          </a:p>
        </p:txBody>
      </p:sp>
      <p:sp>
        <p:nvSpPr>
          <p:cNvPr id="5" name="TextBox 4"/>
          <p:cNvSpPr txBox="1"/>
          <p:nvPr/>
        </p:nvSpPr>
        <p:spPr>
          <a:xfrm>
            <a:off x="6720840" y="1417320"/>
            <a:ext cx="1828800" cy="320040"/>
          </a:xfrm>
          <a:prstGeom prst="rect">
            <a:avLst/>
          </a:prstGeom>
          <a:noFill/>
        </p:spPr>
        <p:txBody>
          <a:bodyPr wrap="square" anchor="ctr">
            <a:spAutoFit/>
          </a:bodyPr>
          <a:lstStyle/>
          <a:p>
            <a:pPr algn="ctr">
              <a:defRPr sz="1400" b="1">
                <a:solidFill>
                  <a:srgbClr val="1B3A5E"/>
                </a:solidFill>
              </a:defRPr>
            </a:pPr>
            <a:r>
              <a:t>PRÉDIT −</a:t>
            </a:r>
          </a:p>
        </p:txBody>
      </p:sp>
      <p:sp>
        <p:nvSpPr>
          <p:cNvPr id="6" name="TextBox 5"/>
          <p:cNvSpPr txBox="1"/>
          <p:nvPr/>
        </p:nvSpPr>
        <p:spPr>
          <a:xfrm>
            <a:off x="2971800" y="2212848"/>
            <a:ext cx="1143000" cy="320040"/>
          </a:xfrm>
          <a:prstGeom prst="rect">
            <a:avLst/>
          </a:prstGeom>
          <a:noFill/>
        </p:spPr>
        <p:txBody>
          <a:bodyPr wrap="square" anchor="ctr">
            <a:spAutoFit/>
          </a:bodyPr>
          <a:lstStyle/>
          <a:p>
            <a:pPr algn="ctr">
              <a:defRPr sz="1400" b="1">
                <a:solidFill>
                  <a:srgbClr val="1B3A5E"/>
                </a:solidFill>
              </a:defRPr>
            </a:pPr>
            <a:r>
              <a:t>RÉEL +</a:t>
            </a:r>
          </a:p>
        </p:txBody>
      </p:sp>
      <p:sp>
        <p:nvSpPr>
          <p:cNvPr id="7" name="TextBox 6"/>
          <p:cNvSpPr txBox="1"/>
          <p:nvPr/>
        </p:nvSpPr>
        <p:spPr>
          <a:xfrm>
            <a:off x="2971800" y="3493008"/>
            <a:ext cx="1143000" cy="320040"/>
          </a:xfrm>
          <a:prstGeom prst="rect">
            <a:avLst/>
          </a:prstGeom>
          <a:noFill/>
        </p:spPr>
        <p:txBody>
          <a:bodyPr wrap="square" anchor="ctr">
            <a:spAutoFit/>
          </a:bodyPr>
          <a:lstStyle/>
          <a:p>
            <a:pPr algn="ctr">
              <a:defRPr sz="1400" b="1">
                <a:solidFill>
                  <a:srgbClr val="1B3A5E"/>
                </a:solidFill>
              </a:defRPr>
            </a:pPr>
            <a:r>
              <a:t>RÉEL −</a:t>
            </a:r>
          </a:p>
        </p:txBody>
      </p:sp>
      <p:sp>
        <p:nvSpPr>
          <p:cNvPr id="8" name="Rounded Rectangle 7"/>
          <p:cNvSpPr/>
          <p:nvPr/>
        </p:nvSpPr>
        <p:spPr>
          <a:xfrm>
            <a:off x="4343400" y="1874519"/>
            <a:ext cx="1965960" cy="960120"/>
          </a:xfrm>
          <a:prstGeom prst="roundRect">
            <a:avLst/>
          </a:prstGeom>
          <a:solidFill>
            <a:srgbClr val="F8FAFC"/>
          </a:solidFill>
          <a:ln>
            <a:solidFill>
              <a:srgbClr val="59B1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965960"/>
            <a:ext cx="411480" cy="274320"/>
          </a:xfrm>
          <a:prstGeom prst="rect">
            <a:avLst/>
          </a:prstGeom>
          <a:noFill/>
        </p:spPr>
        <p:txBody>
          <a:bodyPr wrap="square" anchor="ctr">
            <a:spAutoFit/>
          </a:bodyPr>
          <a:lstStyle/>
          <a:p>
            <a:pPr algn="l">
              <a:defRPr sz="1300" b="1">
                <a:solidFill>
                  <a:srgbClr val="1B3A5E"/>
                </a:solidFill>
              </a:defRPr>
            </a:pPr>
            <a:r>
              <a:t>TP</a:t>
            </a:r>
          </a:p>
        </p:txBody>
      </p:sp>
      <p:sp>
        <p:nvSpPr>
          <p:cNvPr id="10" name="TextBox 9"/>
          <p:cNvSpPr txBox="1"/>
          <p:nvPr/>
        </p:nvSpPr>
        <p:spPr>
          <a:xfrm>
            <a:off x="4800600" y="2121408"/>
            <a:ext cx="1325880" cy="475488"/>
          </a:xfrm>
          <a:prstGeom prst="rect">
            <a:avLst/>
          </a:prstGeom>
          <a:noFill/>
        </p:spPr>
        <p:txBody>
          <a:bodyPr wrap="square" anchor="ctr">
            <a:spAutoFit/>
          </a:bodyPr>
          <a:lstStyle/>
          <a:p>
            <a:pPr algn="ctr">
              <a:defRPr sz="1250" b="1">
                <a:solidFill>
                  <a:srgbClr val="1B3A5E"/>
                </a:solidFill>
              </a:defRPr>
            </a:pPr>
            <a:r>
              <a:t>Panne détectée</a:t>
            </a:r>
          </a:p>
        </p:txBody>
      </p:sp>
      <p:sp>
        <p:nvSpPr>
          <p:cNvPr id="11" name="Rounded Rectangle 10"/>
          <p:cNvSpPr/>
          <p:nvPr/>
        </p:nvSpPr>
        <p:spPr>
          <a:xfrm>
            <a:off x="6537960" y="1874519"/>
            <a:ext cx="1965960" cy="960120"/>
          </a:xfrm>
          <a:prstGeom prst="roundRect">
            <a:avLst/>
          </a:prstGeom>
          <a:solidFill>
            <a:srgbClr val="F8FAFC"/>
          </a:solidFill>
          <a:ln>
            <a:solidFill>
              <a:srgbClr val="E046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965960"/>
            <a:ext cx="411480" cy="274320"/>
          </a:xfrm>
          <a:prstGeom prst="rect">
            <a:avLst/>
          </a:prstGeom>
          <a:noFill/>
        </p:spPr>
        <p:txBody>
          <a:bodyPr wrap="square" anchor="ctr">
            <a:spAutoFit/>
          </a:bodyPr>
          <a:lstStyle/>
          <a:p>
            <a:pPr algn="l">
              <a:defRPr sz="1300" b="1">
                <a:solidFill>
                  <a:srgbClr val="1B3A5E"/>
                </a:solidFill>
              </a:defRPr>
            </a:pPr>
            <a:r>
              <a:t>FN</a:t>
            </a:r>
          </a:p>
        </p:txBody>
      </p:sp>
      <p:sp>
        <p:nvSpPr>
          <p:cNvPr id="13" name="TextBox 12"/>
          <p:cNvSpPr txBox="1"/>
          <p:nvPr/>
        </p:nvSpPr>
        <p:spPr>
          <a:xfrm>
            <a:off x="6995160" y="2121408"/>
            <a:ext cx="1325880" cy="475488"/>
          </a:xfrm>
          <a:prstGeom prst="rect">
            <a:avLst/>
          </a:prstGeom>
          <a:noFill/>
        </p:spPr>
        <p:txBody>
          <a:bodyPr wrap="square" anchor="ctr">
            <a:spAutoFit/>
          </a:bodyPr>
          <a:lstStyle/>
          <a:p>
            <a:pPr algn="ctr">
              <a:defRPr sz="1250" b="1">
                <a:solidFill>
                  <a:srgbClr val="1B3A5E"/>
                </a:solidFill>
              </a:defRPr>
            </a:pPr>
            <a:r>
              <a:t>Panne manquée</a:t>
            </a:r>
          </a:p>
        </p:txBody>
      </p:sp>
      <p:sp>
        <p:nvSpPr>
          <p:cNvPr id="14" name="Rounded Rectangle 13"/>
          <p:cNvSpPr/>
          <p:nvPr/>
        </p:nvSpPr>
        <p:spPr>
          <a:xfrm>
            <a:off x="4343400" y="3154680"/>
            <a:ext cx="1965960" cy="960120"/>
          </a:xfrm>
          <a:prstGeom prst="roundRect">
            <a:avLst/>
          </a:prstGeom>
          <a:solidFill>
            <a:srgbClr val="F8FAFC"/>
          </a:solidFill>
          <a:ln>
            <a:solidFill>
              <a:srgbClr val="F47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60" y="3246120"/>
            <a:ext cx="411480" cy="274320"/>
          </a:xfrm>
          <a:prstGeom prst="rect">
            <a:avLst/>
          </a:prstGeom>
          <a:noFill/>
        </p:spPr>
        <p:txBody>
          <a:bodyPr wrap="square" anchor="ctr">
            <a:spAutoFit/>
          </a:bodyPr>
          <a:lstStyle/>
          <a:p>
            <a:pPr algn="l">
              <a:defRPr sz="1300" b="1">
                <a:solidFill>
                  <a:srgbClr val="1B3A5E"/>
                </a:solidFill>
              </a:defRPr>
            </a:pPr>
            <a:r>
              <a:t>FP</a:t>
            </a:r>
          </a:p>
        </p:txBody>
      </p:sp>
      <p:sp>
        <p:nvSpPr>
          <p:cNvPr id="16" name="TextBox 15"/>
          <p:cNvSpPr txBox="1"/>
          <p:nvPr/>
        </p:nvSpPr>
        <p:spPr>
          <a:xfrm>
            <a:off x="4800600" y="3401568"/>
            <a:ext cx="1325880" cy="475488"/>
          </a:xfrm>
          <a:prstGeom prst="rect">
            <a:avLst/>
          </a:prstGeom>
          <a:noFill/>
        </p:spPr>
        <p:txBody>
          <a:bodyPr wrap="square" anchor="ctr">
            <a:spAutoFit/>
          </a:bodyPr>
          <a:lstStyle/>
          <a:p>
            <a:pPr algn="ctr">
              <a:defRPr sz="1250" b="1">
                <a:solidFill>
                  <a:srgbClr val="1B3A5E"/>
                </a:solidFill>
              </a:defRPr>
            </a:pPr>
            <a:r>
              <a:t>Fausse alerte</a:t>
            </a:r>
          </a:p>
        </p:txBody>
      </p:sp>
      <p:sp>
        <p:nvSpPr>
          <p:cNvPr id="17" name="Rounded Rectangle 16"/>
          <p:cNvSpPr/>
          <p:nvPr/>
        </p:nvSpPr>
        <p:spPr>
          <a:xfrm>
            <a:off x="6537960" y="3154680"/>
            <a:ext cx="1965960" cy="960120"/>
          </a:xfrm>
          <a:prstGeom prst="roundRect">
            <a:avLst/>
          </a:prstGeom>
          <a:solidFill>
            <a:srgbClr val="F8FAFC"/>
          </a:solidFill>
          <a:ln>
            <a:solidFill>
              <a:srgbClr val="2D6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3246120"/>
            <a:ext cx="411480" cy="274320"/>
          </a:xfrm>
          <a:prstGeom prst="rect">
            <a:avLst/>
          </a:prstGeom>
          <a:noFill/>
        </p:spPr>
        <p:txBody>
          <a:bodyPr wrap="square" anchor="ctr">
            <a:spAutoFit/>
          </a:bodyPr>
          <a:lstStyle/>
          <a:p>
            <a:pPr algn="l">
              <a:defRPr sz="1300" b="1">
                <a:solidFill>
                  <a:srgbClr val="1B3A5E"/>
                </a:solidFill>
              </a:defRPr>
            </a:pPr>
            <a:r>
              <a:t>TN</a:t>
            </a:r>
          </a:p>
        </p:txBody>
      </p:sp>
      <p:sp>
        <p:nvSpPr>
          <p:cNvPr id="19" name="TextBox 18"/>
          <p:cNvSpPr txBox="1"/>
          <p:nvPr/>
        </p:nvSpPr>
        <p:spPr>
          <a:xfrm>
            <a:off x="6995160" y="3401568"/>
            <a:ext cx="1325880" cy="475488"/>
          </a:xfrm>
          <a:prstGeom prst="rect">
            <a:avLst/>
          </a:prstGeom>
          <a:noFill/>
        </p:spPr>
        <p:txBody>
          <a:bodyPr wrap="square" anchor="ctr">
            <a:spAutoFit/>
          </a:bodyPr>
          <a:lstStyle/>
          <a:p>
            <a:pPr algn="ctr">
              <a:defRPr sz="1250" b="1">
                <a:solidFill>
                  <a:srgbClr val="1B3A5E"/>
                </a:solidFill>
              </a:defRPr>
            </a:pPr>
            <a:r>
              <a:t>Situation normale</a:t>
            </a:r>
          </a:p>
        </p:txBody>
      </p:sp>
      <p:sp>
        <p:nvSpPr>
          <p:cNvPr id="20" name="Rounded Rectangle 19"/>
          <p:cNvSpPr/>
          <p:nvPr/>
        </p:nvSpPr>
        <p:spPr>
          <a:xfrm>
            <a:off x="1371600" y="4663440"/>
            <a:ext cx="9464040" cy="713232"/>
          </a:xfrm>
          <a:prstGeom prst="roundRect">
            <a:avLst/>
          </a:prstGeom>
          <a:solidFill>
            <a:srgbClr val="F0F5FC"/>
          </a:solidFill>
          <a:ln>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00200" y="4745736"/>
            <a:ext cx="9006840" cy="530352"/>
          </a:xfrm>
          <a:prstGeom prst="rect">
            <a:avLst/>
          </a:prstGeom>
          <a:noFill/>
        </p:spPr>
        <p:txBody>
          <a:bodyPr wrap="square" anchor="ctr">
            <a:spAutoFit/>
          </a:bodyPr>
          <a:lstStyle/>
          <a:p>
            <a:pPr algn="ctr">
              <a:defRPr sz="1300" b="1">
                <a:solidFill>
                  <a:srgbClr val="1B3A5E"/>
                </a:solidFill>
              </a:defRPr>
            </a:pPr>
            <a:r>
              <a:t>À RETENIR : FN = panne manquée  •  FP = fausse alerte  →  le métier décide laquelle coûte le plus cher.</a:t>
            </a:r>
          </a:p>
        </p:txBody>
      </p:sp>
      <p:sp>
        <p:nvSpPr>
          <p:cNvPr id="22" name="TextBox 21"/>
          <p:cNvSpPr txBox="1"/>
          <p:nvPr/>
        </p:nvSpPr>
        <p:spPr>
          <a:xfrm>
            <a:off x="2331720" y="5715000"/>
            <a:ext cx="7498079" cy="320040"/>
          </a:xfrm>
          <a:prstGeom prst="rect">
            <a:avLst/>
          </a:prstGeom>
          <a:noFill/>
        </p:spPr>
        <p:txBody>
          <a:bodyPr wrap="square" anchor="ctr">
            <a:spAutoFit/>
          </a:bodyPr>
          <a:lstStyle/>
          <a:p>
            <a:pPr algn="ctr">
              <a:defRPr sz="1220" b="1">
                <a:solidFill>
                  <a:srgbClr val="2D69EB"/>
                </a:solidFill>
              </a:defRPr>
            </a:pPr>
            <a:r>
              <a:t>La matrice de confusion ne donne pas seulement un score : elle montre le type d’erreurs du modèle.</a:t>
            </a:r>
          </a:p>
        </p:txBody>
      </p:sp>
      <p:sp>
        <p:nvSpPr>
          <p:cNvPr id="23" name="TextBox 22"/>
          <p:cNvSpPr txBox="1"/>
          <p:nvPr/>
        </p:nvSpPr>
        <p:spPr>
          <a:xfrm>
            <a:off x="685800" y="6492240"/>
            <a:ext cx="3657600" cy="164592"/>
          </a:xfrm>
          <a:prstGeom prst="rect">
            <a:avLst/>
          </a:prstGeom>
          <a:noFill/>
        </p:spPr>
        <p:txBody>
          <a:bodyPr wrap="square" anchor="ctr">
            <a:spAutoFit/>
          </a:bodyPr>
          <a:lstStyle/>
          <a:p>
            <a:pPr algn="l">
              <a:defRPr sz="750" b="0">
                <a:solidFill>
                  <a:srgbClr val="647891"/>
                </a:solidFill>
              </a:defRPr>
            </a:pPr>
            <a:r>
              <a:t>Intelligence Artificielle — Jour 2</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2743200" cy="228600"/>
          </a:xfrm>
          <a:prstGeom prst="rect">
            <a:avLst/>
          </a:prstGeom>
          <a:noFill/>
        </p:spPr>
        <p:txBody>
          <a:bodyPr wrap="square" anchor="ctr">
            <a:spAutoFit/>
          </a:bodyPr>
          <a:lstStyle/>
          <a:p>
            <a:pPr algn="l">
              <a:defRPr sz="1000" b="1">
                <a:solidFill>
                  <a:srgbClr val="2D69EB"/>
                </a:solidFill>
              </a:defRPr>
            </a:pPr>
            <a:r>
              <a:t>MÉTRIQUES</a:t>
            </a:r>
          </a:p>
        </p:txBody>
      </p:sp>
      <p:sp>
        <p:nvSpPr>
          <p:cNvPr id="3" name="TextBox 2"/>
          <p:cNvSpPr txBox="1"/>
          <p:nvPr/>
        </p:nvSpPr>
        <p:spPr>
          <a:xfrm>
            <a:off x="685800" y="594360"/>
            <a:ext cx="10789920" cy="502920"/>
          </a:xfrm>
          <a:prstGeom prst="rect">
            <a:avLst/>
          </a:prstGeom>
          <a:noFill/>
        </p:spPr>
        <p:txBody>
          <a:bodyPr wrap="square" anchor="ctr">
            <a:spAutoFit/>
          </a:bodyPr>
          <a:lstStyle/>
          <a:p>
            <a:pPr algn="l">
              <a:defRPr sz="2400" b="1">
                <a:solidFill>
                  <a:srgbClr val="1B3A5E"/>
                </a:solidFill>
              </a:defRPr>
            </a:pPr>
            <a:r>
              <a:t>Classification : quelle métrique choisir ?</a:t>
            </a:r>
          </a:p>
        </p:txBody>
      </p:sp>
      <p:sp>
        <p:nvSpPr>
          <p:cNvPr id="4" name="Rounded Rectangle 3"/>
          <p:cNvSpPr/>
          <p:nvPr/>
        </p:nvSpPr>
        <p:spPr>
          <a:xfrm>
            <a:off x="502920" y="1600200"/>
            <a:ext cx="2487168"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600200"/>
            <a:ext cx="50292" cy="2788920"/>
          </a:xfrm>
          <a:prstGeom prst="rect">
            <a:avLst/>
          </a:prstGeom>
          <a:solidFill>
            <a:srgbClr val="2D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8" y="1847088"/>
            <a:ext cx="2011680" cy="347472"/>
          </a:xfrm>
          <a:prstGeom prst="rect">
            <a:avLst/>
          </a:prstGeom>
          <a:noFill/>
        </p:spPr>
        <p:txBody>
          <a:bodyPr wrap="square" anchor="ctr">
            <a:spAutoFit/>
          </a:bodyPr>
          <a:lstStyle/>
          <a:p>
            <a:pPr algn="l">
              <a:defRPr sz="1550" b="1">
                <a:solidFill>
                  <a:srgbClr val="1B3A5E"/>
                </a:solidFill>
              </a:defRPr>
            </a:pPr>
            <a:r>
              <a:t>ACCURACY</a:t>
            </a:r>
          </a:p>
        </p:txBody>
      </p:sp>
      <p:sp>
        <p:nvSpPr>
          <p:cNvPr id="7" name="TextBox 6"/>
          <p:cNvSpPr txBox="1"/>
          <p:nvPr/>
        </p:nvSpPr>
        <p:spPr>
          <a:xfrm>
            <a:off x="749808" y="2487168"/>
            <a:ext cx="2011680" cy="621792"/>
          </a:xfrm>
          <a:prstGeom prst="rect">
            <a:avLst/>
          </a:prstGeom>
          <a:noFill/>
        </p:spPr>
        <p:txBody>
          <a:bodyPr wrap="square" anchor="ctr">
            <a:spAutoFit/>
          </a:bodyPr>
          <a:lstStyle/>
          <a:p>
            <a:pPr algn="ctr">
              <a:defRPr sz="1220" b="1">
                <a:solidFill>
                  <a:srgbClr val="2D69EB"/>
                </a:solidFill>
              </a:defRPr>
            </a:pPr>
            <a:r>
              <a:t>Combien de prédictions</a:t>
            </a:r>
            <a:br/>
            <a:r>
              <a:t>sont correctes ?</a:t>
            </a:r>
          </a:p>
        </p:txBody>
      </p:sp>
      <p:sp>
        <p:nvSpPr>
          <p:cNvPr id="8" name="TextBox 7"/>
          <p:cNvSpPr txBox="1"/>
          <p:nvPr/>
        </p:nvSpPr>
        <p:spPr>
          <a:xfrm>
            <a:off x="749808" y="3364992"/>
            <a:ext cx="2011680" cy="566928"/>
          </a:xfrm>
          <a:prstGeom prst="rect">
            <a:avLst/>
          </a:prstGeom>
          <a:noFill/>
        </p:spPr>
        <p:txBody>
          <a:bodyPr wrap="square" anchor="ctr">
            <a:spAutoFit/>
          </a:bodyPr>
          <a:lstStyle/>
          <a:p>
            <a:pPr algn="ctr">
              <a:defRPr sz="1120" b="0">
                <a:solidFill>
                  <a:srgbClr val="364150"/>
                </a:solidFill>
              </a:defRPr>
            </a:pPr>
            <a:r>
              <a:t>À surveiller si classes</a:t>
            </a:r>
            <a:br/>
            <a:r>
              <a:t>déséquilibrées</a:t>
            </a:r>
          </a:p>
        </p:txBody>
      </p:sp>
      <p:sp>
        <p:nvSpPr>
          <p:cNvPr id="9" name="Rounded Rectangle 8"/>
          <p:cNvSpPr/>
          <p:nvPr/>
        </p:nvSpPr>
        <p:spPr>
          <a:xfrm>
            <a:off x="3401568" y="1600200"/>
            <a:ext cx="2487168"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01568" y="1600200"/>
            <a:ext cx="50292" cy="2788920"/>
          </a:xfrm>
          <a:prstGeom prst="rect">
            <a:avLst/>
          </a:prstGeom>
          <a:solidFill>
            <a:srgbClr val="F471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48456" y="1847088"/>
            <a:ext cx="2011680" cy="347472"/>
          </a:xfrm>
          <a:prstGeom prst="rect">
            <a:avLst/>
          </a:prstGeom>
          <a:noFill/>
        </p:spPr>
        <p:txBody>
          <a:bodyPr wrap="square" anchor="ctr">
            <a:spAutoFit/>
          </a:bodyPr>
          <a:lstStyle/>
          <a:p>
            <a:pPr algn="l">
              <a:defRPr sz="1550" b="1">
                <a:solidFill>
                  <a:srgbClr val="1B3A5E"/>
                </a:solidFill>
              </a:defRPr>
            </a:pPr>
            <a:r>
              <a:t>PRECISION</a:t>
            </a:r>
          </a:p>
        </p:txBody>
      </p:sp>
      <p:sp>
        <p:nvSpPr>
          <p:cNvPr id="12" name="TextBox 11"/>
          <p:cNvSpPr txBox="1"/>
          <p:nvPr/>
        </p:nvSpPr>
        <p:spPr>
          <a:xfrm>
            <a:off x="3648456" y="2487168"/>
            <a:ext cx="2011680" cy="621792"/>
          </a:xfrm>
          <a:prstGeom prst="rect">
            <a:avLst/>
          </a:prstGeom>
          <a:noFill/>
        </p:spPr>
        <p:txBody>
          <a:bodyPr wrap="square" anchor="ctr">
            <a:spAutoFit/>
          </a:bodyPr>
          <a:lstStyle/>
          <a:p>
            <a:pPr algn="ctr">
              <a:defRPr sz="1220" b="1">
                <a:solidFill>
                  <a:srgbClr val="F4711C"/>
                </a:solidFill>
              </a:defRPr>
            </a:pPr>
            <a:r>
              <a:t>Parmi les alertes,</a:t>
            </a:r>
            <a:br/>
            <a:r>
              <a:t>combien sont justes ?</a:t>
            </a:r>
          </a:p>
        </p:txBody>
      </p:sp>
      <p:sp>
        <p:nvSpPr>
          <p:cNvPr id="13" name="TextBox 12"/>
          <p:cNvSpPr txBox="1"/>
          <p:nvPr/>
        </p:nvSpPr>
        <p:spPr>
          <a:xfrm>
            <a:off x="3648456" y="3364992"/>
            <a:ext cx="2011680" cy="566928"/>
          </a:xfrm>
          <a:prstGeom prst="rect">
            <a:avLst/>
          </a:prstGeom>
          <a:noFill/>
        </p:spPr>
        <p:txBody>
          <a:bodyPr wrap="square" anchor="ctr">
            <a:spAutoFit/>
          </a:bodyPr>
          <a:lstStyle/>
          <a:p>
            <a:pPr algn="ctr">
              <a:defRPr sz="1120" b="0">
                <a:solidFill>
                  <a:srgbClr val="364150"/>
                </a:solidFill>
              </a:defRPr>
            </a:pPr>
            <a:r>
              <a:t>Prioritaire si les FP</a:t>
            </a:r>
            <a:br/>
            <a:r>
              <a:t>coûtent cher</a:t>
            </a:r>
          </a:p>
        </p:txBody>
      </p:sp>
      <p:sp>
        <p:nvSpPr>
          <p:cNvPr id="14" name="Rounded Rectangle 13"/>
          <p:cNvSpPr/>
          <p:nvPr/>
        </p:nvSpPr>
        <p:spPr>
          <a:xfrm>
            <a:off x="6300216" y="1600200"/>
            <a:ext cx="2487168"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0216" y="1600200"/>
            <a:ext cx="50292" cy="2788920"/>
          </a:xfrm>
          <a:prstGeom prst="rect">
            <a:avLst/>
          </a:prstGeom>
          <a:solidFill>
            <a:srgbClr val="DC37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47104" y="1847088"/>
            <a:ext cx="2011680" cy="347472"/>
          </a:xfrm>
          <a:prstGeom prst="rect">
            <a:avLst/>
          </a:prstGeom>
          <a:noFill/>
        </p:spPr>
        <p:txBody>
          <a:bodyPr wrap="square" anchor="ctr">
            <a:spAutoFit/>
          </a:bodyPr>
          <a:lstStyle/>
          <a:p>
            <a:pPr algn="l">
              <a:defRPr sz="1550" b="1">
                <a:solidFill>
                  <a:srgbClr val="1B3A5E"/>
                </a:solidFill>
              </a:defRPr>
            </a:pPr>
            <a:r>
              <a:t>RECALL</a:t>
            </a:r>
          </a:p>
        </p:txBody>
      </p:sp>
      <p:sp>
        <p:nvSpPr>
          <p:cNvPr id="17" name="TextBox 16"/>
          <p:cNvSpPr txBox="1"/>
          <p:nvPr/>
        </p:nvSpPr>
        <p:spPr>
          <a:xfrm>
            <a:off x="6547104" y="2487168"/>
            <a:ext cx="2011680" cy="621792"/>
          </a:xfrm>
          <a:prstGeom prst="rect">
            <a:avLst/>
          </a:prstGeom>
          <a:noFill/>
        </p:spPr>
        <p:txBody>
          <a:bodyPr wrap="square" anchor="ctr">
            <a:spAutoFit/>
          </a:bodyPr>
          <a:lstStyle/>
          <a:p>
            <a:pPr algn="ctr">
              <a:defRPr sz="1220" b="1">
                <a:solidFill>
                  <a:srgbClr val="DC3732"/>
                </a:solidFill>
              </a:defRPr>
            </a:pPr>
            <a:r>
              <a:t>Parmi les vraies pannes,</a:t>
            </a:r>
            <a:br/>
            <a:r>
              <a:t>combien sont détectées ?</a:t>
            </a:r>
          </a:p>
        </p:txBody>
      </p:sp>
      <p:sp>
        <p:nvSpPr>
          <p:cNvPr id="18" name="TextBox 17"/>
          <p:cNvSpPr txBox="1"/>
          <p:nvPr/>
        </p:nvSpPr>
        <p:spPr>
          <a:xfrm>
            <a:off x="6547104" y="3364992"/>
            <a:ext cx="2011680" cy="566928"/>
          </a:xfrm>
          <a:prstGeom prst="rect">
            <a:avLst/>
          </a:prstGeom>
          <a:noFill/>
        </p:spPr>
        <p:txBody>
          <a:bodyPr wrap="square" anchor="ctr">
            <a:spAutoFit/>
          </a:bodyPr>
          <a:lstStyle/>
          <a:p>
            <a:pPr algn="ctr">
              <a:defRPr sz="1120" b="0">
                <a:solidFill>
                  <a:srgbClr val="364150"/>
                </a:solidFill>
              </a:defRPr>
            </a:pPr>
            <a:r>
              <a:t>Prioritaire si les FN</a:t>
            </a:r>
            <a:br/>
            <a:r>
              <a:t>coûtent cher</a:t>
            </a:r>
          </a:p>
        </p:txBody>
      </p:sp>
      <p:sp>
        <p:nvSpPr>
          <p:cNvPr id="19" name="Rounded Rectangle 18"/>
          <p:cNvSpPr/>
          <p:nvPr/>
        </p:nvSpPr>
        <p:spPr>
          <a:xfrm>
            <a:off x="9198864" y="1600200"/>
            <a:ext cx="2487168"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98864" y="1600200"/>
            <a:ext cx="50292" cy="2788920"/>
          </a:xfrm>
          <a:prstGeom prst="rect">
            <a:avLst/>
          </a:prstGeom>
          <a:solidFill>
            <a:srgbClr val="59B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445752" y="1847088"/>
            <a:ext cx="2011680" cy="347472"/>
          </a:xfrm>
          <a:prstGeom prst="rect">
            <a:avLst/>
          </a:prstGeom>
          <a:noFill/>
        </p:spPr>
        <p:txBody>
          <a:bodyPr wrap="square" anchor="ctr">
            <a:spAutoFit/>
          </a:bodyPr>
          <a:lstStyle/>
          <a:p>
            <a:pPr algn="l">
              <a:defRPr sz="1550" b="1">
                <a:solidFill>
                  <a:srgbClr val="1B3A5E"/>
                </a:solidFill>
              </a:defRPr>
            </a:pPr>
            <a:r>
              <a:t>F1</a:t>
            </a:r>
          </a:p>
        </p:txBody>
      </p:sp>
      <p:sp>
        <p:nvSpPr>
          <p:cNvPr id="22" name="TextBox 21"/>
          <p:cNvSpPr txBox="1"/>
          <p:nvPr/>
        </p:nvSpPr>
        <p:spPr>
          <a:xfrm>
            <a:off x="9445752" y="2487168"/>
            <a:ext cx="2011680" cy="621792"/>
          </a:xfrm>
          <a:prstGeom prst="rect">
            <a:avLst/>
          </a:prstGeom>
          <a:noFill/>
        </p:spPr>
        <p:txBody>
          <a:bodyPr wrap="square" anchor="ctr">
            <a:spAutoFit/>
          </a:bodyPr>
          <a:lstStyle/>
          <a:p>
            <a:pPr algn="ctr">
              <a:defRPr sz="1220" b="1">
                <a:solidFill>
                  <a:srgbClr val="59B141"/>
                </a:solidFill>
              </a:defRPr>
            </a:pPr>
            <a:r>
              <a:t>Quel compromis entre</a:t>
            </a:r>
            <a:br/>
            <a:r>
              <a:t>Precision et Recall ?</a:t>
            </a:r>
          </a:p>
        </p:txBody>
      </p:sp>
      <p:sp>
        <p:nvSpPr>
          <p:cNvPr id="23" name="TextBox 22"/>
          <p:cNvSpPr txBox="1"/>
          <p:nvPr/>
        </p:nvSpPr>
        <p:spPr>
          <a:xfrm>
            <a:off x="9445752" y="3364992"/>
            <a:ext cx="2011680" cy="566928"/>
          </a:xfrm>
          <a:prstGeom prst="rect">
            <a:avLst/>
          </a:prstGeom>
          <a:noFill/>
        </p:spPr>
        <p:txBody>
          <a:bodyPr wrap="square" anchor="ctr">
            <a:spAutoFit/>
          </a:bodyPr>
          <a:lstStyle/>
          <a:p>
            <a:pPr algn="ctr">
              <a:defRPr sz="1120" b="0">
                <a:solidFill>
                  <a:srgbClr val="364150"/>
                </a:solidFill>
              </a:defRPr>
            </a:pPr>
            <a:r>
              <a:t>Utile si les deux erreurs</a:t>
            </a:r>
            <a:br/>
            <a:r>
              <a:t>comptent</a:t>
            </a:r>
          </a:p>
        </p:txBody>
      </p:sp>
      <p:sp>
        <p:nvSpPr>
          <p:cNvPr id="24" name="Rounded Rectangle 23"/>
          <p:cNvSpPr/>
          <p:nvPr/>
        </p:nvSpPr>
        <p:spPr>
          <a:xfrm>
            <a:off x="960120" y="4736592"/>
            <a:ext cx="10287000" cy="777240"/>
          </a:xfrm>
          <a:prstGeom prst="roundRect">
            <a:avLst/>
          </a:prstGeom>
          <a:solidFill>
            <a:srgbClr val="F0F5FC"/>
          </a:solidFill>
          <a:ln>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34440" y="4828032"/>
            <a:ext cx="9738360" cy="566928"/>
          </a:xfrm>
          <a:prstGeom prst="rect">
            <a:avLst/>
          </a:prstGeom>
          <a:noFill/>
        </p:spPr>
        <p:txBody>
          <a:bodyPr wrap="square" anchor="ctr">
            <a:spAutoFit/>
          </a:bodyPr>
          <a:lstStyle/>
          <a:p>
            <a:pPr algn="ctr">
              <a:defRPr sz="1300" b="1">
                <a:solidFill>
                  <a:srgbClr val="1B3A5E"/>
                </a:solidFill>
              </a:defRPr>
            </a:pPr>
            <a:r>
              <a:t>CHOIX MÉTIER : FN très coûteux → Recall  •  FP très coûteux → Precision  •  les deux → F1</a:t>
            </a:r>
          </a:p>
        </p:txBody>
      </p:sp>
      <p:sp>
        <p:nvSpPr>
          <p:cNvPr id="26" name="TextBox 25"/>
          <p:cNvSpPr txBox="1"/>
          <p:nvPr/>
        </p:nvSpPr>
        <p:spPr>
          <a:xfrm>
            <a:off x="1874519" y="5797296"/>
            <a:ext cx="8412480" cy="347472"/>
          </a:xfrm>
          <a:prstGeom prst="rect">
            <a:avLst/>
          </a:prstGeom>
          <a:noFill/>
        </p:spPr>
        <p:txBody>
          <a:bodyPr wrap="square" anchor="ctr">
            <a:spAutoFit/>
          </a:bodyPr>
          <a:lstStyle/>
          <a:p>
            <a:pPr algn="ctr">
              <a:defRPr sz="1250" b="1">
                <a:solidFill>
                  <a:srgbClr val="2D69EB"/>
                </a:solidFill>
              </a:defRPr>
            </a:pPr>
            <a:r>
              <a:t>Il n’existe pas de métrique universellement meilleure : le coût des erreurs guide le choix.</a:t>
            </a:r>
          </a:p>
        </p:txBody>
      </p:sp>
      <p:sp>
        <p:nvSpPr>
          <p:cNvPr id="27" name="TextBox 26"/>
          <p:cNvSpPr txBox="1"/>
          <p:nvPr/>
        </p:nvSpPr>
        <p:spPr>
          <a:xfrm>
            <a:off x="685800" y="6492240"/>
            <a:ext cx="3657600" cy="164592"/>
          </a:xfrm>
          <a:prstGeom prst="rect">
            <a:avLst/>
          </a:prstGeom>
          <a:noFill/>
        </p:spPr>
        <p:txBody>
          <a:bodyPr wrap="square" anchor="ctr">
            <a:spAutoFit/>
          </a:bodyPr>
          <a:lstStyle/>
          <a:p>
            <a:pPr algn="l">
              <a:defRPr sz="750" b="0">
                <a:solidFill>
                  <a:srgbClr val="647891"/>
                </a:solidFill>
              </a:defRPr>
            </a:pPr>
            <a:r>
              <a:t>Intelligence Artificielle — Jour 2</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228600"/>
            <a:ext cx="11155680" cy="822960"/>
          </a:xfrm>
          <a:prstGeom prst="round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438912"/>
            <a:ext cx="10515600" cy="365760"/>
          </a:xfrm>
          <a:prstGeom prst="rect">
            <a:avLst/>
          </a:prstGeom>
          <a:noFill/>
        </p:spPr>
        <p:txBody>
          <a:bodyPr wrap="square">
            <a:spAutoFit/>
          </a:bodyPr>
          <a:lstStyle/>
          <a:p>
            <a:pPr algn="l"/>
            <a:r>
              <a:rPr sz="1800" b="1">
                <a:solidFill>
                  <a:srgbClr val="FFFFFF"/>
                </a:solidFill>
                <a:latin typeface="Aptos"/>
              </a:rPr>
              <a:t>ARRÊT — DÉMONSTRATION + PRATIQUE</a:t>
            </a:r>
          </a:p>
        </p:txBody>
      </p:sp>
      <p:sp>
        <p:nvSpPr>
          <p:cNvPr id="4" name="TextBox 3"/>
          <p:cNvSpPr txBox="1"/>
          <p:nvPr/>
        </p:nvSpPr>
        <p:spPr>
          <a:xfrm>
            <a:off x="658368" y="1298448"/>
            <a:ext cx="10972800" cy="384048"/>
          </a:xfrm>
          <a:prstGeom prst="rect">
            <a:avLst/>
          </a:prstGeom>
          <a:noFill/>
        </p:spPr>
        <p:txBody>
          <a:bodyPr wrap="square">
            <a:spAutoFit/>
          </a:bodyPr>
          <a:lstStyle/>
          <a:p>
            <a:pPr algn="l"/>
            <a:r>
              <a:rPr sz="2000" b="1">
                <a:solidFill>
                  <a:srgbClr val="123153"/>
                </a:solidFill>
                <a:latin typeface="Aptos"/>
              </a:rPr>
              <a:t>Classification avec scikit-learn : LR, k-NN, arbre, SVM</a:t>
            </a:r>
          </a:p>
        </p:txBody>
      </p:sp>
      <p:sp>
        <p:nvSpPr>
          <p:cNvPr id="5" name="Rounded Rectangle 4"/>
          <p:cNvSpPr/>
          <p:nvPr/>
        </p:nvSpPr>
        <p:spPr>
          <a:xfrm>
            <a:off x="59436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920240"/>
            <a:ext cx="356616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084832"/>
            <a:ext cx="3246120" cy="256032"/>
          </a:xfrm>
          <a:prstGeom prst="rect">
            <a:avLst/>
          </a:prstGeom>
          <a:noFill/>
        </p:spPr>
        <p:txBody>
          <a:bodyPr wrap="square">
            <a:spAutoFit/>
          </a:bodyPr>
          <a:lstStyle/>
          <a:p>
            <a:r>
              <a:rPr sz="1150" b="1">
                <a:solidFill>
                  <a:srgbClr val="123153"/>
                </a:solidFill>
                <a:latin typeface="Aptos"/>
              </a:rPr>
              <a:t>1 — ENTRAÎNER LES MODÈLES</a:t>
            </a:r>
          </a:p>
        </p:txBody>
      </p:sp>
      <p:sp>
        <p:nvSpPr>
          <p:cNvPr id="8" name="TextBox 7"/>
          <p:cNvSpPr txBox="1"/>
          <p:nvPr/>
        </p:nvSpPr>
        <p:spPr>
          <a:xfrm>
            <a:off x="777240" y="2523744"/>
            <a:ext cx="3182112" cy="256032"/>
          </a:xfrm>
          <a:prstGeom prst="rect">
            <a:avLst/>
          </a:prstGeom>
          <a:noFill/>
        </p:spPr>
        <p:txBody>
          <a:bodyPr wrap="square">
            <a:spAutoFit/>
          </a:bodyPr>
          <a:lstStyle/>
          <a:p>
            <a:r>
              <a:rPr sz="950" b="0">
                <a:solidFill>
                  <a:srgbClr val="232D3A"/>
                </a:solidFill>
                <a:latin typeface="Aptos"/>
              </a:rPr>
              <a:t>• régression logistique</a:t>
            </a:r>
          </a:p>
        </p:txBody>
      </p:sp>
      <p:sp>
        <p:nvSpPr>
          <p:cNvPr id="9" name="TextBox 8"/>
          <p:cNvSpPr txBox="1"/>
          <p:nvPr/>
        </p:nvSpPr>
        <p:spPr>
          <a:xfrm>
            <a:off x="777240" y="2834640"/>
            <a:ext cx="3182112" cy="256032"/>
          </a:xfrm>
          <a:prstGeom prst="rect">
            <a:avLst/>
          </a:prstGeom>
          <a:noFill/>
        </p:spPr>
        <p:txBody>
          <a:bodyPr wrap="square">
            <a:spAutoFit/>
          </a:bodyPr>
          <a:lstStyle/>
          <a:p>
            <a:r>
              <a:rPr sz="950" b="0">
                <a:solidFill>
                  <a:srgbClr val="232D3A"/>
                </a:solidFill>
                <a:latin typeface="Aptos"/>
              </a:rPr>
              <a:t>• k-NN et arbre de décision</a:t>
            </a:r>
          </a:p>
        </p:txBody>
      </p:sp>
      <p:sp>
        <p:nvSpPr>
          <p:cNvPr id="10" name="TextBox 9"/>
          <p:cNvSpPr txBox="1"/>
          <p:nvPr/>
        </p:nvSpPr>
        <p:spPr>
          <a:xfrm>
            <a:off x="777240" y="3145536"/>
            <a:ext cx="3182112" cy="256032"/>
          </a:xfrm>
          <a:prstGeom prst="rect">
            <a:avLst/>
          </a:prstGeom>
          <a:noFill/>
        </p:spPr>
        <p:txBody>
          <a:bodyPr wrap="square">
            <a:spAutoFit/>
          </a:bodyPr>
          <a:lstStyle/>
          <a:p>
            <a:r>
              <a:rPr sz="950" b="0">
                <a:solidFill>
                  <a:srgbClr val="232D3A"/>
                </a:solidFill>
                <a:latin typeface="Aptos"/>
              </a:rPr>
              <a:t>• SVM</a:t>
            </a:r>
          </a:p>
        </p:txBody>
      </p:sp>
      <p:sp>
        <p:nvSpPr>
          <p:cNvPr id="11" name="Rounded Rectangle 10"/>
          <p:cNvSpPr/>
          <p:nvPr/>
        </p:nvSpPr>
        <p:spPr>
          <a:xfrm>
            <a:off x="443484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20240"/>
            <a:ext cx="356616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9432" y="2084832"/>
            <a:ext cx="3246120" cy="256032"/>
          </a:xfrm>
          <a:prstGeom prst="rect">
            <a:avLst/>
          </a:prstGeom>
          <a:noFill/>
        </p:spPr>
        <p:txBody>
          <a:bodyPr wrap="square">
            <a:spAutoFit/>
          </a:bodyPr>
          <a:lstStyle/>
          <a:p>
            <a:r>
              <a:rPr sz="1150" b="1">
                <a:solidFill>
                  <a:srgbClr val="123153"/>
                </a:solidFill>
                <a:latin typeface="Aptos"/>
              </a:rPr>
              <a:t>2 — ÉVALUER ET COMPARER</a:t>
            </a:r>
          </a:p>
        </p:txBody>
      </p:sp>
      <p:sp>
        <p:nvSpPr>
          <p:cNvPr id="14" name="TextBox 13"/>
          <p:cNvSpPr txBox="1"/>
          <p:nvPr/>
        </p:nvSpPr>
        <p:spPr>
          <a:xfrm>
            <a:off x="4617720" y="2523744"/>
            <a:ext cx="3182112" cy="256032"/>
          </a:xfrm>
          <a:prstGeom prst="rect">
            <a:avLst/>
          </a:prstGeom>
          <a:noFill/>
        </p:spPr>
        <p:txBody>
          <a:bodyPr wrap="square">
            <a:spAutoFit/>
          </a:bodyPr>
          <a:lstStyle/>
          <a:p>
            <a:r>
              <a:rPr sz="950" b="0">
                <a:solidFill>
                  <a:srgbClr val="232D3A"/>
                </a:solidFill>
                <a:latin typeface="Aptos"/>
              </a:rPr>
              <a:t>• matrice de confusion</a:t>
            </a:r>
          </a:p>
        </p:txBody>
      </p:sp>
      <p:sp>
        <p:nvSpPr>
          <p:cNvPr id="15" name="TextBox 14"/>
          <p:cNvSpPr txBox="1"/>
          <p:nvPr/>
        </p:nvSpPr>
        <p:spPr>
          <a:xfrm>
            <a:off x="4617720" y="2834640"/>
            <a:ext cx="3182112" cy="256032"/>
          </a:xfrm>
          <a:prstGeom prst="rect">
            <a:avLst/>
          </a:prstGeom>
          <a:noFill/>
        </p:spPr>
        <p:txBody>
          <a:bodyPr wrap="square">
            <a:spAutoFit/>
          </a:bodyPr>
          <a:lstStyle/>
          <a:p>
            <a:r>
              <a:rPr sz="950" b="0">
                <a:solidFill>
                  <a:srgbClr val="232D3A"/>
                </a:solidFill>
                <a:latin typeface="Aptos"/>
              </a:rPr>
              <a:t>• precision / recall / F1</a:t>
            </a:r>
          </a:p>
        </p:txBody>
      </p:sp>
      <p:sp>
        <p:nvSpPr>
          <p:cNvPr id="16" name="TextBox 15"/>
          <p:cNvSpPr txBox="1"/>
          <p:nvPr/>
        </p:nvSpPr>
        <p:spPr>
          <a:xfrm>
            <a:off x="4617720" y="3145536"/>
            <a:ext cx="3182112" cy="256032"/>
          </a:xfrm>
          <a:prstGeom prst="rect">
            <a:avLst/>
          </a:prstGeom>
          <a:noFill/>
        </p:spPr>
        <p:txBody>
          <a:bodyPr wrap="square">
            <a:spAutoFit/>
          </a:bodyPr>
          <a:lstStyle/>
          <a:p>
            <a:r>
              <a:rPr sz="950" b="0">
                <a:solidFill>
                  <a:srgbClr val="232D3A"/>
                </a:solidFill>
                <a:latin typeface="Aptos"/>
              </a:rPr>
              <a:t>• ROC-AUC et test de seuils</a:t>
            </a:r>
          </a:p>
        </p:txBody>
      </p:sp>
      <p:sp>
        <p:nvSpPr>
          <p:cNvPr id="17" name="Rounded Rectangle 16"/>
          <p:cNvSpPr/>
          <p:nvPr/>
        </p:nvSpPr>
        <p:spPr>
          <a:xfrm>
            <a:off x="8275320" y="1920240"/>
            <a:ext cx="3566160" cy="3364992"/>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1920240"/>
            <a:ext cx="356616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9912" y="2084832"/>
            <a:ext cx="3246120" cy="256032"/>
          </a:xfrm>
          <a:prstGeom prst="rect">
            <a:avLst/>
          </a:prstGeom>
          <a:noFill/>
        </p:spPr>
        <p:txBody>
          <a:bodyPr wrap="square">
            <a:spAutoFit/>
          </a:bodyPr>
          <a:lstStyle/>
          <a:p>
            <a:r>
              <a:rPr sz="1150" b="1">
                <a:solidFill>
                  <a:srgbClr val="123153"/>
                </a:solidFill>
                <a:latin typeface="Aptos"/>
              </a:rPr>
              <a:t>3 — JUSTIFIER LE CHOIX</a:t>
            </a:r>
          </a:p>
        </p:txBody>
      </p:sp>
      <p:sp>
        <p:nvSpPr>
          <p:cNvPr id="20" name="TextBox 19"/>
          <p:cNvSpPr txBox="1"/>
          <p:nvPr/>
        </p:nvSpPr>
        <p:spPr>
          <a:xfrm>
            <a:off x="8458200" y="2523744"/>
            <a:ext cx="3182112" cy="256032"/>
          </a:xfrm>
          <a:prstGeom prst="rect">
            <a:avLst/>
          </a:prstGeom>
          <a:noFill/>
        </p:spPr>
        <p:txBody>
          <a:bodyPr wrap="square">
            <a:spAutoFit/>
          </a:bodyPr>
          <a:lstStyle/>
          <a:p>
            <a:r>
              <a:rPr sz="950" b="0">
                <a:solidFill>
                  <a:srgbClr val="232D3A"/>
                </a:solidFill>
                <a:latin typeface="Aptos"/>
              </a:rPr>
              <a:t>• tableau comparatif</a:t>
            </a:r>
          </a:p>
        </p:txBody>
      </p:sp>
      <p:sp>
        <p:nvSpPr>
          <p:cNvPr id="21" name="TextBox 20"/>
          <p:cNvSpPr txBox="1"/>
          <p:nvPr/>
        </p:nvSpPr>
        <p:spPr>
          <a:xfrm>
            <a:off x="8458200" y="2834640"/>
            <a:ext cx="3182112" cy="256032"/>
          </a:xfrm>
          <a:prstGeom prst="rect">
            <a:avLst/>
          </a:prstGeom>
          <a:noFill/>
        </p:spPr>
        <p:txBody>
          <a:bodyPr wrap="square">
            <a:spAutoFit/>
          </a:bodyPr>
          <a:lstStyle/>
          <a:p>
            <a:r>
              <a:rPr sz="950" b="0">
                <a:solidFill>
                  <a:srgbClr val="232D3A"/>
                </a:solidFill>
                <a:latin typeface="Aptos"/>
              </a:rPr>
              <a:t>• courbe ROC</a:t>
            </a:r>
          </a:p>
        </p:txBody>
      </p:sp>
      <p:sp>
        <p:nvSpPr>
          <p:cNvPr id="22" name="TextBox 21"/>
          <p:cNvSpPr txBox="1"/>
          <p:nvPr/>
        </p:nvSpPr>
        <p:spPr>
          <a:xfrm>
            <a:off x="8458200" y="3145536"/>
            <a:ext cx="3182112" cy="256032"/>
          </a:xfrm>
          <a:prstGeom prst="rect">
            <a:avLst/>
          </a:prstGeom>
          <a:noFill/>
        </p:spPr>
        <p:txBody>
          <a:bodyPr wrap="square">
            <a:spAutoFit/>
          </a:bodyPr>
          <a:lstStyle/>
          <a:p>
            <a:r>
              <a:rPr sz="950" b="0">
                <a:solidFill>
                  <a:srgbClr val="232D3A"/>
                </a:solidFill>
                <a:latin typeface="Aptos"/>
              </a:rPr>
              <a:t>• modèle retenu + justification</a:t>
            </a:r>
          </a:p>
        </p:txBody>
      </p:sp>
      <p:sp>
        <p:nvSpPr>
          <p:cNvPr id="23" name="Rounded Rectangle 22"/>
          <p:cNvSpPr/>
          <p:nvPr/>
        </p:nvSpPr>
        <p:spPr>
          <a:xfrm>
            <a:off x="685800" y="5486400"/>
            <a:ext cx="10789920" cy="475488"/>
          </a:xfrm>
          <a:prstGeom prst="roundRect">
            <a:avLst/>
          </a:prstGeom>
          <a:solidFill>
            <a:srgbClr val="FFF6CC"/>
          </a:solidFill>
          <a:ln>
            <a:solidFill>
              <a:srgbClr val="FFF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5605272"/>
            <a:ext cx="10424160" cy="228600"/>
          </a:xfrm>
          <a:prstGeom prst="rect">
            <a:avLst/>
          </a:prstGeom>
          <a:noFill/>
        </p:spPr>
        <p:txBody>
          <a:bodyPr wrap="square">
            <a:spAutoFit/>
          </a:bodyPr>
          <a:lstStyle/>
          <a:p>
            <a:r>
              <a:rPr sz="980" b="1">
                <a:solidFill>
                  <a:srgbClr val="232D3A"/>
                </a:solidFill>
                <a:latin typeface="Aptos"/>
              </a:rPr>
              <a:t>À la fin : choisir un classifieur à partir des métriques et expliquer pourquoi il répond au besoin.</a:t>
            </a:r>
          </a:p>
        </p:txBody>
      </p:sp>
      <p:sp>
        <p:nvSpPr>
          <p:cNvPr id="25" name="Rectangle 24"/>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56032"/>
            <a:ext cx="2743200" cy="210312"/>
          </a:xfrm>
          <a:prstGeom prst="rect">
            <a:avLst/>
          </a:prstGeom>
          <a:noFill/>
        </p:spPr>
        <p:txBody>
          <a:bodyPr wrap="square" anchor="ctr">
            <a:spAutoFit/>
          </a:bodyPr>
          <a:lstStyle/>
          <a:p>
            <a:pPr algn="l">
              <a:defRPr sz="950" b="1">
                <a:solidFill>
                  <a:srgbClr val="2D69E1"/>
                </a:solidFill>
              </a:defRPr>
            </a:pPr>
            <a:r>
              <a:t>MÉTRIQUES</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Classes déséquilibrées : pourquoi l’accuracy peut mentir</a:t>
            </a:r>
          </a:p>
        </p:txBody>
      </p:sp>
      <p:sp>
        <p:nvSpPr>
          <p:cNvPr id="4" name="Rounded Rectangle 3"/>
          <p:cNvSpPr/>
          <p:nvPr/>
        </p:nvSpPr>
        <p:spPr>
          <a:xfrm>
            <a:off x="777240" y="1508760"/>
            <a:ext cx="3246120" cy="33375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240" y="1508760"/>
            <a:ext cx="50292" cy="3337560"/>
          </a:xfrm>
          <a:prstGeom prst="rect">
            <a:avLst/>
          </a:prstGeom>
          <a:solidFill>
            <a:srgbClr val="2D6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1691639"/>
            <a:ext cx="2743200" cy="320040"/>
          </a:xfrm>
          <a:prstGeom prst="rect">
            <a:avLst/>
          </a:prstGeom>
          <a:noFill/>
        </p:spPr>
        <p:txBody>
          <a:bodyPr wrap="square" anchor="ctr">
            <a:spAutoFit/>
          </a:bodyPr>
          <a:lstStyle/>
          <a:p>
            <a:pPr algn="l">
              <a:defRPr sz="1400" b="1">
                <a:solidFill>
                  <a:srgbClr val="193A5E"/>
                </a:solidFill>
              </a:defRPr>
            </a:pPr>
            <a:r>
              <a:t>DONNÉES</a:t>
            </a:r>
          </a:p>
        </p:txBody>
      </p:sp>
      <p:sp>
        <p:nvSpPr>
          <p:cNvPr id="7" name="TextBox 6"/>
          <p:cNvSpPr txBox="1"/>
          <p:nvPr/>
        </p:nvSpPr>
        <p:spPr>
          <a:xfrm>
            <a:off x="1051560" y="2258568"/>
            <a:ext cx="2743200" cy="640080"/>
          </a:xfrm>
          <a:prstGeom prst="rect">
            <a:avLst/>
          </a:prstGeom>
          <a:noFill/>
        </p:spPr>
        <p:txBody>
          <a:bodyPr wrap="square" anchor="ctr">
            <a:spAutoFit/>
          </a:bodyPr>
          <a:lstStyle/>
          <a:p>
            <a:pPr algn="ctr">
              <a:defRPr sz="1700" b="1">
                <a:solidFill>
                  <a:srgbClr val="2D69E1"/>
                </a:solidFill>
              </a:defRPr>
            </a:pPr>
            <a:r>
              <a:t>1 000 machines</a:t>
            </a:r>
          </a:p>
        </p:txBody>
      </p:sp>
      <p:sp>
        <p:nvSpPr>
          <p:cNvPr id="8" name="TextBox 7"/>
          <p:cNvSpPr txBox="1"/>
          <p:nvPr/>
        </p:nvSpPr>
        <p:spPr>
          <a:xfrm>
            <a:off x="1097280" y="3017520"/>
            <a:ext cx="2651760" cy="1600200"/>
          </a:xfrm>
          <a:prstGeom prst="rect">
            <a:avLst/>
          </a:prstGeom>
          <a:noFill/>
        </p:spPr>
        <p:txBody>
          <a:bodyPr wrap="square" anchor="ctr">
            <a:spAutoFit/>
          </a:bodyPr>
          <a:lstStyle/>
          <a:p>
            <a:pPr algn="ctr">
              <a:defRPr sz="1150" b="0">
                <a:solidFill>
                  <a:srgbClr val="374150"/>
                </a:solidFill>
              </a:defRPr>
            </a:pPr>
            <a:r>
              <a:t>950 sans panne</a:t>
            </a:r>
            <a:br/>
            <a:r>
              <a:t>50 avec panne</a:t>
            </a:r>
          </a:p>
        </p:txBody>
      </p:sp>
      <p:sp>
        <p:nvSpPr>
          <p:cNvPr id="9" name="Rounded Rectangle 8"/>
          <p:cNvSpPr/>
          <p:nvPr/>
        </p:nvSpPr>
        <p:spPr>
          <a:xfrm>
            <a:off x="4480560" y="1508760"/>
            <a:ext cx="3246120" cy="33375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60" y="1508760"/>
            <a:ext cx="50292" cy="333756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0" y="1691639"/>
            <a:ext cx="2743200" cy="320040"/>
          </a:xfrm>
          <a:prstGeom prst="rect">
            <a:avLst/>
          </a:prstGeom>
          <a:noFill/>
        </p:spPr>
        <p:txBody>
          <a:bodyPr wrap="square" anchor="ctr">
            <a:spAutoFit/>
          </a:bodyPr>
          <a:lstStyle/>
          <a:p>
            <a:pPr algn="l">
              <a:defRPr sz="1400" b="1">
                <a:solidFill>
                  <a:srgbClr val="193A5E"/>
                </a:solidFill>
              </a:defRPr>
            </a:pPr>
            <a:r>
              <a:t>MODÈLE NAÏF</a:t>
            </a:r>
          </a:p>
        </p:txBody>
      </p:sp>
      <p:sp>
        <p:nvSpPr>
          <p:cNvPr id="12" name="TextBox 11"/>
          <p:cNvSpPr txBox="1"/>
          <p:nvPr/>
        </p:nvSpPr>
        <p:spPr>
          <a:xfrm>
            <a:off x="4754880" y="2258568"/>
            <a:ext cx="2743200" cy="640080"/>
          </a:xfrm>
          <a:prstGeom prst="rect">
            <a:avLst/>
          </a:prstGeom>
          <a:noFill/>
        </p:spPr>
        <p:txBody>
          <a:bodyPr wrap="square" anchor="ctr">
            <a:spAutoFit/>
          </a:bodyPr>
          <a:lstStyle/>
          <a:p>
            <a:pPr algn="ctr">
              <a:defRPr sz="1700" b="1">
                <a:solidFill>
                  <a:srgbClr val="F57018"/>
                </a:solidFill>
              </a:defRPr>
            </a:pPr>
            <a:r>
              <a:t>Toujours « pas de panne »</a:t>
            </a:r>
          </a:p>
        </p:txBody>
      </p:sp>
      <p:sp>
        <p:nvSpPr>
          <p:cNvPr id="13" name="TextBox 12"/>
          <p:cNvSpPr txBox="1"/>
          <p:nvPr/>
        </p:nvSpPr>
        <p:spPr>
          <a:xfrm>
            <a:off x="4800600" y="3017520"/>
            <a:ext cx="2651760" cy="1600200"/>
          </a:xfrm>
          <a:prstGeom prst="rect">
            <a:avLst/>
          </a:prstGeom>
          <a:noFill/>
        </p:spPr>
        <p:txBody>
          <a:bodyPr wrap="square" anchor="ctr">
            <a:spAutoFit/>
          </a:bodyPr>
          <a:lstStyle/>
          <a:p>
            <a:pPr algn="ctr">
              <a:defRPr sz="1150" b="0">
                <a:solidFill>
                  <a:srgbClr val="374150"/>
                </a:solidFill>
              </a:defRPr>
            </a:pPr>
            <a:r>
              <a:t>950 prédictions correctes</a:t>
            </a:r>
          </a:p>
        </p:txBody>
      </p:sp>
      <p:sp>
        <p:nvSpPr>
          <p:cNvPr id="14" name="Rounded Rectangle 13"/>
          <p:cNvSpPr/>
          <p:nvPr/>
        </p:nvSpPr>
        <p:spPr>
          <a:xfrm>
            <a:off x="8183879" y="1508760"/>
            <a:ext cx="3246120" cy="33375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83879" y="1508760"/>
            <a:ext cx="50292" cy="3337560"/>
          </a:xfrm>
          <a:prstGeom prst="rect">
            <a:avLst/>
          </a:prstGeom>
          <a:solidFill>
            <a:srgbClr val="D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58200" y="1691639"/>
            <a:ext cx="2743200" cy="320040"/>
          </a:xfrm>
          <a:prstGeom prst="rect">
            <a:avLst/>
          </a:prstGeom>
          <a:noFill/>
        </p:spPr>
        <p:txBody>
          <a:bodyPr wrap="square" anchor="ctr">
            <a:spAutoFit/>
          </a:bodyPr>
          <a:lstStyle/>
          <a:p>
            <a:pPr algn="l">
              <a:defRPr sz="1400" b="1">
                <a:solidFill>
                  <a:srgbClr val="193A5E"/>
                </a:solidFill>
              </a:defRPr>
            </a:pPr>
            <a:r>
              <a:t>RÉSULTAT</a:t>
            </a:r>
          </a:p>
        </p:txBody>
      </p:sp>
      <p:sp>
        <p:nvSpPr>
          <p:cNvPr id="17" name="TextBox 16"/>
          <p:cNvSpPr txBox="1"/>
          <p:nvPr/>
        </p:nvSpPr>
        <p:spPr>
          <a:xfrm>
            <a:off x="8458200" y="2258568"/>
            <a:ext cx="2743200" cy="640080"/>
          </a:xfrm>
          <a:prstGeom prst="rect">
            <a:avLst/>
          </a:prstGeom>
          <a:noFill/>
        </p:spPr>
        <p:txBody>
          <a:bodyPr wrap="square" anchor="ctr">
            <a:spAutoFit/>
          </a:bodyPr>
          <a:lstStyle/>
          <a:p>
            <a:pPr algn="ctr">
              <a:defRPr sz="1700" b="1">
                <a:solidFill>
                  <a:srgbClr val="D73737"/>
                </a:solidFill>
              </a:defRPr>
            </a:pPr>
            <a:r>
              <a:t>Accuracy = 95 %</a:t>
            </a:r>
          </a:p>
        </p:txBody>
      </p:sp>
      <p:sp>
        <p:nvSpPr>
          <p:cNvPr id="18" name="TextBox 17"/>
          <p:cNvSpPr txBox="1"/>
          <p:nvPr/>
        </p:nvSpPr>
        <p:spPr>
          <a:xfrm>
            <a:off x="8503919" y="3017520"/>
            <a:ext cx="2651760" cy="1600200"/>
          </a:xfrm>
          <a:prstGeom prst="rect">
            <a:avLst/>
          </a:prstGeom>
          <a:noFill/>
        </p:spPr>
        <p:txBody>
          <a:bodyPr wrap="square" anchor="ctr">
            <a:spAutoFit/>
          </a:bodyPr>
          <a:lstStyle/>
          <a:p>
            <a:pPr algn="ctr">
              <a:defRPr sz="1150" b="0">
                <a:solidFill>
                  <a:srgbClr val="374150"/>
                </a:solidFill>
              </a:defRPr>
            </a:pPr>
            <a:r>
              <a:t>Recall panne = 0 %</a:t>
            </a:r>
            <a:br/>
            <a:r>
              <a:t>Aucune panne détectée</a:t>
            </a:r>
          </a:p>
        </p:txBody>
      </p:sp>
      <p:sp>
        <p:nvSpPr>
          <p:cNvPr id="19" name="Rounded Rectangle 18"/>
          <p:cNvSpPr/>
          <p:nvPr/>
        </p:nvSpPr>
        <p:spPr>
          <a:xfrm>
            <a:off x="1051560" y="5394960"/>
            <a:ext cx="10058400" cy="640080"/>
          </a:xfrm>
          <a:prstGeom prst="roundRect">
            <a:avLst/>
          </a:prstGeom>
          <a:solidFill>
            <a:srgbClr val="F6F9FE"/>
          </a:solidFill>
          <a:ln>
            <a:solidFill>
              <a:srgbClr val="D737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5477256"/>
            <a:ext cx="9509760" cy="457200"/>
          </a:xfrm>
          <a:prstGeom prst="rect">
            <a:avLst/>
          </a:prstGeom>
          <a:noFill/>
        </p:spPr>
        <p:txBody>
          <a:bodyPr wrap="square" anchor="ctr">
            <a:spAutoFit/>
          </a:bodyPr>
          <a:lstStyle/>
          <a:p>
            <a:pPr algn="ctr">
              <a:defRPr sz="1280" b="1">
                <a:solidFill>
                  <a:srgbClr val="D73737"/>
                </a:solidFill>
              </a:defRPr>
            </a:pPr>
            <a:r>
              <a:t>Une bonne accuracy peut masquer l’échec total sur la classe qui compte.</a:t>
            </a:r>
          </a:p>
        </p:txBody>
      </p:sp>
      <p:sp>
        <p:nvSpPr>
          <p:cNvPr id="21" name="TextBox 20"/>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Intelligence Artificielle — Jour 2</a:t>
            </a:r>
          </a:p>
        </p:txBody>
      </p:sp>
      <p:sp>
        <p:nvSpPr>
          <p:cNvPr id="22" name="TextBox 21"/>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56032"/>
            <a:ext cx="2743200" cy="210312"/>
          </a:xfrm>
          <a:prstGeom prst="rect">
            <a:avLst/>
          </a:prstGeom>
          <a:noFill/>
        </p:spPr>
        <p:txBody>
          <a:bodyPr wrap="square" anchor="ctr">
            <a:spAutoFit/>
          </a:bodyPr>
          <a:lstStyle/>
          <a:p>
            <a:pPr algn="l">
              <a:defRPr sz="950" b="1">
                <a:solidFill>
                  <a:srgbClr val="2D69E1"/>
                </a:solidFill>
              </a:defRPr>
            </a:pPr>
            <a:r>
              <a:t>ROC / AUC</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Seuil de décision : du score à l’action</a:t>
            </a:r>
          </a:p>
        </p:txBody>
      </p:sp>
      <p:sp>
        <p:nvSpPr>
          <p:cNvPr id="4" name="Rounded Rectangle 3"/>
          <p:cNvSpPr/>
          <p:nvPr/>
        </p:nvSpPr>
        <p:spPr>
          <a:xfrm>
            <a:off x="914400" y="1828800"/>
            <a:ext cx="2011680" cy="1325880"/>
          </a:xfrm>
          <a:prstGeom prst="roundRect">
            <a:avLst/>
          </a:prstGeom>
          <a:solidFill>
            <a:srgbClr val="F8FAFC"/>
          </a:solidFill>
          <a:ln>
            <a:solidFill>
              <a:srgbClr val="2D69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993392"/>
            <a:ext cx="1737360" cy="274320"/>
          </a:xfrm>
          <a:prstGeom prst="rect">
            <a:avLst/>
          </a:prstGeom>
          <a:noFill/>
        </p:spPr>
        <p:txBody>
          <a:bodyPr wrap="square" anchor="ctr">
            <a:spAutoFit/>
          </a:bodyPr>
          <a:lstStyle/>
          <a:p>
            <a:pPr algn="ctr">
              <a:defRPr sz="1250" b="1">
                <a:solidFill>
                  <a:srgbClr val="193A5E"/>
                </a:solidFill>
              </a:defRPr>
            </a:pPr>
            <a:r>
              <a:t>Score</a:t>
            </a:r>
          </a:p>
        </p:txBody>
      </p:sp>
      <p:sp>
        <p:nvSpPr>
          <p:cNvPr id="6" name="TextBox 5"/>
          <p:cNvSpPr txBox="1"/>
          <p:nvPr/>
        </p:nvSpPr>
        <p:spPr>
          <a:xfrm>
            <a:off x="1051560" y="2450592"/>
            <a:ext cx="1737360" cy="365760"/>
          </a:xfrm>
          <a:prstGeom prst="rect">
            <a:avLst/>
          </a:prstGeom>
          <a:noFill/>
        </p:spPr>
        <p:txBody>
          <a:bodyPr wrap="square" anchor="ctr">
            <a:spAutoFit/>
          </a:bodyPr>
          <a:lstStyle/>
          <a:p>
            <a:pPr algn="ctr">
              <a:defRPr sz="1450" b="1">
                <a:solidFill>
                  <a:srgbClr val="2D69E1"/>
                </a:solidFill>
              </a:defRPr>
            </a:pPr>
            <a:r>
              <a:t>0 → 1</a:t>
            </a:r>
          </a:p>
        </p:txBody>
      </p:sp>
      <p:sp>
        <p:nvSpPr>
          <p:cNvPr id="7" name="TextBox 6"/>
          <p:cNvSpPr txBox="1"/>
          <p:nvPr/>
        </p:nvSpPr>
        <p:spPr>
          <a:xfrm>
            <a:off x="2999232" y="2176272"/>
            <a:ext cx="502920" cy="411480"/>
          </a:xfrm>
          <a:prstGeom prst="rect">
            <a:avLst/>
          </a:prstGeom>
          <a:noFill/>
        </p:spPr>
        <p:txBody>
          <a:bodyPr wrap="square" anchor="ctr">
            <a:spAutoFit/>
          </a:bodyPr>
          <a:lstStyle/>
          <a:p>
            <a:pPr algn="ctr">
              <a:defRPr sz="2400" b="1">
                <a:solidFill>
                  <a:srgbClr val="69788C"/>
                </a:solidFill>
              </a:defRPr>
            </a:pPr>
            <a:r>
              <a:t>→</a:t>
            </a:r>
          </a:p>
        </p:txBody>
      </p:sp>
      <p:sp>
        <p:nvSpPr>
          <p:cNvPr id="8" name="Rounded Rectangle 7"/>
          <p:cNvSpPr/>
          <p:nvPr/>
        </p:nvSpPr>
        <p:spPr>
          <a:xfrm>
            <a:off x="3657600" y="1828800"/>
            <a:ext cx="2011680" cy="1325880"/>
          </a:xfrm>
          <a:prstGeom prst="roundRect">
            <a:avLst/>
          </a:prstGeom>
          <a:solidFill>
            <a:srgbClr val="F8FAFC"/>
          </a:solidFill>
          <a:ln>
            <a:solidFill>
              <a:srgbClr val="6E4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94760" y="1993392"/>
            <a:ext cx="1737360" cy="274320"/>
          </a:xfrm>
          <a:prstGeom prst="rect">
            <a:avLst/>
          </a:prstGeom>
          <a:noFill/>
        </p:spPr>
        <p:txBody>
          <a:bodyPr wrap="square" anchor="ctr">
            <a:spAutoFit/>
          </a:bodyPr>
          <a:lstStyle/>
          <a:p>
            <a:pPr algn="ctr">
              <a:defRPr sz="1250" b="1">
                <a:solidFill>
                  <a:srgbClr val="193A5E"/>
                </a:solidFill>
              </a:defRPr>
            </a:pPr>
            <a:r>
              <a:t>Seuil</a:t>
            </a:r>
          </a:p>
        </p:txBody>
      </p:sp>
      <p:sp>
        <p:nvSpPr>
          <p:cNvPr id="10" name="TextBox 9"/>
          <p:cNvSpPr txBox="1"/>
          <p:nvPr/>
        </p:nvSpPr>
        <p:spPr>
          <a:xfrm>
            <a:off x="3794760" y="2450592"/>
            <a:ext cx="1737360" cy="365760"/>
          </a:xfrm>
          <a:prstGeom prst="rect">
            <a:avLst/>
          </a:prstGeom>
          <a:noFill/>
        </p:spPr>
        <p:txBody>
          <a:bodyPr wrap="square" anchor="ctr">
            <a:spAutoFit/>
          </a:bodyPr>
          <a:lstStyle/>
          <a:p>
            <a:pPr algn="ctr">
              <a:defRPr sz="1450" b="1">
                <a:solidFill>
                  <a:srgbClr val="6E4BC8"/>
                </a:solidFill>
              </a:defRPr>
            </a:pPr>
            <a:r>
              <a:t>ex. 0,70</a:t>
            </a:r>
          </a:p>
        </p:txBody>
      </p:sp>
      <p:sp>
        <p:nvSpPr>
          <p:cNvPr id="11" name="TextBox 10"/>
          <p:cNvSpPr txBox="1"/>
          <p:nvPr/>
        </p:nvSpPr>
        <p:spPr>
          <a:xfrm>
            <a:off x="5742431" y="2176272"/>
            <a:ext cx="502920" cy="411480"/>
          </a:xfrm>
          <a:prstGeom prst="rect">
            <a:avLst/>
          </a:prstGeom>
          <a:noFill/>
        </p:spPr>
        <p:txBody>
          <a:bodyPr wrap="square" anchor="ctr">
            <a:spAutoFit/>
          </a:bodyPr>
          <a:lstStyle/>
          <a:p>
            <a:pPr algn="ctr">
              <a:defRPr sz="2400" b="1">
                <a:solidFill>
                  <a:srgbClr val="69788C"/>
                </a:solidFill>
              </a:defRPr>
            </a:pPr>
            <a:r>
              <a:t>→</a:t>
            </a:r>
          </a:p>
        </p:txBody>
      </p:sp>
      <p:sp>
        <p:nvSpPr>
          <p:cNvPr id="12" name="Rounded Rectangle 11"/>
          <p:cNvSpPr/>
          <p:nvPr/>
        </p:nvSpPr>
        <p:spPr>
          <a:xfrm>
            <a:off x="6400800" y="1828800"/>
            <a:ext cx="2011680" cy="1325880"/>
          </a:xfrm>
          <a:prstGeom prst="roundRect">
            <a:avLst/>
          </a:prstGeom>
          <a:solidFill>
            <a:srgbClr val="F8FAFC"/>
          </a:solidFill>
          <a:ln>
            <a:solidFill>
              <a:srgbClr val="F57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1993392"/>
            <a:ext cx="1737360" cy="274320"/>
          </a:xfrm>
          <a:prstGeom prst="rect">
            <a:avLst/>
          </a:prstGeom>
          <a:noFill/>
        </p:spPr>
        <p:txBody>
          <a:bodyPr wrap="square" anchor="ctr">
            <a:spAutoFit/>
          </a:bodyPr>
          <a:lstStyle/>
          <a:p>
            <a:pPr algn="ctr">
              <a:defRPr sz="1250" b="1">
                <a:solidFill>
                  <a:srgbClr val="193A5E"/>
                </a:solidFill>
              </a:defRPr>
            </a:pPr>
            <a:r>
              <a:t>Décision</a:t>
            </a:r>
          </a:p>
        </p:txBody>
      </p:sp>
      <p:sp>
        <p:nvSpPr>
          <p:cNvPr id="14" name="TextBox 13"/>
          <p:cNvSpPr txBox="1"/>
          <p:nvPr/>
        </p:nvSpPr>
        <p:spPr>
          <a:xfrm>
            <a:off x="6537960" y="2450592"/>
            <a:ext cx="1737360" cy="365760"/>
          </a:xfrm>
          <a:prstGeom prst="rect">
            <a:avLst/>
          </a:prstGeom>
          <a:noFill/>
        </p:spPr>
        <p:txBody>
          <a:bodyPr wrap="square" anchor="ctr">
            <a:spAutoFit/>
          </a:bodyPr>
          <a:lstStyle/>
          <a:p>
            <a:pPr algn="ctr">
              <a:defRPr sz="1450" b="1">
                <a:solidFill>
                  <a:srgbClr val="F57018"/>
                </a:solidFill>
              </a:defRPr>
            </a:pPr>
            <a:r>
              <a:t>Alerte OUI / NON</a:t>
            </a:r>
          </a:p>
        </p:txBody>
      </p:sp>
      <p:sp>
        <p:nvSpPr>
          <p:cNvPr id="15" name="TextBox 14"/>
          <p:cNvSpPr txBox="1"/>
          <p:nvPr/>
        </p:nvSpPr>
        <p:spPr>
          <a:xfrm>
            <a:off x="8485632" y="2176272"/>
            <a:ext cx="502920" cy="411480"/>
          </a:xfrm>
          <a:prstGeom prst="rect">
            <a:avLst/>
          </a:prstGeom>
          <a:noFill/>
        </p:spPr>
        <p:txBody>
          <a:bodyPr wrap="square" anchor="ctr">
            <a:spAutoFit/>
          </a:bodyPr>
          <a:lstStyle/>
          <a:p>
            <a:pPr algn="ctr">
              <a:defRPr sz="2400" b="1">
                <a:solidFill>
                  <a:srgbClr val="69788C"/>
                </a:solidFill>
              </a:defRPr>
            </a:pPr>
            <a:r>
              <a:t>→</a:t>
            </a:r>
          </a:p>
        </p:txBody>
      </p:sp>
      <p:sp>
        <p:nvSpPr>
          <p:cNvPr id="16" name="Rounded Rectangle 15"/>
          <p:cNvSpPr/>
          <p:nvPr/>
        </p:nvSpPr>
        <p:spPr>
          <a:xfrm>
            <a:off x="9144000" y="1828800"/>
            <a:ext cx="2011680" cy="1325880"/>
          </a:xfrm>
          <a:prstGeom prst="roundRect">
            <a:avLst/>
          </a:prstGeom>
          <a:solidFill>
            <a:srgbClr val="F8FAFC"/>
          </a:solidFill>
          <a:ln>
            <a:solidFill>
              <a:srgbClr val="5DB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81160" y="1993392"/>
            <a:ext cx="1737360" cy="274320"/>
          </a:xfrm>
          <a:prstGeom prst="rect">
            <a:avLst/>
          </a:prstGeom>
          <a:noFill/>
        </p:spPr>
        <p:txBody>
          <a:bodyPr wrap="square" anchor="ctr">
            <a:spAutoFit/>
          </a:bodyPr>
          <a:lstStyle/>
          <a:p>
            <a:pPr algn="ctr">
              <a:defRPr sz="1250" b="1">
                <a:solidFill>
                  <a:srgbClr val="193A5E"/>
                </a:solidFill>
              </a:defRPr>
            </a:pPr>
            <a:r>
              <a:t>Action</a:t>
            </a:r>
          </a:p>
        </p:txBody>
      </p:sp>
      <p:sp>
        <p:nvSpPr>
          <p:cNvPr id="18" name="TextBox 17"/>
          <p:cNvSpPr txBox="1"/>
          <p:nvPr/>
        </p:nvSpPr>
        <p:spPr>
          <a:xfrm>
            <a:off x="9281160" y="2450592"/>
            <a:ext cx="1737360" cy="365760"/>
          </a:xfrm>
          <a:prstGeom prst="rect">
            <a:avLst/>
          </a:prstGeom>
          <a:noFill/>
        </p:spPr>
        <p:txBody>
          <a:bodyPr wrap="square" anchor="ctr">
            <a:spAutoFit/>
          </a:bodyPr>
          <a:lstStyle/>
          <a:p>
            <a:pPr algn="ctr">
              <a:defRPr sz="1450" b="1">
                <a:solidFill>
                  <a:srgbClr val="5DB541"/>
                </a:solidFill>
              </a:defRPr>
            </a:pPr>
            <a:r>
              <a:t>Maintenance</a:t>
            </a:r>
          </a:p>
        </p:txBody>
      </p:sp>
      <p:sp>
        <p:nvSpPr>
          <p:cNvPr id="19" name="Rounded Rectangle 18"/>
          <p:cNvSpPr/>
          <p:nvPr/>
        </p:nvSpPr>
        <p:spPr>
          <a:xfrm>
            <a:off x="1828800" y="3703320"/>
            <a:ext cx="3886200" cy="11430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28800" y="3703320"/>
            <a:ext cx="50292" cy="1143000"/>
          </a:xfrm>
          <a:prstGeom prst="rect">
            <a:avLst/>
          </a:prstGeom>
          <a:solidFill>
            <a:srgbClr val="D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03120" y="3886200"/>
            <a:ext cx="3383280" cy="320040"/>
          </a:xfrm>
          <a:prstGeom prst="rect">
            <a:avLst/>
          </a:prstGeom>
          <a:noFill/>
        </p:spPr>
        <p:txBody>
          <a:bodyPr wrap="square" anchor="ctr">
            <a:spAutoFit/>
          </a:bodyPr>
          <a:lstStyle/>
          <a:p>
            <a:pPr algn="l">
              <a:defRPr sz="1400" b="1">
                <a:solidFill>
                  <a:srgbClr val="193A5E"/>
                </a:solidFill>
              </a:defRPr>
            </a:pPr>
            <a:r>
              <a:t>SEUIL PLUS BAS</a:t>
            </a:r>
          </a:p>
        </p:txBody>
      </p:sp>
      <p:sp>
        <p:nvSpPr>
          <p:cNvPr id="22" name="TextBox 21"/>
          <p:cNvSpPr txBox="1"/>
          <p:nvPr/>
        </p:nvSpPr>
        <p:spPr>
          <a:xfrm>
            <a:off x="2103120" y="4453128"/>
            <a:ext cx="3383280" cy="640080"/>
          </a:xfrm>
          <a:prstGeom prst="rect">
            <a:avLst/>
          </a:prstGeom>
          <a:noFill/>
        </p:spPr>
        <p:txBody>
          <a:bodyPr wrap="square" anchor="ctr">
            <a:spAutoFit/>
          </a:bodyPr>
          <a:lstStyle/>
          <a:p>
            <a:pPr algn="ctr">
              <a:defRPr sz="1700" b="1">
                <a:solidFill>
                  <a:srgbClr val="D73737"/>
                </a:solidFill>
              </a:defRPr>
            </a:pPr>
            <a:r>
              <a:t>Plus de pannes détectées</a:t>
            </a:r>
          </a:p>
        </p:txBody>
      </p:sp>
      <p:sp>
        <p:nvSpPr>
          <p:cNvPr id="23" name="TextBox 22"/>
          <p:cNvSpPr txBox="1"/>
          <p:nvPr/>
        </p:nvSpPr>
        <p:spPr>
          <a:xfrm>
            <a:off x="2148840" y="5212079"/>
            <a:ext cx="3291840" cy="0"/>
          </a:xfrm>
          <a:prstGeom prst="rect">
            <a:avLst/>
          </a:prstGeom>
          <a:noFill/>
        </p:spPr>
        <p:txBody>
          <a:bodyPr wrap="square" anchor="ctr">
            <a:spAutoFit/>
          </a:bodyPr>
          <a:lstStyle/>
          <a:p>
            <a:pPr algn="ctr">
              <a:defRPr sz="1150" b="0">
                <a:solidFill>
                  <a:srgbClr val="374150"/>
                </a:solidFill>
              </a:defRPr>
            </a:pPr>
            <a:r>
              <a:t>plus de fausses alertes</a:t>
            </a:r>
          </a:p>
        </p:txBody>
      </p:sp>
      <p:sp>
        <p:nvSpPr>
          <p:cNvPr id="24" name="Rounded Rectangle 23"/>
          <p:cNvSpPr/>
          <p:nvPr/>
        </p:nvSpPr>
        <p:spPr>
          <a:xfrm>
            <a:off x="6446520" y="3703320"/>
            <a:ext cx="3886200" cy="114300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46520" y="3703320"/>
            <a:ext cx="50292" cy="1143000"/>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0840" y="3886200"/>
            <a:ext cx="3383280" cy="320040"/>
          </a:xfrm>
          <a:prstGeom prst="rect">
            <a:avLst/>
          </a:prstGeom>
          <a:noFill/>
        </p:spPr>
        <p:txBody>
          <a:bodyPr wrap="square" anchor="ctr">
            <a:spAutoFit/>
          </a:bodyPr>
          <a:lstStyle/>
          <a:p>
            <a:pPr algn="l">
              <a:defRPr sz="1400" b="1">
                <a:solidFill>
                  <a:srgbClr val="193A5E"/>
                </a:solidFill>
              </a:defRPr>
            </a:pPr>
            <a:r>
              <a:t>SEUIL PLUS HAUT</a:t>
            </a:r>
          </a:p>
        </p:txBody>
      </p:sp>
      <p:sp>
        <p:nvSpPr>
          <p:cNvPr id="27" name="TextBox 26"/>
          <p:cNvSpPr txBox="1"/>
          <p:nvPr/>
        </p:nvSpPr>
        <p:spPr>
          <a:xfrm>
            <a:off x="6720840" y="4453128"/>
            <a:ext cx="3383280" cy="640080"/>
          </a:xfrm>
          <a:prstGeom prst="rect">
            <a:avLst/>
          </a:prstGeom>
          <a:noFill/>
        </p:spPr>
        <p:txBody>
          <a:bodyPr wrap="square" anchor="ctr">
            <a:spAutoFit/>
          </a:bodyPr>
          <a:lstStyle/>
          <a:p>
            <a:pPr algn="ctr">
              <a:defRPr sz="1700" b="1">
                <a:solidFill>
                  <a:srgbClr val="5DB541"/>
                </a:solidFill>
              </a:defRPr>
            </a:pPr>
            <a:r>
              <a:t>Moins de fausses alertes</a:t>
            </a:r>
          </a:p>
        </p:txBody>
      </p:sp>
      <p:sp>
        <p:nvSpPr>
          <p:cNvPr id="28" name="TextBox 27"/>
          <p:cNvSpPr txBox="1"/>
          <p:nvPr/>
        </p:nvSpPr>
        <p:spPr>
          <a:xfrm>
            <a:off x="6766559" y="5212079"/>
            <a:ext cx="3291840" cy="0"/>
          </a:xfrm>
          <a:prstGeom prst="rect">
            <a:avLst/>
          </a:prstGeom>
          <a:noFill/>
        </p:spPr>
        <p:txBody>
          <a:bodyPr wrap="square" anchor="ctr">
            <a:spAutoFit/>
          </a:bodyPr>
          <a:lstStyle/>
          <a:p>
            <a:pPr algn="ctr">
              <a:defRPr sz="1150" b="0">
                <a:solidFill>
                  <a:srgbClr val="374150"/>
                </a:solidFill>
              </a:defRPr>
            </a:pPr>
            <a:r>
              <a:t>plus de pannes manquées</a:t>
            </a:r>
          </a:p>
        </p:txBody>
      </p:sp>
      <p:sp>
        <p:nvSpPr>
          <p:cNvPr id="29" name="Rounded Rectangle 28"/>
          <p:cNvSpPr/>
          <p:nvPr/>
        </p:nvSpPr>
        <p:spPr>
          <a:xfrm>
            <a:off x="1051560" y="5394960"/>
            <a:ext cx="10058400" cy="640080"/>
          </a:xfrm>
          <a:prstGeom prst="roundRect">
            <a:avLst/>
          </a:prstGeom>
          <a:solidFill>
            <a:srgbClr val="F6F9FE"/>
          </a:solidFill>
          <a:ln>
            <a:solidFill>
              <a:srgbClr val="6E4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25880" y="5477256"/>
            <a:ext cx="9509760" cy="457200"/>
          </a:xfrm>
          <a:prstGeom prst="rect">
            <a:avLst/>
          </a:prstGeom>
          <a:noFill/>
        </p:spPr>
        <p:txBody>
          <a:bodyPr wrap="square" anchor="ctr">
            <a:spAutoFit/>
          </a:bodyPr>
          <a:lstStyle/>
          <a:p>
            <a:pPr algn="ctr">
              <a:defRPr sz="1280" b="1">
                <a:solidFill>
                  <a:srgbClr val="6E4BC8"/>
                </a:solidFill>
              </a:defRPr>
            </a:pPr>
            <a:r>
              <a:t>Le seuil se choisit selon le coût métier des faux positifs et des faux négatifs.</a:t>
            </a:r>
          </a:p>
        </p:txBody>
      </p:sp>
      <p:sp>
        <p:nvSpPr>
          <p:cNvPr id="31" name="TextBox 30"/>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Intelligence Artificielle — Jour 2</a:t>
            </a:r>
          </a:p>
        </p:txBody>
      </p:sp>
      <p:sp>
        <p:nvSpPr>
          <p:cNvPr id="32" name="TextBox 31"/>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56032"/>
            <a:ext cx="2743200" cy="210312"/>
          </a:xfrm>
          <a:prstGeom prst="rect">
            <a:avLst/>
          </a:prstGeom>
          <a:noFill/>
        </p:spPr>
        <p:txBody>
          <a:bodyPr wrap="square" anchor="ctr">
            <a:spAutoFit/>
          </a:bodyPr>
          <a:lstStyle/>
          <a:p>
            <a:pPr algn="l">
              <a:defRPr sz="950" b="1">
                <a:solidFill>
                  <a:srgbClr val="2D69E1"/>
                </a:solidFill>
              </a:defRPr>
            </a:pPr>
            <a:r>
              <a:t>ROC / AUC</a:t>
            </a:r>
          </a:p>
        </p:txBody>
      </p:sp>
      <p:sp>
        <p:nvSpPr>
          <p:cNvPr id="3" name="TextBox 2"/>
          <p:cNvSpPr txBox="1"/>
          <p:nvPr/>
        </p:nvSpPr>
        <p:spPr>
          <a:xfrm>
            <a:off x="685800" y="576072"/>
            <a:ext cx="10789920" cy="502920"/>
          </a:xfrm>
          <a:prstGeom prst="rect">
            <a:avLst/>
          </a:prstGeom>
          <a:noFill/>
        </p:spPr>
        <p:txBody>
          <a:bodyPr wrap="square" anchor="ctr">
            <a:spAutoFit/>
          </a:bodyPr>
          <a:lstStyle/>
          <a:p>
            <a:pPr algn="l">
              <a:defRPr sz="2300" b="1">
                <a:solidFill>
                  <a:srgbClr val="193A5E"/>
                </a:solidFill>
              </a:defRPr>
            </a:pPr>
            <a:r>
              <a:t>Courbe ROC et AUC : mesurer le pouvoir de classement</a:t>
            </a:r>
          </a:p>
        </p:txBody>
      </p:sp>
      <p:cxnSp>
        <p:nvCxnSpPr>
          <p:cNvPr id="4" name="Connector 3"/>
          <p:cNvCxnSpPr/>
          <p:nvPr/>
        </p:nvCxnSpPr>
        <p:spPr>
          <a:xfrm>
            <a:off x="1051560" y="5029200"/>
            <a:ext cx="4892040" cy="0"/>
          </a:xfrm>
          <a:prstGeom prst="line">
            <a:avLst/>
          </a:prstGeom>
          <a:ln w="22860">
            <a:solidFill>
              <a:srgbClr val="193A5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51560" y="1508760"/>
            <a:ext cx="0" cy="3520440"/>
          </a:xfrm>
          <a:prstGeom prst="line">
            <a:avLst/>
          </a:prstGeom>
          <a:ln w="22860">
            <a:solidFill>
              <a:srgbClr val="193A5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51560" y="1508760"/>
            <a:ext cx="4892040" cy="3520440"/>
          </a:xfrm>
          <a:prstGeom prst="line">
            <a:avLst/>
          </a:prstGeom>
          <a:ln w="12700">
            <a:solidFill>
              <a:srgbClr val="69788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84048" y="1481328"/>
            <a:ext cx="640080" cy="457200"/>
          </a:xfrm>
          <a:prstGeom prst="rect">
            <a:avLst/>
          </a:prstGeom>
          <a:noFill/>
        </p:spPr>
        <p:txBody>
          <a:bodyPr wrap="square" anchor="ctr">
            <a:spAutoFit/>
          </a:bodyPr>
          <a:lstStyle/>
          <a:p>
            <a:pPr algn="ctr">
              <a:defRPr sz="1050" b="1">
                <a:solidFill>
                  <a:srgbClr val="69788C"/>
                </a:solidFill>
              </a:defRPr>
            </a:pPr>
            <a:r>
              <a:t>TPR /</a:t>
            </a:r>
            <a:br/>
            <a:r>
              <a:t>Recall</a:t>
            </a:r>
          </a:p>
        </p:txBody>
      </p:sp>
      <p:sp>
        <p:nvSpPr>
          <p:cNvPr id="8" name="TextBox 7"/>
          <p:cNvSpPr txBox="1"/>
          <p:nvPr/>
        </p:nvSpPr>
        <p:spPr>
          <a:xfrm>
            <a:off x="5440680" y="5010912"/>
            <a:ext cx="457200" cy="274320"/>
          </a:xfrm>
          <a:prstGeom prst="rect">
            <a:avLst/>
          </a:prstGeom>
          <a:noFill/>
        </p:spPr>
        <p:txBody>
          <a:bodyPr wrap="square" anchor="ctr">
            <a:spAutoFit/>
          </a:bodyPr>
          <a:lstStyle/>
          <a:p>
            <a:pPr algn="ctr">
              <a:defRPr sz="1050" b="1">
                <a:solidFill>
                  <a:srgbClr val="69788C"/>
                </a:solidFill>
              </a:defRPr>
            </a:pPr>
            <a:r>
              <a:t>FPR</a:t>
            </a:r>
          </a:p>
        </p:txBody>
      </p:sp>
      <p:cxnSp>
        <p:nvCxnSpPr>
          <p:cNvPr id="9" name="Connector 8"/>
          <p:cNvCxnSpPr/>
          <p:nvPr/>
        </p:nvCxnSpPr>
        <p:spPr>
          <a:xfrm flipV="1">
            <a:off x="1051560" y="3520440"/>
            <a:ext cx="640079" cy="1508760"/>
          </a:xfrm>
          <a:prstGeom prst="line">
            <a:avLst/>
          </a:prstGeom>
          <a:ln w="30480">
            <a:solidFill>
              <a:srgbClr val="2D69E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691639" y="2743200"/>
            <a:ext cx="1005841" cy="777240"/>
          </a:xfrm>
          <a:prstGeom prst="line">
            <a:avLst/>
          </a:prstGeom>
          <a:ln w="30480">
            <a:solidFill>
              <a:srgbClr val="2D69E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697480" y="2103120"/>
            <a:ext cx="1417320" cy="640080"/>
          </a:xfrm>
          <a:prstGeom prst="line">
            <a:avLst/>
          </a:prstGeom>
          <a:ln w="30480">
            <a:solidFill>
              <a:srgbClr val="2D69E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114800" y="1764792"/>
            <a:ext cx="1188720" cy="338328"/>
          </a:xfrm>
          <a:prstGeom prst="line">
            <a:avLst/>
          </a:prstGeom>
          <a:ln w="30480">
            <a:solidFill>
              <a:srgbClr val="2D69E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5303520" y="1508760"/>
            <a:ext cx="640080" cy="256032"/>
          </a:xfrm>
          <a:prstGeom prst="line">
            <a:avLst/>
          </a:prstGeom>
          <a:ln w="30480">
            <a:solidFill>
              <a:srgbClr val="2D69E1"/>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537960" y="1572768"/>
            <a:ext cx="4480560" cy="1874519"/>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37960" y="1572768"/>
            <a:ext cx="50292" cy="1874519"/>
          </a:xfrm>
          <a:prstGeom prst="rect">
            <a:avLst/>
          </a:prstGeom>
          <a:solidFill>
            <a:srgbClr val="5DB5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12280" y="1755648"/>
            <a:ext cx="3977640" cy="320040"/>
          </a:xfrm>
          <a:prstGeom prst="rect">
            <a:avLst/>
          </a:prstGeom>
          <a:noFill/>
        </p:spPr>
        <p:txBody>
          <a:bodyPr wrap="square" anchor="ctr">
            <a:spAutoFit/>
          </a:bodyPr>
          <a:lstStyle/>
          <a:p>
            <a:pPr algn="l">
              <a:defRPr sz="1400" b="1">
                <a:solidFill>
                  <a:srgbClr val="193A5E"/>
                </a:solidFill>
              </a:defRPr>
            </a:pPr>
            <a:r>
              <a:t>AUC PROCHE DE 1</a:t>
            </a:r>
          </a:p>
        </p:txBody>
      </p:sp>
      <p:sp>
        <p:nvSpPr>
          <p:cNvPr id="17" name="TextBox 16"/>
          <p:cNvSpPr txBox="1"/>
          <p:nvPr/>
        </p:nvSpPr>
        <p:spPr>
          <a:xfrm>
            <a:off x="6812280" y="2322576"/>
            <a:ext cx="3977640" cy="640080"/>
          </a:xfrm>
          <a:prstGeom prst="rect">
            <a:avLst/>
          </a:prstGeom>
          <a:noFill/>
        </p:spPr>
        <p:txBody>
          <a:bodyPr wrap="square" anchor="ctr">
            <a:spAutoFit/>
          </a:bodyPr>
          <a:lstStyle/>
          <a:p>
            <a:pPr algn="ctr">
              <a:defRPr sz="1700" b="1">
                <a:solidFill>
                  <a:srgbClr val="5DB541"/>
                </a:solidFill>
              </a:defRPr>
            </a:pPr>
            <a:r>
              <a:t>Bon classement</a:t>
            </a:r>
          </a:p>
        </p:txBody>
      </p:sp>
      <p:sp>
        <p:nvSpPr>
          <p:cNvPr id="18" name="TextBox 17"/>
          <p:cNvSpPr txBox="1"/>
          <p:nvPr/>
        </p:nvSpPr>
        <p:spPr>
          <a:xfrm>
            <a:off x="6858000" y="3081528"/>
            <a:ext cx="3886200" cy="137159"/>
          </a:xfrm>
          <a:prstGeom prst="rect">
            <a:avLst/>
          </a:prstGeom>
          <a:noFill/>
        </p:spPr>
        <p:txBody>
          <a:bodyPr wrap="square" anchor="ctr">
            <a:spAutoFit/>
          </a:bodyPr>
          <a:lstStyle/>
          <a:p>
            <a:pPr algn="ctr">
              <a:defRPr sz="1150" b="0">
                <a:solidFill>
                  <a:srgbClr val="374150"/>
                </a:solidFill>
              </a:defRPr>
            </a:pPr>
            <a:r>
              <a:t>les positifs sont bien séparés des négatifs</a:t>
            </a:r>
          </a:p>
        </p:txBody>
      </p:sp>
      <p:sp>
        <p:nvSpPr>
          <p:cNvPr id="19" name="Rounded Rectangle 18"/>
          <p:cNvSpPr/>
          <p:nvPr/>
        </p:nvSpPr>
        <p:spPr>
          <a:xfrm>
            <a:off x="6537960" y="3657600"/>
            <a:ext cx="4480560" cy="128016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37960" y="3657600"/>
            <a:ext cx="50292" cy="1280160"/>
          </a:xfrm>
          <a:prstGeom prst="rect">
            <a:avLst/>
          </a:prstGeom>
          <a:solidFill>
            <a:srgbClr val="F57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12280" y="3840480"/>
            <a:ext cx="3977640" cy="320040"/>
          </a:xfrm>
          <a:prstGeom prst="rect">
            <a:avLst/>
          </a:prstGeom>
          <a:noFill/>
        </p:spPr>
        <p:txBody>
          <a:bodyPr wrap="square" anchor="ctr">
            <a:spAutoFit/>
          </a:bodyPr>
          <a:lstStyle/>
          <a:p>
            <a:pPr algn="l">
              <a:defRPr sz="1400" b="1">
                <a:solidFill>
                  <a:srgbClr val="193A5E"/>
                </a:solidFill>
              </a:defRPr>
            </a:pPr>
            <a:r>
              <a:t>AUC ≈ 0,5</a:t>
            </a:r>
          </a:p>
        </p:txBody>
      </p:sp>
      <p:sp>
        <p:nvSpPr>
          <p:cNvPr id="22" name="TextBox 21"/>
          <p:cNvSpPr txBox="1"/>
          <p:nvPr/>
        </p:nvSpPr>
        <p:spPr>
          <a:xfrm>
            <a:off x="6812280" y="4407408"/>
            <a:ext cx="3977640" cy="640080"/>
          </a:xfrm>
          <a:prstGeom prst="rect">
            <a:avLst/>
          </a:prstGeom>
          <a:noFill/>
        </p:spPr>
        <p:txBody>
          <a:bodyPr wrap="square" anchor="ctr">
            <a:spAutoFit/>
          </a:bodyPr>
          <a:lstStyle/>
          <a:p>
            <a:pPr algn="ctr">
              <a:defRPr sz="1700" b="1">
                <a:solidFill>
                  <a:srgbClr val="F57018"/>
                </a:solidFill>
              </a:defRPr>
            </a:pPr>
            <a:r>
              <a:t>Proche du hasard</a:t>
            </a:r>
          </a:p>
        </p:txBody>
      </p:sp>
      <p:sp>
        <p:nvSpPr>
          <p:cNvPr id="23" name="Rounded Rectangle 22"/>
          <p:cNvSpPr/>
          <p:nvPr/>
        </p:nvSpPr>
        <p:spPr>
          <a:xfrm>
            <a:off x="1051560" y="5394960"/>
            <a:ext cx="10058400" cy="640080"/>
          </a:xfrm>
          <a:prstGeom prst="roundRect">
            <a:avLst/>
          </a:prstGeom>
          <a:solidFill>
            <a:srgbClr val="F6F9FE"/>
          </a:solidFill>
          <a:ln>
            <a:solidFill>
              <a:srgbClr val="6E4B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25880" y="5477256"/>
            <a:ext cx="9509760" cy="457200"/>
          </a:xfrm>
          <a:prstGeom prst="rect">
            <a:avLst/>
          </a:prstGeom>
          <a:noFill/>
        </p:spPr>
        <p:txBody>
          <a:bodyPr wrap="square" anchor="ctr">
            <a:spAutoFit/>
          </a:bodyPr>
          <a:lstStyle/>
          <a:p>
            <a:pPr algn="ctr">
              <a:defRPr sz="1280" b="1">
                <a:solidFill>
                  <a:srgbClr val="6E4BC8"/>
                </a:solidFill>
              </a:defRPr>
            </a:pPr>
            <a:r>
              <a:t>AUC compare le classement global ; le seuil décide l’action métier.</a:t>
            </a:r>
          </a:p>
        </p:txBody>
      </p:sp>
      <p:sp>
        <p:nvSpPr>
          <p:cNvPr id="25" name="TextBox 24"/>
          <p:cNvSpPr txBox="1"/>
          <p:nvPr/>
        </p:nvSpPr>
        <p:spPr>
          <a:xfrm>
            <a:off x="685800" y="6473952"/>
            <a:ext cx="4572000" cy="137160"/>
          </a:xfrm>
          <a:prstGeom prst="rect">
            <a:avLst/>
          </a:prstGeom>
          <a:noFill/>
        </p:spPr>
        <p:txBody>
          <a:bodyPr wrap="square" anchor="ctr">
            <a:spAutoFit/>
          </a:bodyPr>
          <a:lstStyle/>
          <a:p>
            <a:pPr algn="l">
              <a:defRPr sz="720" b="0">
                <a:solidFill>
                  <a:srgbClr val="69788C"/>
                </a:solidFill>
              </a:defRPr>
            </a:pPr>
            <a:r>
              <a:t>Intelligence Artificielle — Jour 2</a:t>
            </a:r>
          </a:p>
        </p:txBody>
      </p:sp>
      <p:sp>
        <p:nvSpPr>
          <p:cNvPr id="26" name="TextBox 25"/>
          <p:cNvSpPr txBox="1"/>
          <p:nvPr/>
        </p:nvSpPr>
        <p:spPr>
          <a:xfrm>
            <a:off x="11201400" y="6437376"/>
            <a:ext cx="320040" cy="164592"/>
          </a:xfrm>
          <a:prstGeom prst="rect">
            <a:avLst/>
          </a:prstGeom>
          <a:noFill/>
        </p:spPr>
        <p:txBody>
          <a:bodyPr wrap="square" anchor="ctr">
            <a:spAutoFit/>
          </a:bodyPr>
          <a:lstStyle/>
          <a:p>
            <a:pPr algn="r">
              <a:defRPr sz="720" b="0">
                <a:solidFill>
                  <a:srgbClr val="69788C"/>
                </a:solidFill>
              </a:defRPr>
            </a:pPr>
            <a:r>
              <a:t>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TP CLASSIFICATION</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TP 2 — Prédire une classe et défendre une décision</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Le modèle retenu dépend de la métrique et du coût des erreurs, pas seulement du score le plus élevé.</a:t>
            </a:r>
          </a:p>
        </p:txBody>
      </p:sp>
      <p:sp>
        <p:nvSpPr>
          <p:cNvPr id="5" name="Rounded Rectangle 4"/>
          <p:cNvSpPr/>
          <p:nvPr/>
        </p:nvSpPr>
        <p:spPr>
          <a:xfrm>
            <a:off x="5029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719072"/>
            <a:ext cx="3291840" cy="256032"/>
          </a:xfrm>
          <a:prstGeom prst="rect">
            <a:avLst/>
          </a:prstGeom>
          <a:noFill/>
        </p:spPr>
        <p:txBody>
          <a:bodyPr wrap="square">
            <a:spAutoFit/>
          </a:bodyPr>
          <a:lstStyle/>
          <a:p>
            <a:pPr algn="l"/>
            <a:r>
              <a:rPr sz="1150" b="1">
                <a:solidFill>
                  <a:srgbClr val="123153"/>
                </a:solidFill>
                <a:latin typeface="Aptos"/>
              </a:rPr>
              <a:t>Modèles</a:t>
            </a:r>
          </a:p>
        </p:txBody>
      </p:sp>
      <p:sp>
        <p:nvSpPr>
          <p:cNvPr id="8" name="TextBox 7"/>
          <p:cNvSpPr txBox="1"/>
          <p:nvPr/>
        </p:nvSpPr>
        <p:spPr>
          <a:xfrm>
            <a:off x="685800" y="2157984"/>
            <a:ext cx="3227832" cy="256032"/>
          </a:xfrm>
          <a:prstGeom prst="rect">
            <a:avLst/>
          </a:prstGeom>
          <a:noFill/>
        </p:spPr>
        <p:txBody>
          <a:bodyPr wrap="square">
            <a:spAutoFit/>
          </a:bodyPr>
          <a:lstStyle/>
          <a:p>
            <a:pPr algn="l"/>
            <a:r>
              <a:rPr sz="950" b="0">
                <a:solidFill>
                  <a:srgbClr val="232D3A"/>
                </a:solidFill>
                <a:latin typeface="Aptos"/>
              </a:rPr>
              <a:t>• baseline majoritaire</a:t>
            </a:r>
          </a:p>
        </p:txBody>
      </p:sp>
      <p:sp>
        <p:nvSpPr>
          <p:cNvPr id="9" name="TextBox 8"/>
          <p:cNvSpPr txBox="1"/>
          <p:nvPr/>
        </p:nvSpPr>
        <p:spPr>
          <a:xfrm>
            <a:off x="685800" y="2468879"/>
            <a:ext cx="3227832" cy="256032"/>
          </a:xfrm>
          <a:prstGeom prst="rect">
            <a:avLst/>
          </a:prstGeom>
          <a:noFill/>
        </p:spPr>
        <p:txBody>
          <a:bodyPr wrap="square">
            <a:spAutoFit/>
          </a:bodyPr>
          <a:lstStyle/>
          <a:p>
            <a:pPr algn="l"/>
            <a:r>
              <a:rPr sz="950" b="0">
                <a:solidFill>
                  <a:srgbClr val="232D3A"/>
                </a:solidFill>
                <a:latin typeface="Aptos"/>
              </a:rPr>
              <a:t>• LogisticRegression</a:t>
            </a:r>
          </a:p>
        </p:txBody>
      </p:sp>
      <p:sp>
        <p:nvSpPr>
          <p:cNvPr id="10" name="TextBox 9"/>
          <p:cNvSpPr txBox="1"/>
          <p:nvPr/>
        </p:nvSpPr>
        <p:spPr>
          <a:xfrm>
            <a:off x="685800" y="2779775"/>
            <a:ext cx="3227832" cy="256032"/>
          </a:xfrm>
          <a:prstGeom prst="rect">
            <a:avLst/>
          </a:prstGeom>
          <a:noFill/>
        </p:spPr>
        <p:txBody>
          <a:bodyPr wrap="square">
            <a:spAutoFit/>
          </a:bodyPr>
          <a:lstStyle/>
          <a:p>
            <a:pPr algn="l"/>
            <a:r>
              <a:rPr sz="950" b="0">
                <a:solidFill>
                  <a:srgbClr val="232D3A"/>
                </a:solidFill>
                <a:latin typeface="Aptos"/>
              </a:rPr>
              <a:t>• k-NN</a:t>
            </a:r>
          </a:p>
        </p:txBody>
      </p:sp>
      <p:sp>
        <p:nvSpPr>
          <p:cNvPr id="11" name="TextBox 10"/>
          <p:cNvSpPr txBox="1"/>
          <p:nvPr/>
        </p:nvSpPr>
        <p:spPr>
          <a:xfrm>
            <a:off x="685800" y="3090671"/>
            <a:ext cx="3227832" cy="256032"/>
          </a:xfrm>
          <a:prstGeom prst="rect">
            <a:avLst/>
          </a:prstGeom>
          <a:noFill/>
        </p:spPr>
        <p:txBody>
          <a:bodyPr wrap="square">
            <a:spAutoFit/>
          </a:bodyPr>
          <a:lstStyle/>
          <a:p>
            <a:pPr algn="l"/>
            <a:r>
              <a:rPr sz="950" b="0">
                <a:solidFill>
                  <a:srgbClr val="232D3A"/>
                </a:solidFill>
                <a:latin typeface="Aptos"/>
              </a:rPr>
              <a:t>• DecisionTree</a:t>
            </a:r>
          </a:p>
        </p:txBody>
      </p:sp>
      <p:sp>
        <p:nvSpPr>
          <p:cNvPr id="12" name="TextBox 11"/>
          <p:cNvSpPr txBox="1"/>
          <p:nvPr/>
        </p:nvSpPr>
        <p:spPr>
          <a:xfrm>
            <a:off x="685800" y="3401567"/>
            <a:ext cx="3227832" cy="256032"/>
          </a:xfrm>
          <a:prstGeom prst="rect">
            <a:avLst/>
          </a:prstGeom>
          <a:noFill/>
        </p:spPr>
        <p:txBody>
          <a:bodyPr wrap="square">
            <a:spAutoFit/>
          </a:bodyPr>
          <a:lstStyle/>
          <a:p>
            <a:pPr algn="l"/>
            <a:r>
              <a:rPr sz="950" b="0">
                <a:solidFill>
                  <a:srgbClr val="232D3A"/>
                </a:solidFill>
                <a:latin typeface="Aptos"/>
              </a:rPr>
              <a:t>• SVM</a:t>
            </a:r>
          </a:p>
        </p:txBody>
      </p:sp>
      <p:sp>
        <p:nvSpPr>
          <p:cNvPr id="13" name="Rounded Rectangle 12"/>
          <p:cNvSpPr/>
          <p:nvPr/>
        </p:nvSpPr>
        <p:spPr>
          <a:xfrm>
            <a:off x="43891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15544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3712" y="1719072"/>
            <a:ext cx="3291840" cy="256032"/>
          </a:xfrm>
          <a:prstGeom prst="rect">
            <a:avLst/>
          </a:prstGeom>
          <a:noFill/>
        </p:spPr>
        <p:txBody>
          <a:bodyPr wrap="square">
            <a:spAutoFit/>
          </a:bodyPr>
          <a:lstStyle/>
          <a:p>
            <a:pPr algn="l"/>
            <a:r>
              <a:rPr sz="1150" b="1">
                <a:solidFill>
                  <a:srgbClr val="123153"/>
                </a:solidFill>
                <a:latin typeface="Aptos"/>
              </a:rPr>
              <a:t>Métriques</a:t>
            </a:r>
          </a:p>
        </p:txBody>
      </p:sp>
      <p:sp>
        <p:nvSpPr>
          <p:cNvPr id="16" name="TextBox 15"/>
          <p:cNvSpPr txBox="1"/>
          <p:nvPr/>
        </p:nvSpPr>
        <p:spPr>
          <a:xfrm>
            <a:off x="4572000" y="2157984"/>
            <a:ext cx="3227832" cy="256032"/>
          </a:xfrm>
          <a:prstGeom prst="rect">
            <a:avLst/>
          </a:prstGeom>
          <a:noFill/>
        </p:spPr>
        <p:txBody>
          <a:bodyPr wrap="square">
            <a:spAutoFit/>
          </a:bodyPr>
          <a:lstStyle/>
          <a:p>
            <a:pPr algn="l"/>
            <a:r>
              <a:rPr sz="950" b="0">
                <a:solidFill>
                  <a:srgbClr val="232D3A"/>
                </a:solidFill>
                <a:latin typeface="Aptos"/>
              </a:rPr>
              <a:t>• confusion matrix</a:t>
            </a:r>
          </a:p>
        </p:txBody>
      </p:sp>
      <p:sp>
        <p:nvSpPr>
          <p:cNvPr id="17" name="TextBox 16"/>
          <p:cNvSpPr txBox="1"/>
          <p:nvPr/>
        </p:nvSpPr>
        <p:spPr>
          <a:xfrm>
            <a:off x="4572000" y="2468879"/>
            <a:ext cx="3227832" cy="256032"/>
          </a:xfrm>
          <a:prstGeom prst="rect">
            <a:avLst/>
          </a:prstGeom>
          <a:noFill/>
        </p:spPr>
        <p:txBody>
          <a:bodyPr wrap="square">
            <a:spAutoFit/>
          </a:bodyPr>
          <a:lstStyle/>
          <a:p>
            <a:pPr algn="l"/>
            <a:r>
              <a:rPr sz="950" b="0">
                <a:solidFill>
                  <a:srgbClr val="232D3A"/>
                </a:solidFill>
                <a:latin typeface="Aptos"/>
              </a:rPr>
              <a:t>• precision / recall / F1</a:t>
            </a:r>
          </a:p>
        </p:txBody>
      </p:sp>
      <p:sp>
        <p:nvSpPr>
          <p:cNvPr id="18" name="TextBox 17"/>
          <p:cNvSpPr txBox="1"/>
          <p:nvPr/>
        </p:nvSpPr>
        <p:spPr>
          <a:xfrm>
            <a:off x="4572000" y="2779775"/>
            <a:ext cx="3227832" cy="256032"/>
          </a:xfrm>
          <a:prstGeom prst="rect">
            <a:avLst/>
          </a:prstGeom>
          <a:noFill/>
        </p:spPr>
        <p:txBody>
          <a:bodyPr wrap="square">
            <a:spAutoFit/>
          </a:bodyPr>
          <a:lstStyle/>
          <a:p>
            <a:pPr algn="l"/>
            <a:r>
              <a:rPr sz="950" b="0">
                <a:solidFill>
                  <a:srgbClr val="232D3A"/>
                </a:solidFill>
                <a:latin typeface="Aptos"/>
              </a:rPr>
              <a:t>• ROC-AUC</a:t>
            </a:r>
          </a:p>
        </p:txBody>
      </p:sp>
      <p:sp>
        <p:nvSpPr>
          <p:cNvPr id="19" name="TextBox 18"/>
          <p:cNvSpPr txBox="1"/>
          <p:nvPr/>
        </p:nvSpPr>
        <p:spPr>
          <a:xfrm>
            <a:off x="4572000" y="3090671"/>
            <a:ext cx="3227832" cy="256032"/>
          </a:xfrm>
          <a:prstGeom prst="rect">
            <a:avLst/>
          </a:prstGeom>
          <a:noFill/>
        </p:spPr>
        <p:txBody>
          <a:bodyPr wrap="square">
            <a:spAutoFit/>
          </a:bodyPr>
          <a:lstStyle/>
          <a:p>
            <a:pPr algn="l"/>
            <a:r>
              <a:rPr sz="950" b="0">
                <a:solidFill>
                  <a:srgbClr val="232D3A"/>
                </a:solidFill>
                <a:latin typeface="Aptos"/>
              </a:rPr>
              <a:t>• effet du seuil</a:t>
            </a:r>
          </a:p>
        </p:txBody>
      </p:sp>
      <p:sp>
        <p:nvSpPr>
          <p:cNvPr id="20" name="Rounded Rectangle 19"/>
          <p:cNvSpPr/>
          <p:nvPr/>
        </p:nvSpPr>
        <p:spPr>
          <a:xfrm>
            <a:off x="82753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75320" y="15544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9912" y="1719072"/>
            <a:ext cx="3291840" cy="256032"/>
          </a:xfrm>
          <a:prstGeom prst="rect">
            <a:avLst/>
          </a:prstGeom>
          <a:noFill/>
        </p:spPr>
        <p:txBody>
          <a:bodyPr wrap="square">
            <a:spAutoFit/>
          </a:bodyPr>
          <a:lstStyle/>
          <a:p>
            <a:pPr algn="l"/>
            <a:r>
              <a:rPr sz="1150" b="1">
                <a:solidFill>
                  <a:srgbClr val="123153"/>
                </a:solidFill>
                <a:latin typeface="Aptos"/>
              </a:rPr>
              <a:t>Restitution</a:t>
            </a:r>
          </a:p>
        </p:txBody>
      </p:sp>
      <p:sp>
        <p:nvSpPr>
          <p:cNvPr id="23" name="TextBox 22"/>
          <p:cNvSpPr txBox="1"/>
          <p:nvPr/>
        </p:nvSpPr>
        <p:spPr>
          <a:xfrm>
            <a:off x="8458200" y="2157984"/>
            <a:ext cx="3227832" cy="256032"/>
          </a:xfrm>
          <a:prstGeom prst="rect">
            <a:avLst/>
          </a:prstGeom>
          <a:noFill/>
        </p:spPr>
        <p:txBody>
          <a:bodyPr wrap="square">
            <a:spAutoFit/>
          </a:bodyPr>
          <a:lstStyle/>
          <a:p>
            <a:pPr algn="l"/>
            <a:r>
              <a:rPr sz="950" b="0">
                <a:solidFill>
                  <a:srgbClr val="232D3A"/>
                </a:solidFill>
                <a:latin typeface="Aptos"/>
              </a:rPr>
              <a:t>• quel modèle ?</a:t>
            </a:r>
          </a:p>
        </p:txBody>
      </p:sp>
      <p:sp>
        <p:nvSpPr>
          <p:cNvPr id="24" name="TextBox 23"/>
          <p:cNvSpPr txBox="1"/>
          <p:nvPr/>
        </p:nvSpPr>
        <p:spPr>
          <a:xfrm>
            <a:off x="8458200" y="2468879"/>
            <a:ext cx="3227832" cy="256032"/>
          </a:xfrm>
          <a:prstGeom prst="rect">
            <a:avLst/>
          </a:prstGeom>
          <a:noFill/>
        </p:spPr>
        <p:txBody>
          <a:bodyPr wrap="square">
            <a:spAutoFit/>
          </a:bodyPr>
          <a:lstStyle/>
          <a:p>
            <a:pPr algn="l"/>
            <a:r>
              <a:rPr sz="950" b="0">
                <a:solidFill>
                  <a:srgbClr val="232D3A"/>
                </a:solidFill>
                <a:latin typeface="Aptos"/>
              </a:rPr>
              <a:t>• quelle métrique prioritaire ?</a:t>
            </a:r>
          </a:p>
        </p:txBody>
      </p:sp>
      <p:sp>
        <p:nvSpPr>
          <p:cNvPr id="25" name="TextBox 24"/>
          <p:cNvSpPr txBox="1"/>
          <p:nvPr/>
        </p:nvSpPr>
        <p:spPr>
          <a:xfrm>
            <a:off x="8458200" y="2779775"/>
            <a:ext cx="3227832" cy="256032"/>
          </a:xfrm>
          <a:prstGeom prst="rect">
            <a:avLst/>
          </a:prstGeom>
          <a:noFill/>
        </p:spPr>
        <p:txBody>
          <a:bodyPr wrap="square">
            <a:spAutoFit/>
          </a:bodyPr>
          <a:lstStyle/>
          <a:p>
            <a:pPr algn="l"/>
            <a:r>
              <a:rPr sz="950" b="0">
                <a:solidFill>
                  <a:srgbClr val="232D3A"/>
                </a:solidFill>
                <a:latin typeface="Aptos"/>
              </a:rPr>
              <a:t>• quel risque métier ?</a:t>
            </a:r>
          </a:p>
        </p:txBody>
      </p:sp>
      <p:sp>
        <p:nvSpPr>
          <p:cNvPr id="26" name="TextBox 25"/>
          <p:cNvSpPr txBox="1"/>
          <p:nvPr/>
        </p:nvSpPr>
        <p:spPr>
          <a:xfrm>
            <a:off x="8458200" y="3090671"/>
            <a:ext cx="3227832" cy="256032"/>
          </a:xfrm>
          <a:prstGeom prst="rect">
            <a:avLst/>
          </a:prstGeom>
          <a:noFill/>
        </p:spPr>
        <p:txBody>
          <a:bodyPr wrap="square">
            <a:spAutoFit/>
          </a:bodyPr>
          <a:lstStyle/>
          <a:p>
            <a:pPr algn="l"/>
            <a:r>
              <a:rPr sz="950" b="0">
                <a:solidFill>
                  <a:srgbClr val="232D3A"/>
                </a:solidFill>
                <a:latin typeface="Aptos"/>
              </a:rPr>
              <a:t>• que tester ensuite ?</a:t>
            </a:r>
          </a:p>
        </p:txBody>
      </p:sp>
      <p:sp>
        <p:nvSpPr>
          <p:cNvPr id="27" name="Rectangle 26"/>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CHALLENGE</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Challenge final Jour 2 — modèle supervisé défendable</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Comparer régression et classification sur la même base et expliquer les limites.</a:t>
            </a:r>
          </a:p>
        </p:txBody>
      </p:sp>
      <p:sp>
        <p:nvSpPr>
          <p:cNvPr id="5" name="Rounded Rectangle 4"/>
          <p:cNvSpPr/>
          <p:nvPr/>
        </p:nvSpPr>
        <p:spPr>
          <a:xfrm>
            <a:off x="5029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719072"/>
            <a:ext cx="3291840" cy="256032"/>
          </a:xfrm>
          <a:prstGeom prst="rect">
            <a:avLst/>
          </a:prstGeom>
          <a:noFill/>
        </p:spPr>
        <p:txBody>
          <a:bodyPr wrap="square">
            <a:spAutoFit/>
          </a:bodyPr>
          <a:lstStyle/>
          <a:p>
            <a:pPr algn="l"/>
            <a:r>
              <a:rPr sz="1150" b="1">
                <a:solidFill>
                  <a:srgbClr val="123153"/>
                </a:solidFill>
                <a:latin typeface="Aptos"/>
              </a:rPr>
              <a:t>Niveau attendu</a:t>
            </a:r>
          </a:p>
        </p:txBody>
      </p:sp>
      <p:sp>
        <p:nvSpPr>
          <p:cNvPr id="8" name="TextBox 7"/>
          <p:cNvSpPr txBox="1"/>
          <p:nvPr/>
        </p:nvSpPr>
        <p:spPr>
          <a:xfrm>
            <a:off x="685800" y="2157984"/>
            <a:ext cx="3227832" cy="256032"/>
          </a:xfrm>
          <a:prstGeom prst="rect">
            <a:avLst/>
          </a:prstGeom>
          <a:noFill/>
        </p:spPr>
        <p:txBody>
          <a:bodyPr wrap="square">
            <a:spAutoFit/>
          </a:bodyPr>
          <a:lstStyle/>
          <a:p>
            <a:pPr algn="l"/>
            <a:r>
              <a:rPr sz="950" b="0">
                <a:solidFill>
                  <a:srgbClr val="232D3A"/>
                </a:solidFill>
                <a:latin typeface="Aptos"/>
              </a:rPr>
              <a:t>• code propre</a:t>
            </a:r>
          </a:p>
        </p:txBody>
      </p:sp>
      <p:sp>
        <p:nvSpPr>
          <p:cNvPr id="9" name="TextBox 8"/>
          <p:cNvSpPr txBox="1"/>
          <p:nvPr/>
        </p:nvSpPr>
        <p:spPr>
          <a:xfrm>
            <a:off x="685800" y="2468879"/>
            <a:ext cx="3227832" cy="256032"/>
          </a:xfrm>
          <a:prstGeom prst="rect">
            <a:avLst/>
          </a:prstGeom>
          <a:noFill/>
        </p:spPr>
        <p:txBody>
          <a:bodyPr wrap="square">
            <a:spAutoFit/>
          </a:bodyPr>
          <a:lstStyle/>
          <a:p>
            <a:pPr algn="l"/>
            <a:r>
              <a:rPr sz="950" b="0">
                <a:solidFill>
                  <a:srgbClr val="232D3A"/>
                </a:solidFill>
                <a:latin typeface="Aptos"/>
              </a:rPr>
              <a:t>• Pipeline scikit-learn</a:t>
            </a:r>
          </a:p>
        </p:txBody>
      </p:sp>
      <p:sp>
        <p:nvSpPr>
          <p:cNvPr id="10" name="TextBox 9"/>
          <p:cNvSpPr txBox="1"/>
          <p:nvPr/>
        </p:nvSpPr>
        <p:spPr>
          <a:xfrm>
            <a:off x="685800" y="2779775"/>
            <a:ext cx="3227832" cy="256032"/>
          </a:xfrm>
          <a:prstGeom prst="rect">
            <a:avLst/>
          </a:prstGeom>
          <a:noFill/>
        </p:spPr>
        <p:txBody>
          <a:bodyPr wrap="square">
            <a:spAutoFit/>
          </a:bodyPr>
          <a:lstStyle/>
          <a:p>
            <a:pPr algn="l"/>
            <a:r>
              <a:rPr sz="950" b="0">
                <a:solidFill>
                  <a:srgbClr val="232D3A"/>
                </a:solidFill>
                <a:latin typeface="Aptos"/>
              </a:rPr>
              <a:t>• train/test reproductible</a:t>
            </a:r>
          </a:p>
        </p:txBody>
      </p:sp>
      <p:sp>
        <p:nvSpPr>
          <p:cNvPr id="11" name="TextBox 10"/>
          <p:cNvSpPr txBox="1"/>
          <p:nvPr/>
        </p:nvSpPr>
        <p:spPr>
          <a:xfrm>
            <a:off x="685800" y="3090671"/>
            <a:ext cx="3227832" cy="256032"/>
          </a:xfrm>
          <a:prstGeom prst="rect">
            <a:avLst/>
          </a:prstGeom>
          <a:noFill/>
        </p:spPr>
        <p:txBody>
          <a:bodyPr wrap="square">
            <a:spAutoFit/>
          </a:bodyPr>
          <a:lstStyle/>
          <a:p>
            <a:pPr algn="l"/>
            <a:r>
              <a:rPr sz="950" b="0">
                <a:solidFill>
                  <a:srgbClr val="232D3A"/>
                </a:solidFill>
                <a:latin typeface="Aptos"/>
              </a:rPr>
              <a:t>• résultats interprétés</a:t>
            </a:r>
          </a:p>
        </p:txBody>
      </p:sp>
      <p:sp>
        <p:nvSpPr>
          <p:cNvPr id="12" name="Rounded Rectangle 11"/>
          <p:cNvSpPr/>
          <p:nvPr/>
        </p:nvSpPr>
        <p:spPr>
          <a:xfrm>
            <a:off x="43891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554480"/>
            <a:ext cx="3611880" cy="100584"/>
          </a:xfrm>
          <a:prstGeom prst="rect">
            <a:avLst/>
          </a:prstGeom>
          <a:solidFill>
            <a:srgbClr val="7048E8"/>
          </a:solidFill>
          <a:ln>
            <a:solidFill>
              <a:srgbClr val="704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1719072"/>
            <a:ext cx="3291840" cy="256032"/>
          </a:xfrm>
          <a:prstGeom prst="rect">
            <a:avLst/>
          </a:prstGeom>
          <a:noFill/>
        </p:spPr>
        <p:txBody>
          <a:bodyPr wrap="square">
            <a:spAutoFit/>
          </a:bodyPr>
          <a:lstStyle/>
          <a:p>
            <a:pPr algn="l"/>
            <a:r>
              <a:rPr sz="1150" b="1">
                <a:solidFill>
                  <a:srgbClr val="123153"/>
                </a:solidFill>
                <a:latin typeface="Aptos"/>
              </a:rPr>
              <a:t>Bonus</a:t>
            </a:r>
          </a:p>
        </p:txBody>
      </p:sp>
      <p:sp>
        <p:nvSpPr>
          <p:cNvPr id="15" name="TextBox 14"/>
          <p:cNvSpPr txBox="1"/>
          <p:nvPr/>
        </p:nvSpPr>
        <p:spPr>
          <a:xfrm>
            <a:off x="4572000" y="2157984"/>
            <a:ext cx="3227832" cy="256032"/>
          </a:xfrm>
          <a:prstGeom prst="rect">
            <a:avLst/>
          </a:prstGeom>
          <a:noFill/>
        </p:spPr>
        <p:txBody>
          <a:bodyPr wrap="square">
            <a:spAutoFit/>
          </a:bodyPr>
          <a:lstStyle/>
          <a:p>
            <a:pPr algn="l"/>
            <a:r>
              <a:rPr sz="950" b="0">
                <a:solidFill>
                  <a:srgbClr val="232D3A"/>
                </a:solidFill>
                <a:latin typeface="Aptos"/>
              </a:rPr>
              <a:t>• PolynomialFeatures + Ridge</a:t>
            </a:r>
          </a:p>
        </p:txBody>
      </p:sp>
      <p:sp>
        <p:nvSpPr>
          <p:cNvPr id="16" name="TextBox 15"/>
          <p:cNvSpPr txBox="1"/>
          <p:nvPr/>
        </p:nvSpPr>
        <p:spPr>
          <a:xfrm>
            <a:off x="4572000" y="2468879"/>
            <a:ext cx="3227832" cy="256032"/>
          </a:xfrm>
          <a:prstGeom prst="rect">
            <a:avLst/>
          </a:prstGeom>
          <a:noFill/>
        </p:spPr>
        <p:txBody>
          <a:bodyPr wrap="square">
            <a:spAutoFit/>
          </a:bodyPr>
          <a:lstStyle/>
          <a:p>
            <a:pPr algn="l"/>
            <a:r>
              <a:rPr sz="950" b="0">
                <a:solidFill>
                  <a:srgbClr val="232D3A"/>
                </a:solidFill>
                <a:latin typeface="Aptos"/>
              </a:rPr>
              <a:t>• GridSearchCV léger</a:t>
            </a:r>
          </a:p>
        </p:txBody>
      </p:sp>
      <p:sp>
        <p:nvSpPr>
          <p:cNvPr id="17" name="TextBox 16"/>
          <p:cNvSpPr txBox="1"/>
          <p:nvPr/>
        </p:nvSpPr>
        <p:spPr>
          <a:xfrm>
            <a:off x="4572000" y="2779775"/>
            <a:ext cx="3227832" cy="256032"/>
          </a:xfrm>
          <a:prstGeom prst="rect">
            <a:avLst/>
          </a:prstGeom>
          <a:noFill/>
        </p:spPr>
        <p:txBody>
          <a:bodyPr wrap="square">
            <a:spAutoFit/>
          </a:bodyPr>
          <a:lstStyle/>
          <a:p>
            <a:pPr algn="l"/>
            <a:r>
              <a:rPr sz="950" b="0">
                <a:solidFill>
                  <a:srgbClr val="232D3A"/>
                </a:solidFill>
                <a:latin typeface="Aptos"/>
              </a:rPr>
              <a:t>• seuil personnalisé</a:t>
            </a:r>
          </a:p>
        </p:txBody>
      </p:sp>
      <p:sp>
        <p:nvSpPr>
          <p:cNvPr id="18" name="TextBox 17"/>
          <p:cNvSpPr txBox="1"/>
          <p:nvPr/>
        </p:nvSpPr>
        <p:spPr>
          <a:xfrm>
            <a:off x="4572000" y="3090671"/>
            <a:ext cx="3227832" cy="256032"/>
          </a:xfrm>
          <a:prstGeom prst="rect">
            <a:avLst/>
          </a:prstGeom>
          <a:noFill/>
        </p:spPr>
        <p:txBody>
          <a:bodyPr wrap="square">
            <a:spAutoFit/>
          </a:bodyPr>
          <a:lstStyle/>
          <a:p>
            <a:pPr algn="l"/>
            <a:r>
              <a:rPr sz="950" b="0">
                <a:solidFill>
                  <a:srgbClr val="232D3A"/>
                </a:solidFill>
                <a:latin typeface="Aptos"/>
              </a:rPr>
              <a:t>• courbes ROC</a:t>
            </a:r>
          </a:p>
        </p:txBody>
      </p:sp>
      <p:sp>
        <p:nvSpPr>
          <p:cNvPr id="19" name="Rounded Rectangle 18"/>
          <p:cNvSpPr/>
          <p:nvPr/>
        </p:nvSpPr>
        <p:spPr>
          <a:xfrm>
            <a:off x="82753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275320" y="15544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39912" y="1719072"/>
            <a:ext cx="3291840" cy="256032"/>
          </a:xfrm>
          <a:prstGeom prst="rect">
            <a:avLst/>
          </a:prstGeom>
          <a:noFill/>
        </p:spPr>
        <p:txBody>
          <a:bodyPr wrap="square">
            <a:spAutoFit/>
          </a:bodyPr>
          <a:lstStyle/>
          <a:p>
            <a:pPr algn="l"/>
            <a:r>
              <a:rPr sz="1150" b="1">
                <a:solidFill>
                  <a:srgbClr val="123153"/>
                </a:solidFill>
                <a:latin typeface="Aptos"/>
              </a:rPr>
              <a:t>Critères</a:t>
            </a:r>
          </a:p>
        </p:txBody>
      </p:sp>
      <p:sp>
        <p:nvSpPr>
          <p:cNvPr id="22" name="TextBox 21"/>
          <p:cNvSpPr txBox="1"/>
          <p:nvPr/>
        </p:nvSpPr>
        <p:spPr>
          <a:xfrm>
            <a:off x="8458200" y="2157984"/>
            <a:ext cx="3227832" cy="256032"/>
          </a:xfrm>
          <a:prstGeom prst="rect">
            <a:avLst/>
          </a:prstGeom>
          <a:noFill/>
        </p:spPr>
        <p:txBody>
          <a:bodyPr wrap="square">
            <a:spAutoFit/>
          </a:bodyPr>
          <a:lstStyle/>
          <a:p>
            <a:pPr algn="l"/>
            <a:r>
              <a:rPr sz="950" b="0">
                <a:solidFill>
                  <a:srgbClr val="232D3A"/>
                </a:solidFill>
                <a:latin typeface="Aptos"/>
              </a:rPr>
              <a:t>• pas de fuite de données</a:t>
            </a:r>
          </a:p>
        </p:txBody>
      </p:sp>
      <p:sp>
        <p:nvSpPr>
          <p:cNvPr id="23" name="TextBox 22"/>
          <p:cNvSpPr txBox="1"/>
          <p:nvPr/>
        </p:nvSpPr>
        <p:spPr>
          <a:xfrm>
            <a:off x="8458200" y="2468879"/>
            <a:ext cx="3227832" cy="256032"/>
          </a:xfrm>
          <a:prstGeom prst="rect">
            <a:avLst/>
          </a:prstGeom>
          <a:noFill/>
        </p:spPr>
        <p:txBody>
          <a:bodyPr wrap="square">
            <a:spAutoFit/>
          </a:bodyPr>
          <a:lstStyle/>
          <a:p>
            <a:pPr algn="l"/>
            <a:r>
              <a:rPr sz="950" b="0">
                <a:solidFill>
                  <a:srgbClr val="232D3A"/>
                </a:solidFill>
                <a:latin typeface="Aptos"/>
              </a:rPr>
              <a:t>• métriques adaptées</a:t>
            </a:r>
          </a:p>
        </p:txBody>
      </p:sp>
      <p:sp>
        <p:nvSpPr>
          <p:cNvPr id="24" name="TextBox 23"/>
          <p:cNvSpPr txBox="1"/>
          <p:nvPr/>
        </p:nvSpPr>
        <p:spPr>
          <a:xfrm>
            <a:off x="8458200" y="2779775"/>
            <a:ext cx="3227832" cy="256032"/>
          </a:xfrm>
          <a:prstGeom prst="rect">
            <a:avLst/>
          </a:prstGeom>
          <a:noFill/>
        </p:spPr>
        <p:txBody>
          <a:bodyPr wrap="square">
            <a:spAutoFit/>
          </a:bodyPr>
          <a:lstStyle/>
          <a:p>
            <a:pPr algn="l"/>
            <a:r>
              <a:rPr sz="950" b="0">
                <a:solidFill>
                  <a:srgbClr val="232D3A"/>
                </a:solidFill>
                <a:latin typeface="Aptos"/>
              </a:rPr>
              <a:t>• visualisations lisibles</a:t>
            </a:r>
          </a:p>
        </p:txBody>
      </p:sp>
      <p:sp>
        <p:nvSpPr>
          <p:cNvPr id="25" name="TextBox 24"/>
          <p:cNvSpPr txBox="1"/>
          <p:nvPr/>
        </p:nvSpPr>
        <p:spPr>
          <a:xfrm>
            <a:off x="8458200" y="3090671"/>
            <a:ext cx="3227832" cy="256032"/>
          </a:xfrm>
          <a:prstGeom prst="rect">
            <a:avLst/>
          </a:prstGeom>
          <a:noFill/>
        </p:spPr>
        <p:txBody>
          <a:bodyPr wrap="square">
            <a:spAutoFit/>
          </a:bodyPr>
          <a:lstStyle/>
          <a:p>
            <a:pPr algn="l"/>
            <a:r>
              <a:rPr sz="950" b="0">
                <a:solidFill>
                  <a:srgbClr val="232D3A"/>
                </a:solidFill>
                <a:latin typeface="Aptos"/>
              </a:rPr>
              <a:t>• conclusion métier</a:t>
            </a:r>
          </a:p>
        </p:txBody>
      </p:sp>
      <p:sp>
        <p:nvSpPr>
          <p:cNvPr id="26" name="Rectangle 25"/>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274320"/>
            <a:ext cx="2743200" cy="228600"/>
          </a:xfrm>
          <a:prstGeom prst="rect">
            <a:avLst/>
          </a:prstGeom>
          <a:noFill/>
        </p:spPr>
        <p:txBody>
          <a:bodyPr wrap="square" anchor="ctr">
            <a:spAutoFit/>
          </a:bodyPr>
          <a:lstStyle/>
          <a:p>
            <a:pPr algn="l">
              <a:defRPr sz="1000" b="1">
                <a:solidFill>
                  <a:srgbClr val="2D69EB"/>
                </a:solidFill>
              </a:defRPr>
            </a:pPr>
            <a:r>
              <a:t>DÉCISION</a:t>
            </a:r>
          </a:p>
        </p:txBody>
      </p:sp>
      <p:sp>
        <p:nvSpPr>
          <p:cNvPr id="3" name="TextBox 2"/>
          <p:cNvSpPr txBox="1"/>
          <p:nvPr/>
        </p:nvSpPr>
        <p:spPr>
          <a:xfrm>
            <a:off x="685800" y="594360"/>
            <a:ext cx="10789920" cy="502920"/>
          </a:xfrm>
          <a:prstGeom prst="rect">
            <a:avLst/>
          </a:prstGeom>
          <a:noFill/>
        </p:spPr>
        <p:txBody>
          <a:bodyPr wrap="square" anchor="ctr">
            <a:spAutoFit/>
          </a:bodyPr>
          <a:lstStyle/>
          <a:p>
            <a:pPr algn="l">
              <a:defRPr sz="2500" b="1">
                <a:solidFill>
                  <a:srgbClr val="1B3A5E"/>
                </a:solidFill>
              </a:defRPr>
            </a:pPr>
            <a:r>
              <a:t>Quel modèle retenir ?</a:t>
            </a:r>
          </a:p>
        </p:txBody>
      </p:sp>
      <p:sp>
        <p:nvSpPr>
          <p:cNvPr id="4" name="Rounded Rectangle 3"/>
          <p:cNvSpPr/>
          <p:nvPr/>
        </p:nvSpPr>
        <p:spPr>
          <a:xfrm>
            <a:off x="685800" y="1600200"/>
            <a:ext cx="3154680"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600200"/>
            <a:ext cx="54864" cy="2788920"/>
          </a:xfrm>
          <a:prstGeom prst="rect">
            <a:avLst/>
          </a:prstGeom>
          <a:solidFill>
            <a:srgbClr val="2D6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1874519"/>
            <a:ext cx="2606040" cy="365760"/>
          </a:xfrm>
          <a:prstGeom prst="rect">
            <a:avLst/>
          </a:prstGeom>
          <a:noFill/>
        </p:spPr>
        <p:txBody>
          <a:bodyPr wrap="square" anchor="ctr">
            <a:spAutoFit/>
          </a:bodyPr>
          <a:lstStyle/>
          <a:p>
            <a:pPr algn="l">
              <a:defRPr sz="1500" b="1">
                <a:solidFill>
                  <a:srgbClr val="1B3A5E"/>
                </a:solidFill>
              </a:defRPr>
            </a:pPr>
            <a:r>
              <a:t>1 — PERFORMANCE</a:t>
            </a:r>
          </a:p>
        </p:txBody>
      </p:sp>
      <p:sp>
        <p:nvSpPr>
          <p:cNvPr id="7" name="TextBox 6"/>
          <p:cNvSpPr txBox="1"/>
          <p:nvPr/>
        </p:nvSpPr>
        <p:spPr>
          <a:xfrm>
            <a:off x="1033271" y="2587752"/>
            <a:ext cx="2468880" cy="347472"/>
          </a:xfrm>
          <a:prstGeom prst="rect">
            <a:avLst/>
          </a:prstGeom>
          <a:noFill/>
        </p:spPr>
        <p:txBody>
          <a:bodyPr wrap="square" anchor="ctr">
            <a:spAutoFit/>
          </a:bodyPr>
          <a:lstStyle/>
          <a:p>
            <a:pPr algn="l">
              <a:defRPr sz="1250" b="0">
                <a:solidFill>
                  <a:srgbClr val="364150"/>
                </a:solidFill>
              </a:defRPr>
            </a:pPr>
            <a:r>
              <a:t>• Métrique métier</a:t>
            </a:r>
          </a:p>
        </p:txBody>
      </p:sp>
      <p:sp>
        <p:nvSpPr>
          <p:cNvPr id="8" name="TextBox 7"/>
          <p:cNvSpPr txBox="1"/>
          <p:nvPr/>
        </p:nvSpPr>
        <p:spPr>
          <a:xfrm>
            <a:off x="1033271" y="3118104"/>
            <a:ext cx="2468880" cy="347472"/>
          </a:xfrm>
          <a:prstGeom prst="rect">
            <a:avLst/>
          </a:prstGeom>
          <a:noFill/>
        </p:spPr>
        <p:txBody>
          <a:bodyPr wrap="square" anchor="ctr">
            <a:spAutoFit/>
          </a:bodyPr>
          <a:lstStyle/>
          <a:p>
            <a:pPr algn="l">
              <a:defRPr sz="1250" b="0">
                <a:solidFill>
                  <a:srgbClr val="364150"/>
                </a:solidFill>
              </a:defRPr>
            </a:pPr>
            <a:r>
              <a:t>• Erreurs critiques</a:t>
            </a:r>
          </a:p>
        </p:txBody>
      </p:sp>
      <p:sp>
        <p:nvSpPr>
          <p:cNvPr id="9" name="TextBox 8"/>
          <p:cNvSpPr txBox="1"/>
          <p:nvPr/>
        </p:nvSpPr>
        <p:spPr>
          <a:xfrm>
            <a:off x="1033271" y="3648456"/>
            <a:ext cx="2468880" cy="347472"/>
          </a:xfrm>
          <a:prstGeom prst="rect">
            <a:avLst/>
          </a:prstGeom>
          <a:noFill/>
        </p:spPr>
        <p:txBody>
          <a:bodyPr wrap="square" anchor="ctr">
            <a:spAutoFit/>
          </a:bodyPr>
          <a:lstStyle/>
          <a:p>
            <a:pPr algn="l">
              <a:defRPr sz="1250" b="0">
                <a:solidFill>
                  <a:srgbClr val="364150"/>
                </a:solidFill>
              </a:defRPr>
            </a:pPr>
            <a:r>
              <a:t>• Stabilité sur TEST</a:t>
            </a:r>
          </a:p>
        </p:txBody>
      </p:sp>
      <p:sp>
        <p:nvSpPr>
          <p:cNvPr id="10" name="Rounded Rectangle 9"/>
          <p:cNvSpPr/>
          <p:nvPr/>
        </p:nvSpPr>
        <p:spPr>
          <a:xfrm>
            <a:off x="4160520" y="1600200"/>
            <a:ext cx="3154680"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60520" y="1600200"/>
            <a:ext cx="54864" cy="2788920"/>
          </a:xfrm>
          <a:prstGeom prst="rect">
            <a:avLst/>
          </a:prstGeom>
          <a:solidFill>
            <a:srgbClr val="F471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53128" y="1874519"/>
            <a:ext cx="2606040" cy="365760"/>
          </a:xfrm>
          <a:prstGeom prst="rect">
            <a:avLst/>
          </a:prstGeom>
          <a:noFill/>
        </p:spPr>
        <p:txBody>
          <a:bodyPr wrap="square" anchor="ctr">
            <a:spAutoFit/>
          </a:bodyPr>
          <a:lstStyle/>
          <a:p>
            <a:pPr algn="l">
              <a:defRPr sz="1500" b="1">
                <a:solidFill>
                  <a:srgbClr val="1B3A5E"/>
                </a:solidFill>
              </a:defRPr>
            </a:pPr>
            <a:r>
              <a:t>2 — CONTRAINTES</a:t>
            </a:r>
          </a:p>
        </p:txBody>
      </p:sp>
      <p:sp>
        <p:nvSpPr>
          <p:cNvPr id="13" name="TextBox 12"/>
          <p:cNvSpPr txBox="1"/>
          <p:nvPr/>
        </p:nvSpPr>
        <p:spPr>
          <a:xfrm>
            <a:off x="4507992" y="2587752"/>
            <a:ext cx="2468880" cy="347472"/>
          </a:xfrm>
          <a:prstGeom prst="rect">
            <a:avLst/>
          </a:prstGeom>
          <a:noFill/>
        </p:spPr>
        <p:txBody>
          <a:bodyPr wrap="square" anchor="ctr">
            <a:spAutoFit/>
          </a:bodyPr>
          <a:lstStyle/>
          <a:p>
            <a:pPr algn="l">
              <a:defRPr sz="1250" b="0">
                <a:solidFill>
                  <a:srgbClr val="364150"/>
                </a:solidFill>
              </a:defRPr>
            </a:pPr>
            <a:r>
              <a:t>• Latence</a:t>
            </a:r>
          </a:p>
        </p:txBody>
      </p:sp>
      <p:sp>
        <p:nvSpPr>
          <p:cNvPr id="14" name="TextBox 13"/>
          <p:cNvSpPr txBox="1"/>
          <p:nvPr/>
        </p:nvSpPr>
        <p:spPr>
          <a:xfrm>
            <a:off x="4507992" y="3118104"/>
            <a:ext cx="2468880" cy="347472"/>
          </a:xfrm>
          <a:prstGeom prst="rect">
            <a:avLst/>
          </a:prstGeom>
          <a:noFill/>
        </p:spPr>
        <p:txBody>
          <a:bodyPr wrap="square" anchor="ctr">
            <a:spAutoFit/>
          </a:bodyPr>
          <a:lstStyle/>
          <a:p>
            <a:pPr algn="l">
              <a:defRPr sz="1250" b="0">
                <a:solidFill>
                  <a:srgbClr val="364150"/>
                </a:solidFill>
              </a:defRPr>
            </a:pPr>
            <a:r>
              <a:t>• Coût / scalabilité</a:t>
            </a:r>
          </a:p>
        </p:txBody>
      </p:sp>
      <p:sp>
        <p:nvSpPr>
          <p:cNvPr id="15" name="TextBox 14"/>
          <p:cNvSpPr txBox="1"/>
          <p:nvPr/>
        </p:nvSpPr>
        <p:spPr>
          <a:xfrm>
            <a:off x="4507992" y="3648456"/>
            <a:ext cx="2468880" cy="347472"/>
          </a:xfrm>
          <a:prstGeom prst="rect">
            <a:avLst/>
          </a:prstGeom>
          <a:noFill/>
        </p:spPr>
        <p:txBody>
          <a:bodyPr wrap="square" anchor="ctr">
            <a:spAutoFit/>
          </a:bodyPr>
          <a:lstStyle/>
          <a:p>
            <a:pPr algn="l">
              <a:defRPr sz="1250" b="0">
                <a:solidFill>
                  <a:srgbClr val="364150"/>
                </a:solidFill>
              </a:defRPr>
            </a:pPr>
            <a:r>
              <a:t>• Maintenance</a:t>
            </a:r>
          </a:p>
        </p:txBody>
      </p:sp>
      <p:sp>
        <p:nvSpPr>
          <p:cNvPr id="16" name="Rounded Rectangle 15"/>
          <p:cNvSpPr/>
          <p:nvPr/>
        </p:nvSpPr>
        <p:spPr>
          <a:xfrm>
            <a:off x="7635240" y="1600200"/>
            <a:ext cx="3154680" cy="2788920"/>
          </a:xfrm>
          <a:prstGeom prst="roundRect">
            <a:avLst/>
          </a:prstGeom>
          <a:solidFill>
            <a:srgbClr val="F8FAFC"/>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35240" y="1600200"/>
            <a:ext cx="54864" cy="2788920"/>
          </a:xfrm>
          <a:prstGeom prst="rect">
            <a:avLst/>
          </a:prstGeom>
          <a:solidFill>
            <a:srgbClr val="59B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27848" y="1874519"/>
            <a:ext cx="2606040" cy="365760"/>
          </a:xfrm>
          <a:prstGeom prst="rect">
            <a:avLst/>
          </a:prstGeom>
          <a:noFill/>
        </p:spPr>
        <p:txBody>
          <a:bodyPr wrap="square" anchor="ctr">
            <a:spAutoFit/>
          </a:bodyPr>
          <a:lstStyle/>
          <a:p>
            <a:pPr algn="l">
              <a:defRPr sz="1500" b="1">
                <a:solidFill>
                  <a:srgbClr val="1B3A5E"/>
                </a:solidFill>
              </a:defRPr>
            </a:pPr>
            <a:r>
              <a:t>3 — GOUVERNANCE</a:t>
            </a:r>
          </a:p>
        </p:txBody>
      </p:sp>
      <p:sp>
        <p:nvSpPr>
          <p:cNvPr id="19" name="TextBox 18"/>
          <p:cNvSpPr txBox="1"/>
          <p:nvPr/>
        </p:nvSpPr>
        <p:spPr>
          <a:xfrm>
            <a:off x="7982712" y="2587752"/>
            <a:ext cx="2468880" cy="347472"/>
          </a:xfrm>
          <a:prstGeom prst="rect">
            <a:avLst/>
          </a:prstGeom>
          <a:noFill/>
        </p:spPr>
        <p:txBody>
          <a:bodyPr wrap="square" anchor="ctr">
            <a:spAutoFit/>
          </a:bodyPr>
          <a:lstStyle/>
          <a:p>
            <a:pPr algn="l">
              <a:defRPr sz="1250" b="0">
                <a:solidFill>
                  <a:srgbClr val="364150"/>
                </a:solidFill>
              </a:defRPr>
            </a:pPr>
            <a:r>
              <a:t>• Interprétabilité</a:t>
            </a:r>
          </a:p>
        </p:txBody>
      </p:sp>
      <p:sp>
        <p:nvSpPr>
          <p:cNvPr id="20" name="TextBox 19"/>
          <p:cNvSpPr txBox="1"/>
          <p:nvPr/>
        </p:nvSpPr>
        <p:spPr>
          <a:xfrm>
            <a:off x="7982712" y="3118104"/>
            <a:ext cx="2468880" cy="347472"/>
          </a:xfrm>
          <a:prstGeom prst="rect">
            <a:avLst/>
          </a:prstGeom>
          <a:noFill/>
        </p:spPr>
        <p:txBody>
          <a:bodyPr wrap="square" anchor="ctr">
            <a:spAutoFit/>
          </a:bodyPr>
          <a:lstStyle/>
          <a:p>
            <a:pPr algn="l">
              <a:defRPr sz="1250" b="0">
                <a:solidFill>
                  <a:srgbClr val="364150"/>
                </a:solidFill>
              </a:defRPr>
            </a:pPr>
            <a:r>
              <a:t>• Reproductibilité</a:t>
            </a:r>
          </a:p>
        </p:txBody>
      </p:sp>
      <p:sp>
        <p:nvSpPr>
          <p:cNvPr id="21" name="TextBox 20"/>
          <p:cNvSpPr txBox="1"/>
          <p:nvPr/>
        </p:nvSpPr>
        <p:spPr>
          <a:xfrm>
            <a:off x="7982712" y="3648456"/>
            <a:ext cx="2468880" cy="347472"/>
          </a:xfrm>
          <a:prstGeom prst="rect">
            <a:avLst/>
          </a:prstGeom>
          <a:noFill/>
        </p:spPr>
        <p:txBody>
          <a:bodyPr wrap="square" anchor="ctr">
            <a:spAutoFit/>
          </a:bodyPr>
          <a:lstStyle/>
          <a:p>
            <a:pPr algn="l">
              <a:defRPr sz="1250" b="0">
                <a:solidFill>
                  <a:srgbClr val="364150"/>
                </a:solidFill>
              </a:defRPr>
            </a:pPr>
            <a:r>
              <a:t>• Acceptabilité métier</a:t>
            </a:r>
          </a:p>
        </p:txBody>
      </p:sp>
      <p:sp>
        <p:nvSpPr>
          <p:cNvPr id="22" name="Rounded Rectangle 21"/>
          <p:cNvSpPr/>
          <p:nvPr/>
        </p:nvSpPr>
        <p:spPr>
          <a:xfrm>
            <a:off x="1143000" y="4754880"/>
            <a:ext cx="9921240" cy="749808"/>
          </a:xfrm>
          <a:prstGeom prst="roundRect">
            <a:avLst/>
          </a:prstGeom>
          <a:solidFill>
            <a:srgbClr val="F0F5FC"/>
          </a:solidFill>
          <a:ln>
            <a:solidFill>
              <a:srgbClr val="C8D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17320" y="4846320"/>
            <a:ext cx="9372600" cy="548640"/>
          </a:xfrm>
          <a:prstGeom prst="rect">
            <a:avLst/>
          </a:prstGeom>
          <a:noFill/>
        </p:spPr>
        <p:txBody>
          <a:bodyPr wrap="square" anchor="ctr">
            <a:spAutoFit/>
          </a:bodyPr>
          <a:lstStyle/>
          <a:p>
            <a:pPr algn="ctr">
              <a:defRPr sz="1350" b="1">
                <a:solidFill>
                  <a:srgbClr val="1B3A5E"/>
                </a:solidFill>
              </a:defRPr>
            </a:pPr>
            <a:r>
              <a:t>CHOIX FINAL = performance suffisante + contraintes respectées + valeur métier</a:t>
            </a:r>
          </a:p>
        </p:txBody>
      </p:sp>
      <p:sp>
        <p:nvSpPr>
          <p:cNvPr id="24" name="TextBox 23"/>
          <p:cNvSpPr txBox="1"/>
          <p:nvPr/>
        </p:nvSpPr>
        <p:spPr>
          <a:xfrm>
            <a:off x="1691640" y="5788152"/>
            <a:ext cx="8823960" cy="365760"/>
          </a:xfrm>
          <a:prstGeom prst="rect">
            <a:avLst/>
          </a:prstGeom>
          <a:noFill/>
        </p:spPr>
        <p:txBody>
          <a:bodyPr wrap="square" anchor="ctr">
            <a:spAutoFit/>
          </a:bodyPr>
          <a:lstStyle/>
          <a:p>
            <a:pPr algn="ctr">
              <a:defRPr sz="1300" b="1">
                <a:solidFill>
                  <a:srgbClr val="2D69EB"/>
                </a:solidFill>
              </a:defRPr>
            </a:pPr>
            <a:r>
              <a:t>Le meilleur score n’est pas toujours le meilleur modèle à déployer.</a:t>
            </a:r>
          </a:p>
        </p:txBody>
      </p:sp>
      <p:sp>
        <p:nvSpPr>
          <p:cNvPr id="25" name="TextBox 24"/>
          <p:cNvSpPr txBox="1"/>
          <p:nvPr/>
        </p:nvSpPr>
        <p:spPr>
          <a:xfrm>
            <a:off x="685800" y="6492240"/>
            <a:ext cx="3657600" cy="164592"/>
          </a:xfrm>
          <a:prstGeom prst="rect">
            <a:avLst/>
          </a:prstGeom>
          <a:noFill/>
        </p:spPr>
        <p:txBody>
          <a:bodyPr wrap="square" anchor="ctr">
            <a:spAutoFit/>
          </a:bodyPr>
          <a:lstStyle/>
          <a:p>
            <a:pPr algn="l">
              <a:defRPr sz="750" b="0">
                <a:solidFill>
                  <a:srgbClr val="647891"/>
                </a:solidFill>
              </a:defRPr>
            </a:pPr>
            <a:r>
              <a:t>Intelligence Artificielle — Jour 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0007-28.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0007-31.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slide0008-35.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SYNTHÈSE</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À la fin du Jour 2, vous devez savoir faire ceci</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La journée est réussie si ces actions sont reproductibles dans un notebook.</a:t>
            </a:r>
          </a:p>
        </p:txBody>
      </p:sp>
      <p:sp>
        <p:nvSpPr>
          <p:cNvPr id="5" name="Rounded Rectangle 4"/>
          <p:cNvSpPr/>
          <p:nvPr/>
        </p:nvSpPr>
        <p:spPr>
          <a:xfrm>
            <a:off x="5029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719072"/>
            <a:ext cx="3291840" cy="256032"/>
          </a:xfrm>
          <a:prstGeom prst="rect">
            <a:avLst/>
          </a:prstGeom>
          <a:noFill/>
        </p:spPr>
        <p:txBody>
          <a:bodyPr wrap="square">
            <a:spAutoFit/>
          </a:bodyPr>
          <a:lstStyle/>
          <a:p>
            <a:pPr algn="l"/>
            <a:r>
              <a:rPr sz="1150" b="1">
                <a:solidFill>
                  <a:srgbClr val="123153"/>
                </a:solidFill>
                <a:latin typeface="Aptos"/>
              </a:rPr>
              <a:t>Régression</a:t>
            </a:r>
          </a:p>
        </p:txBody>
      </p:sp>
      <p:sp>
        <p:nvSpPr>
          <p:cNvPr id="8" name="TextBox 7"/>
          <p:cNvSpPr txBox="1"/>
          <p:nvPr/>
        </p:nvSpPr>
        <p:spPr>
          <a:xfrm>
            <a:off x="685800" y="2157984"/>
            <a:ext cx="3227832" cy="256032"/>
          </a:xfrm>
          <a:prstGeom prst="rect">
            <a:avLst/>
          </a:prstGeom>
          <a:noFill/>
        </p:spPr>
        <p:txBody>
          <a:bodyPr wrap="square">
            <a:spAutoFit/>
          </a:bodyPr>
          <a:lstStyle/>
          <a:p>
            <a:pPr algn="l"/>
            <a:r>
              <a:rPr sz="950" b="0">
                <a:solidFill>
                  <a:srgbClr val="232D3A"/>
                </a:solidFill>
                <a:latin typeface="Aptos"/>
              </a:rPr>
              <a:t>• entraîner LinearRegression</a:t>
            </a:r>
          </a:p>
        </p:txBody>
      </p:sp>
      <p:sp>
        <p:nvSpPr>
          <p:cNvPr id="9" name="TextBox 8"/>
          <p:cNvSpPr txBox="1"/>
          <p:nvPr/>
        </p:nvSpPr>
        <p:spPr>
          <a:xfrm>
            <a:off x="685800" y="2468879"/>
            <a:ext cx="3227832" cy="256032"/>
          </a:xfrm>
          <a:prstGeom prst="rect">
            <a:avLst/>
          </a:prstGeom>
          <a:noFill/>
        </p:spPr>
        <p:txBody>
          <a:bodyPr wrap="square">
            <a:spAutoFit/>
          </a:bodyPr>
          <a:lstStyle/>
          <a:p>
            <a:pPr algn="l"/>
            <a:r>
              <a:rPr sz="950" b="0">
                <a:solidFill>
                  <a:srgbClr val="232D3A"/>
                </a:solidFill>
                <a:latin typeface="Aptos"/>
              </a:rPr>
              <a:t>• tester polynomial / Ridge / Lasso</a:t>
            </a:r>
          </a:p>
        </p:txBody>
      </p:sp>
      <p:sp>
        <p:nvSpPr>
          <p:cNvPr id="10" name="TextBox 9"/>
          <p:cNvSpPr txBox="1"/>
          <p:nvPr/>
        </p:nvSpPr>
        <p:spPr>
          <a:xfrm>
            <a:off x="685800" y="2779775"/>
            <a:ext cx="3227832" cy="256032"/>
          </a:xfrm>
          <a:prstGeom prst="rect">
            <a:avLst/>
          </a:prstGeom>
          <a:noFill/>
        </p:spPr>
        <p:txBody>
          <a:bodyPr wrap="square">
            <a:spAutoFit/>
          </a:bodyPr>
          <a:lstStyle/>
          <a:p>
            <a:pPr algn="l"/>
            <a:r>
              <a:rPr sz="950" b="0">
                <a:solidFill>
                  <a:srgbClr val="232D3A"/>
                </a:solidFill>
                <a:latin typeface="Aptos"/>
              </a:rPr>
              <a:t>• lire MSE/RMSE/R²</a:t>
            </a:r>
          </a:p>
        </p:txBody>
      </p:sp>
      <p:sp>
        <p:nvSpPr>
          <p:cNvPr id="11" name="Rounded Rectangle 10"/>
          <p:cNvSpPr/>
          <p:nvPr/>
        </p:nvSpPr>
        <p:spPr>
          <a:xfrm>
            <a:off x="43891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5544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719072"/>
            <a:ext cx="3291840" cy="256032"/>
          </a:xfrm>
          <a:prstGeom prst="rect">
            <a:avLst/>
          </a:prstGeom>
          <a:noFill/>
        </p:spPr>
        <p:txBody>
          <a:bodyPr wrap="square">
            <a:spAutoFit/>
          </a:bodyPr>
          <a:lstStyle/>
          <a:p>
            <a:pPr algn="l"/>
            <a:r>
              <a:rPr sz="1150" b="1">
                <a:solidFill>
                  <a:srgbClr val="123153"/>
                </a:solidFill>
                <a:latin typeface="Aptos"/>
              </a:rPr>
              <a:t>Classification</a:t>
            </a:r>
          </a:p>
        </p:txBody>
      </p:sp>
      <p:sp>
        <p:nvSpPr>
          <p:cNvPr id="14" name="TextBox 13"/>
          <p:cNvSpPr txBox="1"/>
          <p:nvPr/>
        </p:nvSpPr>
        <p:spPr>
          <a:xfrm>
            <a:off x="4572000" y="2157984"/>
            <a:ext cx="3227832" cy="256032"/>
          </a:xfrm>
          <a:prstGeom prst="rect">
            <a:avLst/>
          </a:prstGeom>
          <a:noFill/>
        </p:spPr>
        <p:txBody>
          <a:bodyPr wrap="square">
            <a:spAutoFit/>
          </a:bodyPr>
          <a:lstStyle/>
          <a:p>
            <a:pPr algn="l"/>
            <a:r>
              <a:rPr sz="950" b="0">
                <a:solidFill>
                  <a:srgbClr val="232D3A"/>
                </a:solidFill>
                <a:latin typeface="Aptos"/>
              </a:rPr>
              <a:t>• entraîner LR, k-NN, arbre, SVM</a:t>
            </a:r>
          </a:p>
        </p:txBody>
      </p:sp>
      <p:sp>
        <p:nvSpPr>
          <p:cNvPr id="15" name="TextBox 14"/>
          <p:cNvSpPr txBox="1"/>
          <p:nvPr/>
        </p:nvSpPr>
        <p:spPr>
          <a:xfrm>
            <a:off x="4572000" y="2468879"/>
            <a:ext cx="3227832" cy="256032"/>
          </a:xfrm>
          <a:prstGeom prst="rect">
            <a:avLst/>
          </a:prstGeom>
          <a:noFill/>
        </p:spPr>
        <p:txBody>
          <a:bodyPr wrap="square">
            <a:spAutoFit/>
          </a:bodyPr>
          <a:lstStyle/>
          <a:p>
            <a:pPr algn="l"/>
            <a:r>
              <a:rPr sz="950" b="0">
                <a:solidFill>
                  <a:srgbClr val="232D3A"/>
                </a:solidFill>
                <a:latin typeface="Aptos"/>
              </a:rPr>
              <a:t>• lire confusion matrix</a:t>
            </a:r>
          </a:p>
        </p:txBody>
      </p:sp>
      <p:sp>
        <p:nvSpPr>
          <p:cNvPr id="16" name="TextBox 15"/>
          <p:cNvSpPr txBox="1"/>
          <p:nvPr/>
        </p:nvSpPr>
        <p:spPr>
          <a:xfrm>
            <a:off x="4572000" y="2779775"/>
            <a:ext cx="3227832" cy="256032"/>
          </a:xfrm>
          <a:prstGeom prst="rect">
            <a:avLst/>
          </a:prstGeom>
          <a:noFill/>
        </p:spPr>
        <p:txBody>
          <a:bodyPr wrap="square">
            <a:spAutoFit/>
          </a:bodyPr>
          <a:lstStyle/>
          <a:p>
            <a:pPr algn="l"/>
            <a:r>
              <a:rPr sz="950" b="0">
                <a:solidFill>
                  <a:srgbClr val="232D3A"/>
                </a:solidFill>
                <a:latin typeface="Aptos"/>
              </a:rPr>
              <a:t>• precision/recall/F1/ROC-AUC</a:t>
            </a:r>
          </a:p>
        </p:txBody>
      </p:sp>
      <p:sp>
        <p:nvSpPr>
          <p:cNvPr id="17" name="Rounded Rectangle 16"/>
          <p:cNvSpPr/>
          <p:nvPr/>
        </p:nvSpPr>
        <p:spPr>
          <a:xfrm>
            <a:off x="82753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15544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9912" y="1719072"/>
            <a:ext cx="3291840" cy="256032"/>
          </a:xfrm>
          <a:prstGeom prst="rect">
            <a:avLst/>
          </a:prstGeom>
          <a:noFill/>
        </p:spPr>
        <p:txBody>
          <a:bodyPr wrap="square">
            <a:spAutoFit/>
          </a:bodyPr>
          <a:lstStyle/>
          <a:p>
            <a:pPr algn="l"/>
            <a:r>
              <a:rPr sz="1150" b="1">
                <a:solidFill>
                  <a:srgbClr val="123153"/>
                </a:solidFill>
                <a:latin typeface="Aptos"/>
              </a:rPr>
              <a:t>Décision</a:t>
            </a:r>
          </a:p>
        </p:txBody>
      </p:sp>
      <p:sp>
        <p:nvSpPr>
          <p:cNvPr id="20" name="TextBox 19"/>
          <p:cNvSpPr txBox="1"/>
          <p:nvPr/>
        </p:nvSpPr>
        <p:spPr>
          <a:xfrm>
            <a:off x="8458200" y="2157984"/>
            <a:ext cx="3227832" cy="256032"/>
          </a:xfrm>
          <a:prstGeom prst="rect">
            <a:avLst/>
          </a:prstGeom>
          <a:noFill/>
        </p:spPr>
        <p:txBody>
          <a:bodyPr wrap="square">
            <a:spAutoFit/>
          </a:bodyPr>
          <a:lstStyle/>
          <a:p>
            <a:pPr algn="l"/>
            <a:r>
              <a:rPr sz="950" b="0">
                <a:solidFill>
                  <a:srgbClr val="232D3A"/>
                </a:solidFill>
                <a:latin typeface="Aptos"/>
              </a:rPr>
              <a:t>• même split</a:t>
            </a:r>
          </a:p>
        </p:txBody>
      </p:sp>
      <p:sp>
        <p:nvSpPr>
          <p:cNvPr id="21" name="TextBox 20"/>
          <p:cNvSpPr txBox="1"/>
          <p:nvPr/>
        </p:nvSpPr>
        <p:spPr>
          <a:xfrm>
            <a:off x="8458200" y="2468879"/>
            <a:ext cx="3227832" cy="256032"/>
          </a:xfrm>
          <a:prstGeom prst="rect">
            <a:avLst/>
          </a:prstGeom>
          <a:noFill/>
        </p:spPr>
        <p:txBody>
          <a:bodyPr wrap="square">
            <a:spAutoFit/>
          </a:bodyPr>
          <a:lstStyle/>
          <a:p>
            <a:pPr algn="l"/>
            <a:r>
              <a:rPr sz="950" b="0">
                <a:solidFill>
                  <a:srgbClr val="232D3A"/>
                </a:solidFill>
                <a:latin typeface="Aptos"/>
              </a:rPr>
              <a:t>• même preprocessing</a:t>
            </a:r>
          </a:p>
        </p:txBody>
      </p:sp>
      <p:sp>
        <p:nvSpPr>
          <p:cNvPr id="22" name="TextBox 21"/>
          <p:cNvSpPr txBox="1"/>
          <p:nvPr/>
        </p:nvSpPr>
        <p:spPr>
          <a:xfrm>
            <a:off x="8458200" y="2779775"/>
            <a:ext cx="3227832" cy="256032"/>
          </a:xfrm>
          <a:prstGeom prst="rect">
            <a:avLst/>
          </a:prstGeom>
          <a:noFill/>
        </p:spPr>
        <p:txBody>
          <a:bodyPr wrap="square">
            <a:spAutoFit/>
          </a:bodyPr>
          <a:lstStyle/>
          <a:p>
            <a:pPr algn="l"/>
            <a:r>
              <a:rPr sz="950" b="0">
                <a:solidFill>
                  <a:srgbClr val="232D3A"/>
                </a:solidFill>
                <a:latin typeface="Aptos"/>
              </a:rPr>
              <a:t>• comparaison équitable</a:t>
            </a:r>
          </a:p>
        </p:txBody>
      </p:sp>
      <p:sp>
        <p:nvSpPr>
          <p:cNvPr id="23" name="TextBox 22"/>
          <p:cNvSpPr txBox="1"/>
          <p:nvPr/>
        </p:nvSpPr>
        <p:spPr>
          <a:xfrm>
            <a:off x="8458200" y="3090671"/>
            <a:ext cx="3227832" cy="256032"/>
          </a:xfrm>
          <a:prstGeom prst="rect">
            <a:avLst/>
          </a:prstGeom>
          <a:noFill/>
        </p:spPr>
        <p:txBody>
          <a:bodyPr wrap="square">
            <a:spAutoFit/>
          </a:bodyPr>
          <a:lstStyle/>
          <a:p>
            <a:pPr algn="l"/>
            <a:r>
              <a:rPr sz="950" b="0">
                <a:solidFill>
                  <a:srgbClr val="232D3A"/>
                </a:solidFill>
                <a:latin typeface="Aptos"/>
              </a:rPr>
              <a:t>• choix argumenté</a:t>
            </a:r>
          </a:p>
        </p:txBody>
      </p:sp>
      <p:sp>
        <p:nvSpPr>
          <p:cNvPr id="24" name="Rectangle 23"/>
          <p:cNvSpPr/>
          <p:nvPr/>
        </p:nvSpPr>
        <p:spPr>
          <a:xfrm>
            <a:off x="0" y="6254496"/>
            <a:ext cx="12191695" cy="603504"/>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56032"/>
            <a:ext cx="4114800" cy="201168"/>
          </a:xfrm>
          <a:prstGeom prst="rect">
            <a:avLst/>
          </a:prstGeom>
          <a:noFill/>
        </p:spPr>
        <p:txBody>
          <a:bodyPr wrap="square">
            <a:spAutoFit/>
          </a:bodyPr>
          <a:lstStyle/>
          <a:p>
            <a:pPr algn="l"/>
            <a:r>
              <a:rPr sz="900" b="1">
                <a:solidFill>
                  <a:srgbClr val="2563EB"/>
                </a:solidFill>
                <a:latin typeface="Aptos"/>
              </a:rPr>
              <a:t>RESSOURCES</a:t>
            </a:r>
          </a:p>
        </p:txBody>
      </p:sp>
      <p:sp>
        <p:nvSpPr>
          <p:cNvPr id="3" name="TextBox 2"/>
          <p:cNvSpPr txBox="1"/>
          <p:nvPr/>
        </p:nvSpPr>
        <p:spPr>
          <a:xfrm>
            <a:off x="594360" y="658368"/>
            <a:ext cx="10972800" cy="530352"/>
          </a:xfrm>
          <a:prstGeom prst="rect">
            <a:avLst/>
          </a:prstGeom>
          <a:noFill/>
        </p:spPr>
        <p:txBody>
          <a:bodyPr wrap="square">
            <a:spAutoFit/>
          </a:bodyPr>
          <a:lstStyle/>
          <a:p>
            <a:pPr algn="l"/>
            <a:r>
              <a:rPr sz="2500" b="1">
                <a:solidFill>
                  <a:srgbClr val="123153"/>
                </a:solidFill>
                <a:latin typeface="Aptos"/>
              </a:rPr>
              <a:t>Ressources &amp; liens utiles — Jour 2</a:t>
            </a:r>
          </a:p>
        </p:txBody>
      </p:sp>
      <p:sp>
        <p:nvSpPr>
          <p:cNvPr id="4" name="TextBox 3"/>
          <p:cNvSpPr txBox="1"/>
          <p:nvPr/>
        </p:nvSpPr>
        <p:spPr>
          <a:xfrm>
            <a:off x="594360" y="1261872"/>
            <a:ext cx="10972800" cy="310896"/>
          </a:xfrm>
          <a:prstGeom prst="rect">
            <a:avLst/>
          </a:prstGeom>
          <a:noFill/>
        </p:spPr>
        <p:txBody>
          <a:bodyPr wrap="square">
            <a:spAutoFit/>
          </a:bodyPr>
          <a:lstStyle/>
          <a:p>
            <a:pPr algn="l"/>
            <a:r>
              <a:rPr sz="1120" b="0">
                <a:solidFill>
                  <a:srgbClr val="64748B"/>
                </a:solidFill>
                <a:latin typeface="Aptos"/>
              </a:rPr>
              <a:t>Documentation officielle à garder pour les TP et la suite du module.</a:t>
            </a:r>
          </a:p>
        </p:txBody>
      </p:sp>
      <p:sp>
        <p:nvSpPr>
          <p:cNvPr id="5" name="Rounded Rectangle 4"/>
          <p:cNvSpPr/>
          <p:nvPr/>
        </p:nvSpPr>
        <p:spPr>
          <a:xfrm>
            <a:off x="5029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554480"/>
            <a:ext cx="3611880" cy="10058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719072"/>
            <a:ext cx="3291840" cy="256032"/>
          </a:xfrm>
          <a:prstGeom prst="rect">
            <a:avLst/>
          </a:prstGeom>
          <a:noFill/>
        </p:spPr>
        <p:txBody>
          <a:bodyPr wrap="square">
            <a:spAutoFit/>
          </a:bodyPr>
          <a:lstStyle/>
          <a:p>
            <a:pPr algn="l"/>
            <a:r>
              <a:rPr sz="1150" b="1">
                <a:solidFill>
                  <a:srgbClr val="123153"/>
                </a:solidFill>
                <a:latin typeface="Aptos"/>
              </a:rPr>
              <a:t>Régression</a:t>
            </a:r>
          </a:p>
        </p:txBody>
      </p:sp>
      <p:sp>
        <p:nvSpPr>
          <p:cNvPr id="8" name="TextBox 7"/>
          <p:cNvSpPr txBox="1"/>
          <p:nvPr/>
        </p:nvSpPr>
        <p:spPr>
          <a:xfrm>
            <a:off x="685800" y="2157984"/>
            <a:ext cx="3227832" cy="256032"/>
          </a:xfrm>
          <a:prstGeom prst="rect">
            <a:avLst/>
          </a:prstGeom>
          <a:noFill/>
        </p:spPr>
        <p:txBody>
          <a:bodyPr wrap="square">
            <a:spAutoFit/>
          </a:bodyPr>
          <a:lstStyle/>
          <a:p>
            <a:pPr algn="l"/>
            <a:r>
              <a:rPr sz="950" b="0">
                <a:solidFill>
                  <a:srgbClr val="232D3A"/>
                </a:solidFill>
                <a:latin typeface="Aptos"/>
              </a:rPr>
              <a:t>• LinearRegression : scikit-learn.org</a:t>
            </a:r>
          </a:p>
        </p:txBody>
      </p:sp>
      <p:sp>
        <p:nvSpPr>
          <p:cNvPr id="9" name="TextBox 8"/>
          <p:cNvSpPr txBox="1"/>
          <p:nvPr/>
        </p:nvSpPr>
        <p:spPr>
          <a:xfrm>
            <a:off x="685800" y="2468879"/>
            <a:ext cx="3227832" cy="256032"/>
          </a:xfrm>
          <a:prstGeom prst="rect">
            <a:avLst/>
          </a:prstGeom>
          <a:noFill/>
        </p:spPr>
        <p:txBody>
          <a:bodyPr wrap="square">
            <a:spAutoFit/>
          </a:bodyPr>
          <a:lstStyle/>
          <a:p>
            <a:pPr algn="l"/>
            <a:r>
              <a:rPr sz="950" b="0">
                <a:solidFill>
                  <a:srgbClr val="232D3A"/>
                </a:solidFill>
                <a:latin typeface="Aptos"/>
              </a:rPr>
              <a:t>• PolynomialFeatures</a:t>
            </a:r>
          </a:p>
        </p:txBody>
      </p:sp>
      <p:sp>
        <p:nvSpPr>
          <p:cNvPr id="10" name="TextBox 9"/>
          <p:cNvSpPr txBox="1"/>
          <p:nvPr/>
        </p:nvSpPr>
        <p:spPr>
          <a:xfrm>
            <a:off x="685800" y="2779775"/>
            <a:ext cx="3227832" cy="256032"/>
          </a:xfrm>
          <a:prstGeom prst="rect">
            <a:avLst/>
          </a:prstGeom>
          <a:noFill/>
        </p:spPr>
        <p:txBody>
          <a:bodyPr wrap="square">
            <a:spAutoFit/>
          </a:bodyPr>
          <a:lstStyle/>
          <a:p>
            <a:pPr algn="l"/>
            <a:r>
              <a:rPr sz="950" b="0">
                <a:solidFill>
                  <a:srgbClr val="232D3A"/>
                </a:solidFill>
                <a:latin typeface="Aptos"/>
              </a:rPr>
              <a:t>• Ridge / Lasso</a:t>
            </a:r>
          </a:p>
        </p:txBody>
      </p:sp>
      <p:sp>
        <p:nvSpPr>
          <p:cNvPr id="11" name="Rounded Rectangle 10"/>
          <p:cNvSpPr/>
          <p:nvPr/>
        </p:nvSpPr>
        <p:spPr>
          <a:xfrm>
            <a:off x="43891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554480"/>
            <a:ext cx="3611880" cy="100584"/>
          </a:xfrm>
          <a:prstGeom prst="rect">
            <a:avLst/>
          </a:prstGeom>
          <a:solidFill>
            <a:srgbClr val="4AAB45"/>
          </a:solidFill>
          <a:ln>
            <a:solidFill>
              <a:srgbClr val="4AA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719072"/>
            <a:ext cx="3291840" cy="256032"/>
          </a:xfrm>
          <a:prstGeom prst="rect">
            <a:avLst/>
          </a:prstGeom>
          <a:noFill/>
        </p:spPr>
        <p:txBody>
          <a:bodyPr wrap="square">
            <a:spAutoFit/>
          </a:bodyPr>
          <a:lstStyle/>
          <a:p>
            <a:pPr algn="l"/>
            <a:r>
              <a:rPr sz="1150" b="1">
                <a:solidFill>
                  <a:srgbClr val="123153"/>
                </a:solidFill>
                <a:latin typeface="Aptos"/>
              </a:rPr>
              <a:t>Classification</a:t>
            </a:r>
          </a:p>
        </p:txBody>
      </p:sp>
      <p:sp>
        <p:nvSpPr>
          <p:cNvPr id="14" name="TextBox 13"/>
          <p:cNvSpPr txBox="1"/>
          <p:nvPr/>
        </p:nvSpPr>
        <p:spPr>
          <a:xfrm>
            <a:off x="4572000" y="2157984"/>
            <a:ext cx="3227832" cy="256032"/>
          </a:xfrm>
          <a:prstGeom prst="rect">
            <a:avLst/>
          </a:prstGeom>
          <a:noFill/>
        </p:spPr>
        <p:txBody>
          <a:bodyPr wrap="square">
            <a:spAutoFit/>
          </a:bodyPr>
          <a:lstStyle/>
          <a:p>
            <a:pPr algn="l"/>
            <a:r>
              <a:rPr sz="950" b="0">
                <a:solidFill>
                  <a:srgbClr val="232D3A"/>
                </a:solidFill>
                <a:latin typeface="Aptos"/>
              </a:rPr>
              <a:t>• LogisticRegression</a:t>
            </a:r>
          </a:p>
        </p:txBody>
      </p:sp>
      <p:sp>
        <p:nvSpPr>
          <p:cNvPr id="15" name="TextBox 14"/>
          <p:cNvSpPr txBox="1"/>
          <p:nvPr/>
        </p:nvSpPr>
        <p:spPr>
          <a:xfrm>
            <a:off x="4572000" y="2468879"/>
            <a:ext cx="3227832" cy="256032"/>
          </a:xfrm>
          <a:prstGeom prst="rect">
            <a:avLst/>
          </a:prstGeom>
          <a:noFill/>
        </p:spPr>
        <p:txBody>
          <a:bodyPr wrap="square">
            <a:spAutoFit/>
          </a:bodyPr>
          <a:lstStyle/>
          <a:p>
            <a:pPr algn="l"/>
            <a:r>
              <a:rPr sz="950" b="0">
                <a:solidFill>
                  <a:srgbClr val="232D3A"/>
                </a:solidFill>
                <a:latin typeface="Aptos"/>
              </a:rPr>
              <a:t>• KNeighborsClassifier</a:t>
            </a:r>
          </a:p>
        </p:txBody>
      </p:sp>
      <p:sp>
        <p:nvSpPr>
          <p:cNvPr id="16" name="TextBox 15"/>
          <p:cNvSpPr txBox="1"/>
          <p:nvPr/>
        </p:nvSpPr>
        <p:spPr>
          <a:xfrm>
            <a:off x="4572000" y="2779775"/>
            <a:ext cx="3227832" cy="256032"/>
          </a:xfrm>
          <a:prstGeom prst="rect">
            <a:avLst/>
          </a:prstGeom>
          <a:noFill/>
        </p:spPr>
        <p:txBody>
          <a:bodyPr wrap="square">
            <a:spAutoFit/>
          </a:bodyPr>
          <a:lstStyle/>
          <a:p>
            <a:pPr algn="l"/>
            <a:r>
              <a:rPr sz="950" b="0">
                <a:solidFill>
                  <a:srgbClr val="232D3A"/>
                </a:solidFill>
                <a:latin typeface="Aptos"/>
              </a:rPr>
              <a:t>• DecisionTreeClassifier / SVC</a:t>
            </a:r>
          </a:p>
        </p:txBody>
      </p:sp>
      <p:sp>
        <p:nvSpPr>
          <p:cNvPr id="17" name="Rounded Rectangle 16"/>
          <p:cNvSpPr/>
          <p:nvPr/>
        </p:nvSpPr>
        <p:spPr>
          <a:xfrm>
            <a:off x="8275320" y="1554480"/>
            <a:ext cx="3611880" cy="4343400"/>
          </a:xfrm>
          <a:prstGeom prst="roundRect">
            <a:avLst/>
          </a:prstGeom>
          <a:solidFill>
            <a:srgbClr val="F6F9FC"/>
          </a:solidFill>
          <a:ln>
            <a:solidFill>
              <a:srgbClr val="D8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75320" y="1554480"/>
            <a:ext cx="3611880" cy="100584"/>
          </a:xfrm>
          <a:prstGeom prst="rect">
            <a:avLst/>
          </a:prstGeom>
          <a:solidFill>
            <a:srgbClr val="F47321"/>
          </a:solidFill>
          <a:ln>
            <a:solidFill>
              <a:srgbClr val="F4732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39912" y="1719072"/>
            <a:ext cx="3291840" cy="256032"/>
          </a:xfrm>
          <a:prstGeom prst="rect">
            <a:avLst/>
          </a:prstGeom>
          <a:noFill/>
        </p:spPr>
        <p:txBody>
          <a:bodyPr wrap="square">
            <a:spAutoFit/>
          </a:bodyPr>
          <a:lstStyle/>
          <a:p>
            <a:pPr algn="l"/>
            <a:r>
              <a:rPr sz="1150" b="1">
                <a:solidFill>
                  <a:srgbClr val="123153"/>
                </a:solidFill>
                <a:latin typeface="Aptos"/>
              </a:rPr>
              <a:t>Évaluation</a:t>
            </a:r>
          </a:p>
        </p:txBody>
      </p:sp>
      <p:sp>
        <p:nvSpPr>
          <p:cNvPr id="20" name="TextBox 19"/>
          <p:cNvSpPr txBox="1"/>
          <p:nvPr/>
        </p:nvSpPr>
        <p:spPr>
          <a:xfrm>
            <a:off x="8458200" y="2157984"/>
            <a:ext cx="3227832" cy="256032"/>
          </a:xfrm>
          <a:prstGeom prst="rect">
            <a:avLst/>
          </a:prstGeom>
          <a:noFill/>
        </p:spPr>
        <p:txBody>
          <a:bodyPr wrap="square">
            <a:spAutoFit/>
          </a:bodyPr>
          <a:lstStyle/>
          <a:p>
            <a:pPr algn="l"/>
            <a:r>
              <a:rPr sz="950" b="0">
                <a:solidFill>
                  <a:srgbClr val="232D3A"/>
                </a:solidFill>
                <a:latin typeface="Aptos"/>
              </a:rPr>
              <a:t>• mean_squared_error / r2_score</a:t>
            </a:r>
          </a:p>
        </p:txBody>
      </p:sp>
      <p:sp>
        <p:nvSpPr>
          <p:cNvPr id="21" name="TextBox 20"/>
          <p:cNvSpPr txBox="1"/>
          <p:nvPr/>
        </p:nvSpPr>
        <p:spPr>
          <a:xfrm>
            <a:off x="8458200" y="2468879"/>
            <a:ext cx="3227832" cy="256032"/>
          </a:xfrm>
          <a:prstGeom prst="rect">
            <a:avLst/>
          </a:prstGeom>
          <a:noFill/>
        </p:spPr>
        <p:txBody>
          <a:bodyPr wrap="square">
            <a:spAutoFit/>
          </a:bodyPr>
          <a:lstStyle/>
          <a:p>
            <a:pPr algn="l"/>
            <a:r>
              <a:rPr sz="950" b="0">
                <a:solidFill>
                  <a:srgbClr val="232D3A"/>
                </a:solidFill>
                <a:latin typeface="Aptos"/>
              </a:rPr>
              <a:t>• confusion_matrix / classification_report</a:t>
            </a:r>
          </a:p>
        </p:txBody>
      </p:sp>
      <p:sp>
        <p:nvSpPr>
          <p:cNvPr id="22" name="TextBox 21"/>
          <p:cNvSpPr txBox="1"/>
          <p:nvPr/>
        </p:nvSpPr>
        <p:spPr>
          <a:xfrm>
            <a:off x="8458200" y="2779775"/>
            <a:ext cx="3227832" cy="256032"/>
          </a:xfrm>
          <a:prstGeom prst="rect">
            <a:avLst/>
          </a:prstGeom>
          <a:noFill/>
        </p:spPr>
        <p:txBody>
          <a:bodyPr wrap="square">
            <a:spAutoFit/>
          </a:bodyPr>
          <a:lstStyle/>
          <a:p>
            <a:pPr algn="l"/>
            <a:r>
              <a:rPr sz="950" b="0">
                <a:solidFill>
                  <a:srgbClr val="232D3A"/>
                </a:solidFill>
                <a:latin typeface="Aptos"/>
              </a:rPr>
              <a:t>• roc_curve / roc_auc_score</a:t>
            </a:r>
          </a:p>
        </p:txBody>
      </p:sp>
      <p:sp>
        <p:nvSpPr>
          <p:cNvPr id="25" name="TextBox 24"/>
          <p:cNvSpPr txBox="1"/>
          <p:nvPr/>
        </p:nvSpPr>
        <p:spPr>
          <a:xfrm>
            <a:off x="502920" y="6510528"/>
            <a:ext cx="10972800" cy="137160"/>
          </a:xfrm>
          <a:prstGeom prst="rect">
            <a:avLst/>
          </a:prstGeom>
          <a:noFill/>
        </p:spPr>
        <p:txBody>
          <a:bodyPr wrap="square">
            <a:spAutoFit/>
          </a:bodyPr>
          <a:lstStyle/>
          <a:p>
            <a:pPr algn="l"/>
            <a:r>
              <a:rPr sz="680" b="0">
                <a:solidFill>
                  <a:srgbClr val="64748B"/>
                </a:solidFill>
                <a:latin typeface="Aptos"/>
              </a:rPr>
              <a:t>Samson AMOUSSOU — Intelligence Artificielle — ESI 4e année, option Développeur — Jour 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SUPERVISÉ</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Régression linéaire : la droite ne suffit pas, regardez les résidus</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Chaque segment vertical matérialise une erreur individuelle.</a:t>
            </a:r>
          </a:p>
        </p:txBody>
      </p:sp>
      <p:pic>
        <p:nvPicPr>
          <p:cNvPr id="5" name="Picture 4" descr="linear_residuals.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La droite représente ŷ = β₀ + β₁x.
• Le résidu vaut eᵢ = yᵢ − ŷᵢ.
• MSE/RMSE agrègent ces écarts.
• Un motif dans les résidus peut révéler une relation mal modélisée.</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COMPLEXITÉ</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Régression polynomiale : sous-ajuster, généraliser, surajuster</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Le degré contrôle la flexibilité du modèle.</a:t>
            </a:r>
          </a:p>
        </p:txBody>
      </p:sp>
      <p:pic>
        <p:nvPicPr>
          <p:cNvPr id="5" name="Picture 4" descr="poly_bias_variance.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Degré trop faible → biais élevé.
• Degré adapté → tendance capturée.
• Degré trop élevé → le modèle apprend le bruit.
Question : lequel risque le plus d’échouer sur de nouvelles données ?</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RÉGULARISATION</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Ridge et Lasso : voir l’effet de λ sur les coefficients</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La pénalité modifie directement la complexité effective du modèle.</a:t>
            </a:r>
          </a:p>
        </p:txBody>
      </p:sp>
      <p:pic>
        <p:nvPicPr>
          <p:cNvPr id="5" name="Picture 4" descr="ridge_lasso_paths.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Quand λ augmente, Ridge réduit progressivement les coefficients.
• Lasso peut mettre certains coefficients exactement à zéro.
• λ trop fort → sous-ajustement.
• Choisir λ sur validation/CV, jamais sur le test.</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CLASSIFICATION</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Quatre algorithmes, quatre frontières de décision</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Même jeu de données ; inductive biases différents.</a:t>
            </a:r>
          </a:p>
        </p:txBody>
      </p:sp>
      <p:pic>
        <p:nvPicPr>
          <p:cNvPr id="5" name="Picture 4" descr="decision_boundaries.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Logistique : frontière globalement linéaire.
• k-NN : frontière locale, dépend de k et de l’échelle.
• Arbre : découpes par seuils.
• SVM RBF : frontière non linéaire via le noyau.</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LOGISTIQUE</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Régression logistique : transformer un score en probabilité</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La sigmoïde borne la sortie entre 0 et 1.</a:t>
            </a:r>
          </a:p>
        </p:txBody>
      </p:sp>
      <p:pic>
        <p:nvPicPr>
          <p:cNvPr id="5" name="Picture 4" descr="sigmoid.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z = β₀ + βᵀx est un score réel.
• σ(z) devient P(y=1|x).
• Le seuil 0,5 est un choix, pas une loi.
• Déplacer le seuil modifie precision et recall.</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k-NN</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k-NN : la prédiction vient du voisinage</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Le modèle conserve implicitement les exemples d’apprentissage.</a:t>
            </a:r>
          </a:p>
        </p:txBody>
      </p:sp>
      <p:pic>
        <p:nvPicPr>
          <p:cNvPr id="5" name="Picture 4" descr="knn_neighbors.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Le point étoile est la requête.
• Les cercles montrent les k voisins utilisés.
• Standardiser les variables est crucial si leurs échelles diffèrent.
• Petit k : variance forte ; grand k : frontière plus lisse.</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ARBRE</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Arbre de décision : une suite de questions binaires</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Chaque nœud réduit progressivement l’incertitude.</a:t>
            </a:r>
          </a:p>
        </p:txBody>
      </p:sp>
      <p:pic>
        <p:nvPicPr>
          <p:cNvPr id="5" name="Picture 4" descr="tree.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Un nœud teste une variable et un seuil.
• Les feuilles portent la décision finale.
• Profondeur élevée → risque de surapprentissage.
• Avantage : règles faciles à expliquer.</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SVM</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SVM : maximiser la marge entre les classes</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Les vecteurs supports déterminent la frontière.</a:t>
            </a:r>
          </a:p>
        </p:txBody>
      </p:sp>
      <p:pic>
        <p:nvPicPr>
          <p:cNvPr id="5" name="Picture 4" descr="svm_margin.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Ligne centrale : hyperplan de décision.
• Lignes pointillées : bords de la marge.
• Points encerclés : vecteurs supports.
• C règle le compromis marge / erreurs.</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ÉVALUATION</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Matrice de confusion : localiser le type d’erreur</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Une accuracy seule masque le coût différent des FP et FN.</a:t>
            </a:r>
          </a:p>
        </p:txBody>
      </p:sp>
      <p:pic>
        <p:nvPicPr>
          <p:cNvPr id="5" name="Picture 4" descr="confusion.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TP/TN : bonnes décisions.
• FP : faux positif.
• FN : faux négatif.
• Precision = TP/(TP+FP).
• Recall = TP/(TP+FN).</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274320"/>
            <a:ext cx="3657600" cy="228600"/>
          </a:xfrm>
          <a:prstGeom prst="rect">
            <a:avLst/>
          </a:prstGeom>
          <a:noFill/>
        </p:spPr>
        <p:txBody>
          <a:bodyPr wrap="square">
            <a:spAutoFit/>
          </a:bodyPr>
          <a:lstStyle/>
          <a:p>
            <a:pPr algn="l"/>
            <a:r>
              <a:rPr sz="1000" b="1">
                <a:solidFill>
                  <a:srgbClr val="2B6CE6"/>
                </a:solidFill>
                <a:latin typeface="Aptos"/>
              </a:rPr>
              <a:t>VISUEL — SEUILS</a:t>
            </a:r>
          </a:p>
        </p:txBody>
      </p:sp>
      <p:sp>
        <p:nvSpPr>
          <p:cNvPr id="3" name="TextBox 2"/>
          <p:cNvSpPr txBox="1"/>
          <p:nvPr/>
        </p:nvSpPr>
        <p:spPr>
          <a:xfrm>
            <a:off x="594360" y="566928"/>
            <a:ext cx="10972800" cy="502920"/>
          </a:xfrm>
          <a:prstGeom prst="rect">
            <a:avLst/>
          </a:prstGeom>
          <a:noFill/>
        </p:spPr>
        <p:txBody>
          <a:bodyPr wrap="square">
            <a:spAutoFit/>
          </a:bodyPr>
          <a:lstStyle/>
          <a:p>
            <a:pPr algn="l"/>
            <a:r>
              <a:rPr sz="2400" b="1">
                <a:solidFill>
                  <a:srgbClr val="153657"/>
                </a:solidFill>
                <a:latin typeface="Aptos"/>
              </a:rPr>
              <a:t>ROC-AUC : évaluer le classement sur tous les seuils</a:t>
            </a:r>
          </a:p>
        </p:txBody>
      </p:sp>
      <p:sp>
        <p:nvSpPr>
          <p:cNvPr id="4" name="TextBox 3"/>
          <p:cNvSpPr txBox="1"/>
          <p:nvPr/>
        </p:nvSpPr>
        <p:spPr>
          <a:xfrm>
            <a:off x="594360" y="1078992"/>
            <a:ext cx="10972800" cy="320040"/>
          </a:xfrm>
          <a:prstGeom prst="rect">
            <a:avLst/>
          </a:prstGeom>
          <a:noFill/>
        </p:spPr>
        <p:txBody>
          <a:bodyPr wrap="square">
            <a:spAutoFit/>
          </a:bodyPr>
          <a:lstStyle/>
          <a:p>
            <a:pPr algn="l"/>
            <a:r>
              <a:rPr sz="1100" b="0">
                <a:solidFill>
                  <a:srgbClr val="5C6978"/>
                </a:solidFill>
                <a:latin typeface="Aptos"/>
              </a:rPr>
              <a:t>La courbe met en regard TPR et FPR.</a:t>
            </a:r>
          </a:p>
        </p:txBody>
      </p:sp>
      <p:pic>
        <p:nvPicPr>
          <p:cNvPr id="5" name="Picture 4" descr="roc.png"/>
          <p:cNvPicPr>
            <a:picLocks noChangeAspect="1"/>
          </p:cNvPicPr>
          <p:nvPr/>
        </p:nvPicPr>
        <p:blipFill>
          <a:blip r:embed="rId2"/>
          <a:stretch>
            <a:fillRect/>
          </a:stretch>
        </p:blipFill>
        <p:spPr>
          <a:xfrm>
            <a:off x="685800" y="1600200"/>
            <a:ext cx="6720840" cy="4251960"/>
          </a:xfrm>
          <a:prstGeom prst="rect">
            <a:avLst/>
          </a:prstGeom>
        </p:spPr>
      </p:pic>
      <p:sp>
        <p:nvSpPr>
          <p:cNvPr id="6" name="Rounded Rectangle 5"/>
          <p:cNvSpPr/>
          <p:nvPr/>
        </p:nvSpPr>
        <p:spPr>
          <a:xfrm>
            <a:off x="7635240" y="1600200"/>
            <a:ext cx="3886200" cy="4251960"/>
          </a:xfrm>
          <a:prstGeom prst="roundRect">
            <a:avLst/>
          </a:prstGeom>
          <a:solidFill>
            <a:srgbClr val="F6F8FB"/>
          </a:solidFill>
          <a:ln>
            <a:solidFill>
              <a:srgbClr val="DC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09560" y="1810512"/>
            <a:ext cx="3337560" cy="320040"/>
          </a:xfrm>
          <a:prstGeom prst="rect">
            <a:avLst/>
          </a:prstGeom>
          <a:noFill/>
        </p:spPr>
        <p:txBody>
          <a:bodyPr wrap="square">
            <a:spAutoFit/>
          </a:bodyPr>
          <a:lstStyle/>
          <a:p>
            <a:pPr algn="l"/>
            <a:r>
              <a:rPr sz="1200" b="1">
                <a:solidFill>
                  <a:srgbClr val="2B6CE6"/>
                </a:solidFill>
                <a:latin typeface="Aptos"/>
              </a:rPr>
              <a:t>À LIRE SUR LE VISUEL</a:t>
            </a:r>
          </a:p>
        </p:txBody>
      </p:sp>
      <p:sp>
        <p:nvSpPr>
          <p:cNvPr id="8" name="TextBox 7"/>
          <p:cNvSpPr txBox="1"/>
          <p:nvPr/>
        </p:nvSpPr>
        <p:spPr>
          <a:xfrm>
            <a:off x="7909560" y="2212848"/>
            <a:ext cx="3246120" cy="3246120"/>
          </a:xfrm>
          <a:prstGeom prst="rect">
            <a:avLst/>
          </a:prstGeom>
          <a:noFill/>
        </p:spPr>
        <p:txBody>
          <a:bodyPr wrap="square">
            <a:spAutoFit/>
          </a:bodyPr>
          <a:lstStyle/>
          <a:p>
            <a:pPr algn="l"/>
            <a:r>
              <a:rPr sz="1200" b="0">
                <a:solidFill>
                  <a:srgbClr val="232D3A"/>
                </a:solidFill>
                <a:latin typeface="Aptos"/>
              </a:rPr>
              <a:t>• Chaque point correspond à un seuil.
• La diagonale ≈ classement aléatoire.
• AUC mesure la capacité de ranking.
• Pour classes très rares, compléter avec Precision-Recall.</a:t>
            </a:r>
          </a:p>
        </p:txBody>
      </p:sp>
      <p:sp>
        <p:nvSpPr>
          <p:cNvPr id="9" name="TextBox 8"/>
          <p:cNvSpPr txBox="1"/>
          <p:nvPr/>
        </p:nvSpPr>
        <p:spPr>
          <a:xfrm>
            <a:off x="594360" y="6492240"/>
            <a:ext cx="10515600" cy="137160"/>
          </a:xfrm>
          <a:prstGeom prst="rect">
            <a:avLst/>
          </a:prstGeom>
          <a:noFill/>
        </p:spPr>
        <p:txBody>
          <a:bodyPr wrap="square">
            <a:spAutoFit/>
          </a:bodyPr>
          <a:lstStyle/>
          <a:p>
            <a:pPr algn="l"/>
            <a:r>
              <a:rPr sz="700" b="0">
                <a:solidFill>
                  <a:srgbClr val="5C6978"/>
                </a:solidFill>
                <a:latin typeface="Aptos"/>
              </a:rPr>
              <a:t>Samson AMOUSSOU — Intelligence Artificielle — ESI 4e année — Jour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382</TotalTime>
  <Words>6361</Words>
  <Application>Microsoft Office PowerPoint</Application>
  <PresentationFormat>Grand écran</PresentationFormat>
  <Paragraphs>758</Paragraphs>
  <Slides>61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61</vt:i4>
      </vt:variant>
    </vt:vector>
  </HeadingPairs>
  <TitlesOfParts>
    <vt:vector size="65"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Samson AMOUSSOU</cp:lastModifiedBy>
  <cp:revision>1</cp:revision>
  <dcterms:created xsi:type="dcterms:W3CDTF">2013-01-27T09:14:16Z</dcterms:created>
  <dcterms:modified xsi:type="dcterms:W3CDTF">2026-09-14T22:34:26Z</dcterms:modified>
  <cp:category/>
</cp:coreProperties>
</file>